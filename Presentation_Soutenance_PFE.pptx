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membres du jury. Je vous présente mon projet de fin d'études : la conception et la réalisation d'une plateforme e-commerce pour La Poste Tunisienne, baptisée e-Boutique. Elle regroupe la boutique en ligne, le dépôt et le suivi de colis, le paiement e-Dinar et un espace professionnel pour le personnel. Je vais vous en présenter le contexte, la conception et les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que je vais suivre. Je commencerai par présenter l'organisme d'accueil et le contexte, puis la problématique et l'étude de l'existant. Je décrirai ensuite la solution proposée, la méthodologie, les besoins, la conception à travers les diagrammes UML, et enfin les outils et technologies utilisés.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Poste Tunisienne est un établissement public qui dispose d'un vaste réseau de bureaux sur tout le territoire. Elle assure trois grandes familles de services : les services postaux comme le courrier et les colis, les services financiers comme les comptes courants postaux, et les services numériques comme e-Dinar. C'est dans ce dernier axe, la digitalisation, que s'inscrit mon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de ce projet est celui de la transformation numérique. Le commerce électronique connaît une forte croissance et les citoyens attendent des services accessibles en ligne. Or, la plupart des opérations postales restent physiques et nécessitent un déplacement. Pour une institution publique, moderniser l'offre est devenu un véritable enjeu d'efficacité et de proximité.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se résume ainsi : comment digitaliser et unifier les services de La Poste dans une plateforme unique, simple et sécurisée, à la fois accessible à distance pour le citoyen et efficace pour le personnel ? Concrètement, les usagers subissent des files d'attente et une perte de temps, tandis que l'offre en ligne existante reste fragmentée et incomplète.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presque tout se passe au guichet : l'achat, le dépôt de colis, le paiement en espèces, et le suivi n'est pas unifié. Cette organisation présente plusieurs limites : elle impose un déplacement, génère des files d'attente et une perte de temps, alourdit le travail des agents, et ne permet pas de suivi en temps réel. C'est ce constat qui justifie la solution proposée.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que je propose est la plateforme e-Boutique. Elle s'articule autour de quatre piliers, tous adossés à la sécurité. Le premier : la boutique et le dépôt de colis. Le deuxième : le suivi de colis en temps réel. Le troisième : le paiement en ligne via e-Dinar. Et le quatrième : la sécurité du compte, avec la vérification par e-mail et l'authentification à deux facteurs.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conduire ce projet mené sur environ six mois, j'ai adopté la méthodologie agile Scrum. Le principe est un développement itératif : on avance par sprints de deux à trois semaines, et chaque sprint livre une fonctionnalité testable. J'ai commencé par la conception, puis l'authentification, la boutique, le dépôt et le suivi, le paiement, l'espace professionnel avec la messagerie, la sécurité avancée avec la 2FA, et enfin les notifications et le calcul des frais. Cette approche m'a permis de rester flexible et d'ajouter des fonctionnalités en cours de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choisi une méthode agile pour quatre raisons principales. D'abord la flexibilité : j'ai pu adapter les besoins et ajouter des fonctionnalités comme la 2FA ou les fleurs sans remettre en cause l'existant. Ensuite les livraisons régulières : chaque sprint aboutissait à une version testable. Le suivi continu, avec une progression validée régulièrement par mon encadrant. Et enfin, c'est une approche parfaitement adaptée à un projet de fin d'études, évolutif et mené de façon progressive.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comparé trois approches. Le cycle en V est séquentiel et rigide : tout est planifié au début et le produit n'est livré qu'à la fin, ce qui s'adapte mal aux changements. Kanban fonctionne en flux continu, sans sprints définis ; il est excellent pour la maintenance mais moins structuré pour un projet de fin d'études. J'ai finalement retenu Scrum, qui combine un développement itératif par sprints, des livraisons régulières et une bonne structure, tout en restant flexible — c'est le meilleur compromis pour un projet évolutif comme le mien.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fonctionnels décrivent ce que le système permet de faire, selon l'acteur. Le client peut créer un compte, acheter des produits, commander des fleurs, déposer et suivre un colis, et payer via e-Dinar. L'agent et le livreur gèrent les dépôts, changent le statut des colis et communiquent via la messagerie interne. L'administrateur gère les utilisateurs, les produits et les bureaux, et supervise l'ensemble des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des fonctionnalités, j'ai respecté plusieurs exigences de qualité, ce sont les besoins non fonctionnels. La sécurité, assurée par le hachage bcrypt, les jetons JWT et la 2FA. La performance, grâce au chargement différé. L'ergonomie, avec une interface responsive. La fiabilité, par la validation des données. La maintenabilité, grâce à un code modulaire. Et l'extensibilité, qui a permis d'ajouter des fonctionnalités sans refonte.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cas d'utilisation, qui modélise les besoins fonctionnels. On distingue quatre acteurs principaux. Le visiteur, non connecté, peut consulter et suivre un colis. Le client peut acheter, déposer, payer et suivre ses colis. L'agent change le statut des colis, et l'administrateur gère les utilisateurs et les bureaux. Tous les cas sensibles incluent l'authentification, renforcée par la 2FA pour les administrateurs.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décrit la structure des données. La classe User représente les utilisateurs, avec les attributs de sécurité comme la 2FA. La classe Order, la commande ou le dépôt, est liée au User qui la passe, au Bureau où elle est déposée, et aux Produits qu'elle contient. La classe ShippingRate porte la grille tarifaire utilisée pour calculer les frais d'envoi. Le modèle a été normalisé pour éviter toute redondance de clés étrangères.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technique, j'ai adopté une architecture trois tiers. Le frontend est développé avec Angular et TypeScript, avec Leaflet pour la carte des bureaux. Le backend est une API REST en Node.js et Express, sécurisée par JWT et bcrypt. La base de données est MySQL. J'utilise aussi le chiffrement AES-GCM pour les messages internes et Nodemailer pour les e-mails. Ces choix privilégient des technologies open source, matures et évolutives.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e-Boutique offre une solution complète et sécurisée qui couvre tout le cycle de vie d'un colis, du dépôt à la livraison, avec la vérification e-mail, la 2FA, le calcul automatique des frais et les notifications en temps réel. Plusieurs perspectives sont envisagées : une application mobile, l'intégration réelle du paiement e-Dinar, et un tableau de bord statistique. Je vous remercie de votre attention et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4F"/>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B2D6B"/>
          </a:solidFill>
          <a:ln/>
        </p:spPr>
      </p:sp>
      <p:sp>
        <p:nvSpPr>
          <p:cNvPr id="3" name="Shape 1"/>
          <p:cNvSpPr/>
          <p:nvPr/>
        </p:nvSpPr>
        <p:spPr>
          <a:xfrm>
            <a:off x="11064240" y="5120640"/>
            <a:ext cx="2560320" cy="2560320"/>
          </a:xfrm>
          <a:prstGeom prst="ellipse">
            <a:avLst/>
          </a:prstGeom>
          <a:solidFill>
            <a:srgbClr val="2C44A0"/>
          </a:solidFill>
          <a:ln/>
        </p:spPr>
      </p:sp>
      <p:sp>
        <p:nvSpPr>
          <p:cNvPr id="4" name="Shape 2"/>
          <p:cNvSpPr/>
          <p:nvPr/>
        </p:nvSpPr>
        <p:spPr>
          <a:xfrm>
            <a:off x="822960" y="1051560"/>
            <a:ext cx="2103120" cy="502920"/>
          </a:xfrm>
          <a:prstGeom prst="rect">
            <a:avLst/>
          </a:prstGeom>
          <a:solidFill>
            <a:srgbClr val="F2C200"/>
          </a:solidFill>
          <a:ln w="12700">
            <a:solidFill>
              <a:srgbClr val="F2C200"/>
            </a:solidFill>
            <a:prstDash val="solid"/>
          </a:ln>
        </p:spPr>
      </p:sp>
      <p:sp>
        <p:nvSpPr>
          <p:cNvPr id="5" name="Text 3"/>
          <p:cNvSpPr/>
          <p:nvPr/>
        </p:nvSpPr>
        <p:spPr>
          <a:xfrm>
            <a:off x="868680" y="1060704"/>
            <a:ext cx="2011680" cy="484632"/>
          </a:xfrm>
          <a:prstGeom prst="rect">
            <a:avLst/>
          </a:prstGeom>
          <a:noFill/>
          <a:ln/>
        </p:spPr>
        <p:txBody>
          <a:bodyPr wrap="square" rtlCol="0" anchor="ctr"/>
          <a:lstStyle/>
          <a:p>
            <a:pPr algn="ctr" indent="0" marL="0">
              <a:buNone/>
            </a:pPr>
            <a:r>
              <a:rPr lang="en-US" sz="1500" b="1" spc="100" kern="0" dirty="0">
                <a:solidFill>
                  <a:srgbClr val="13204F"/>
                </a:solidFill>
                <a:latin typeface="Calibri" pitchFamily="34" charset="0"/>
                <a:ea typeface="Calibri" pitchFamily="34" charset="-122"/>
                <a:cs typeface="Calibri" pitchFamily="34" charset="-120"/>
              </a:rPr>
              <a:t>e-BOUTIQUE</a:t>
            </a:r>
            <a:endParaRPr lang="en-US" sz="1500" dirty="0"/>
          </a:p>
        </p:txBody>
      </p:sp>
      <p:sp>
        <p:nvSpPr>
          <p:cNvPr id="6" name="Text 4"/>
          <p:cNvSpPr/>
          <p:nvPr/>
        </p:nvSpPr>
        <p:spPr>
          <a:xfrm>
            <a:off x="822960" y="1874520"/>
            <a:ext cx="10058400" cy="1737360"/>
          </a:xfrm>
          <a:prstGeom prst="rect">
            <a:avLst/>
          </a:prstGeom>
          <a:noFill/>
          <a:ln/>
        </p:spPr>
        <p:txBody>
          <a:bodyPr wrap="square"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Conception et réalisation d'une plateforme</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e-commerce pour La Poste Tunisienne</a:t>
            </a:r>
            <a:endParaRPr lang="en-US" sz="4000" dirty="0"/>
          </a:p>
        </p:txBody>
      </p:sp>
      <p:sp>
        <p:nvSpPr>
          <p:cNvPr id="7" name="Text 5"/>
          <p:cNvSpPr/>
          <p:nvPr/>
        </p:nvSpPr>
        <p:spPr>
          <a:xfrm>
            <a:off x="868680" y="3611880"/>
            <a:ext cx="10058400" cy="45720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Boutique en ligne · dépôt et suivi de colis · paiement e-Dinar · espace professionnel</a:t>
            </a:r>
            <a:endParaRPr lang="en-US" sz="1500" dirty="0"/>
          </a:p>
        </p:txBody>
      </p:sp>
      <p:sp>
        <p:nvSpPr>
          <p:cNvPr id="8" name="Shape 6"/>
          <p:cNvSpPr/>
          <p:nvPr/>
        </p:nvSpPr>
        <p:spPr>
          <a:xfrm>
            <a:off x="868680" y="4343400"/>
            <a:ext cx="4206240" cy="27432"/>
          </a:xfrm>
          <a:prstGeom prst="rect">
            <a:avLst/>
          </a:prstGeom>
          <a:solidFill>
            <a:srgbClr val="F2C200"/>
          </a:solidFill>
          <a:ln w="12700">
            <a:solidFill>
              <a:srgbClr val="F2C200"/>
            </a:solidFill>
            <a:prstDash val="solid"/>
          </a:ln>
        </p:spPr>
      </p:sp>
      <p:sp>
        <p:nvSpPr>
          <p:cNvPr id="9" name="Text 7"/>
          <p:cNvSpPr/>
          <p:nvPr/>
        </p:nvSpPr>
        <p:spPr>
          <a:xfrm>
            <a:off x="868680" y="4572000"/>
            <a:ext cx="7315200" cy="1280160"/>
          </a:xfrm>
          <a:prstGeom prst="rect">
            <a:avLst/>
          </a:prstGeom>
          <a:noFill/>
          <a:ln/>
        </p:spPr>
        <p:txBody>
          <a:bodyPr wrap="square" rtlCol="0" anchor="ctr"/>
          <a:lstStyle/>
          <a:p>
            <a:pPr indent="0" marL="0">
              <a:lnSpc>
                <a:spcPct val="130000"/>
              </a:lnSpc>
              <a:buNone/>
            </a:pPr>
            <a:r>
              <a:rPr lang="en-US" sz="1500" b="1" dirty="0">
                <a:solidFill>
                  <a:srgbClr val="F2C200"/>
                </a:solidFill>
                <a:latin typeface="Calibri" pitchFamily="34" charset="0"/>
                <a:ea typeface="Calibri" pitchFamily="34" charset="-122"/>
                <a:cs typeface="Calibri" pitchFamily="34" charset="-120"/>
              </a:rPr>
              <a:t>Réalisé par : </a:t>
            </a:r>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Sarra
</a:t>
            </a:r>
            <a:pPr indent="0" marL="0">
              <a:lnSpc>
                <a:spcPct val="130000"/>
              </a:lnSpc>
              <a:buNone/>
            </a:pPr>
            <a:r>
              <a:rPr lang="en-US" sz="1500" b="1" dirty="0">
                <a:solidFill>
                  <a:srgbClr val="F2C200"/>
                </a:solidFill>
                <a:latin typeface="Calibri" pitchFamily="34" charset="0"/>
                <a:ea typeface="Calibri" pitchFamily="34" charset="-122"/>
                <a:cs typeface="Calibri" pitchFamily="34" charset="-120"/>
              </a:rPr>
              <a:t>Encadré par : </a:t>
            </a:r>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
</a:t>
            </a:r>
            <a:pPr indent="0" marL="0">
              <a:lnSpc>
                <a:spcPct val="130000"/>
              </a:lnSpc>
              <a:buNone/>
            </a:pPr>
            <a:r>
              <a:rPr lang="en-US" sz="1500" b="1" dirty="0">
                <a:solidFill>
                  <a:srgbClr val="F2C200"/>
                </a:solidFill>
                <a:latin typeface="Calibri" pitchFamily="34" charset="0"/>
                <a:ea typeface="Calibri" pitchFamily="34" charset="-122"/>
                <a:cs typeface="Calibri" pitchFamily="34" charset="-120"/>
              </a:rPr>
              <a:t>Année universitaire : </a:t>
            </a:r>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2025 – 2026</a:t>
            </a:r>
            <a:endParaRPr lang="en-US" sz="1500" dirty="0"/>
          </a:p>
        </p:txBody>
      </p:sp>
      <p:sp>
        <p:nvSpPr>
          <p:cNvPr id="10" name="Text 8"/>
          <p:cNvSpPr/>
          <p:nvPr/>
        </p:nvSpPr>
        <p:spPr>
          <a:xfrm>
            <a:off x="7680960" y="5989320"/>
            <a:ext cx="3931920" cy="365760"/>
          </a:xfrm>
          <a:prstGeom prst="rect">
            <a:avLst/>
          </a:prstGeom>
          <a:noFill/>
          <a:ln/>
        </p:spPr>
        <p:txBody>
          <a:bodyPr wrap="square" rtlCol="0" anchor="ctr"/>
          <a:lstStyle/>
          <a:p>
            <a:pPr algn="r" indent="0" marL="0">
              <a:buNone/>
            </a:pPr>
            <a:r>
              <a:rPr lang="en-US" sz="1300" i="1" dirty="0">
                <a:solidFill>
                  <a:srgbClr val="9FB0DD"/>
                </a:solidFill>
                <a:latin typeface="Calibri" pitchFamily="34" charset="0"/>
                <a:ea typeface="Calibri" pitchFamily="34" charset="-122"/>
                <a:cs typeface="Calibri" pitchFamily="34" charset="-120"/>
              </a:rPr>
              <a:t>Projet de Fin d'Études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PLAN DE LA PRÉSENTATION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Sommaire</a:t>
            </a:r>
            <a:endParaRPr lang="en-US" sz="3200" dirty="0"/>
          </a:p>
        </p:txBody>
      </p:sp>
      <p:sp>
        <p:nvSpPr>
          <p:cNvPr id="4" name="Shape 2"/>
          <p:cNvSpPr/>
          <p:nvPr/>
        </p:nvSpPr>
        <p:spPr>
          <a:xfrm>
            <a:off x="640080" y="1783080"/>
            <a:ext cx="566928" cy="566928"/>
          </a:xfrm>
          <a:prstGeom prst="ellipse">
            <a:avLst/>
          </a:prstGeom>
          <a:solidFill>
            <a:srgbClr val="F2C200"/>
          </a:solidFill>
          <a:ln w="25400">
            <a:solidFill>
              <a:srgbClr val="141A2E"/>
            </a:solidFill>
            <a:prstDash val="solid"/>
          </a:ln>
        </p:spPr>
      </p:sp>
      <p:sp>
        <p:nvSpPr>
          <p:cNvPr id="5" name="Text 3"/>
          <p:cNvSpPr/>
          <p:nvPr/>
        </p:nvSpPr>
        <p:spPr>
          <a:xfrm>
            <a:off x="640080" y="17830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371600" y="17647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Présentation de l'organisme d'accueil</a:t>
            </a:r>
            <a:endParaRPr lang="en-US" sz="1500" dirty="0"/>
          </a:p>
        </p:txBody>
      </p:sp>
      <p:sp>
        <p:nvSpPr>
          <p:cNvPr id="7" name="Shape 5"/>
          <p:cNvSpPr/>
          <p:nvPr/>
        </p:nvSpPr>
        <p:spPr>
          <a:xfrm>
            <a:off x="640080" y="2697480"/>
            <a:ext cx="566928" cy="566928"/>
          </a:xfrm>
          <a:prstGeom prst="ellipse">
            <a:avLst/>
          </a:prstGeom>
          <a:solidFill>
            <a:srgbClr val="F2C200"/>
          </a:solidFill>
          <a:ln w="25400">
            <a:solidFill>
              <a:srgbClr val="141A2E"/>
            </a:solidFill>
            <a:prstDash val="solid"/>
          </a:ln>
        </p:spPr>
      </p:sp>
      <p:sp>
        <p:nvSpPr>
          <p:cNvPr id="8" name="Text 6"/>
          <p:cNvSpPr/>
          <p:nvPr/>
        </p:nvSpPr>
        <p:spPr>
          <a:xfrm>
            <a:off x="640080" y="26974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371600" y="26791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Contexte du projet</a:t>
            </a:r>
            <a:endParaRPr lang="en-US" sz="1500" dirty="0"/>
          </a:p>
        </p:txBody>
      </p:sp>
      <p:sp>
        <p:nvSpPr>
          <p:cNvPr id="10" name="Shape 8"/>
          <p:cNvSpPr/>
          <p:nvPr/>
        </p:nvSpPr>
        <p:spPr>
          <a:xfrm>
            <a:off x="640080" y="3611880"/>
            <a:ext cx="566928" cy="566928"/>
          </a:xfrm>
          <a:prstGeom prst="ellipse">
            <a:avLst/>
          </a:prstGeom>
          <a:solidFill>
            <a:srgbClr val="F2C200"/>
          </a:solidFill>
          <a:ln w="25400">
            <a:solidFill>
              <a:srgbClr val="141A2E"/>
            </a:solidFill>
            <a:prstDash val="solid"/>
          </a:ln>
        </p:spPr>
      </p:sp>
      <p:sp>
        <p:nvSpPr>
          <p:cNvPr id="11" name="Text 9"/>
          <p:cNvSpPr/>
          <p:nvPr/>
        </p:nvSpPr>
        <p:spPr>
          <a:xfrm>
            <a:off x="640080" y="36118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371600" y="35935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Problématique</a:t>
            </a:r>
            <a:endParaRPr lang="en-US" sz="1500" dirty="0"/>
          </a:p>
        </p:txBody>
      </p:sp>
      <p:sp>
        <p:nvSpPr>
          <p:cNvPr id="13" name="Shape 11"/>
          <p:cNvSpPr/>
          <p:nvPr/>
        </p:nvSpPr>
        <p:spPr>
          <a:xfrm>
            <a:off x="640080" y="4526280"/>
            <a:ext cx="566928" cy="566928"/>
          </a:xfrm>
          <a:prstGeom prst="ellipse">
            <a:avLst/>
          </a:prstGeom>
          <a:solidFill>
            <a:srgbClr val="F2C200"/>
          </a:solidFill>
          <a:ln w="25400">
            <a:solidFill>
              <a:srgbClr val="141A2E"/>
            </a:solidFill>
            <a:prstDash val="solid"/>
          </a:ln>
        </p:spPr>
      </p:sp>
      <p:sp>
        <p:nvSpPr>
          <p:cNvPr id="14" name="Text 12"/>
          <p:cNvSpPr/>
          <p:nvPr/>
        </p:nvSpPr>
        <p:spPr>
          <a:xfrm>
            <a:off x="640080" y="45262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371600" y="45079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Étude de l'existant et critique</a:t>
            </a:r>
            <a:endParaRPr lang="en-US" sz="1500" dirty="0"/>
          </a:p>
        </p:txBody>
      </p:sp>
      <p:sp>
        <p:nvSpPr>
          <p:cNvPr id="16" name="Shape 14"/>
          <p:cNvSpPr/>
          <p:nvPr/>
        </p:nvSpPr>
        <p:spPr>
          <a:xfrm>
            <a:off x="640080" y="5440680"/>
            <a:ext cx="566928" cy="566928"/>
          </a:xfrm>
          <a:prstGeom prst="ellipse">
            <a:avLst/>
          </a:prstGeom>
          <a:solidFill>
            <a:srgbClr val="F2C200"/>
          </a:solidFill>
          <a:ln w="25400">
            <a:solidFill>
              <a:srgbClr val="141A2E"/>
            </a:solidFill>
            <a:prstDash val="solid"/>
          </a:ln>
        </p:spPr>
      </p:sp>
      <p:sp>
        <p:nvSpPr>
          <p:cNvPr id="17" name="Text 15"/>
          <p:cNvSpPr/>
          <p:nvPr/>
        </p:nvSpPr>
        <p:spPr>
          <a:xfrm>
            <a:off x="640080" y="54406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1371600" y="54223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Solution proposée</a:t>
            </a:r>
            <a:endParaRPr lang="en-US" sz="1500" dirty="0"/>
          </a:p>
        </p:txBody>
      </p:sp>
      <p:sp>
        <p:nvSpPr>
          <p:cNvPr id="19" name="Shape 17"/>
          <p:cNvSpPr/>
          <p:nvPr/>
        </p:nvSpPr>
        <p:spPr>
          <a:xfrm>
            <a:off x="6400800" y="1783080"/>
            <a:ext cx="566928" cy="566928"/>
          </a:xfrm>
          <a:prstGeom prst="ellipse">
            <a:avLst/>
          </a:prstGeom>
          <a:solidFill>
            <a:srgbClr val="F2C200"/>
          </a:solidFill>
          <a:ln w="25400">
            <a:solidFill>
              <a:srgbClr val="141A2E"/>
            </a:solidFill>
            <a:prstDash val="solid"/>
          </a:ln>
        </p:spPr>
      </p:sp>
      <p:sp>
        <p:nvSpPr>
          <p:cNvPr id="20" name="Text 18"/>
          <p:cNvSpPr/>
          <p:nvPr/>
        </p:nvSpPr>
        <p:spPr>
          <a:xfrm>
            <a:off x="6400800" y="17830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6</a:t>
            </a:r>
            <a:endParaRPr lang="en-US" sz="1500" dirty="0"/>
          </a:p>
        </p:txBody>
      </p:sp>
      <p:sp>
        <p:nvSpPr>
          <p:cNvPr id="21" name="Text 19"/>
          <p:cNvSpPr/>
          <p:nvPr/>
        </p:nvSpPr>
        <p:spPr>
          <a:xfrm>
            <a:off x="7132320" y="17647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Méthodologie de travail</a:t>
            </a:r>
            <a:endParaRPr lang="en-US" sz="1500" dirty="0"/>
          </a:p>
        </p:txBody>
      </p:sp>
      <p:sp>
        <p:nvSpPr>
          <p:cNvPr id="22" name="Shape 20"/>
          <p:cNvSpPr/>
          <p:nvPr/>
        </p:nvSpPr>
        <p:spPr>
          <a:xfrm>
            <a:off x="6400800" y="2697480"/>
            <a:ext cx="566928" cy="566928"/>
          </a:xfrm>
          <a:prstGeom prst="ellipse">
            <a:avLst/>
          </a:prstGeom>
          <a:solidFill>
            <a:srgbClr val="F2C200"/>
          </a:solidFill>
          <a:ln w="25400">
            <a:solidFill>
              <a:srgbClr val="141A2E"/>
            </a:solidFill>
            <a:prstDash val="solid"/>
          </a:ln>
        </p:spPr>
      </p:sp>
      <p:sp>
        <p:nvSpPr>
          <p:cNvPr id="23" name="Text 21"/>
          <p:cNvSpPr/>
          <p:nvPr/>
        </p:nvSpPr>
        <p:spPr>
          <a:xfrm>
            <a:off x="6400800" y="26974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7</a:t>
            </a:r>
            <a:endParaRPr lang="en-US" sz="1500" dirty="0"/>
          </a:p>
        </p:txBody>
      </p:sp>
      <p:sp>
        <p:nvSpPr>
          <p:cNvPr id="24" name="Text 22"/>
          <p:cNvSpPr/>
          <p:nvPr/>
        </p:nvSpPr>
        <p:spPr>
          <a:xfrm>
            <a:off x="7132320" y="26791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Besoins fonctionnels et non fonctionnels</a:t>
            </a:r>
            <a:endParaRPr lang="en-US" sz="1500" dirty="0"/>
          </a:p>
        </p:txBody>
      </p:sp>
      <p:sp>
        <p:nvSpPr>
          <p:cNvPr id="25" name="Shape 23"/>
          <p:cNvSpPr/>
          <p:nvPr/>
        </p:nvSpPr>
        <p:spPr>
          <a:xfrm>
            <a:off x="6400800" y="3611880"/>
            <a:ext cx="566928" cy="566928"/>
          </a:xfrm>
          <a:prstGeom prst="ellipse">
            <a:avLst/>
          </a:prstGeom>
          <a:solidFill>
            <a:srgbClr val="F2C200"/>
          </a:solidFill>
          <a:ln w="25400">
            <a:solidFill>
              <a:srgbClr val="141A2E"/>
            </a:solidFill>
            <a:prstDash val="solid"/>
          </a:ln>
        </p:spPr>
      </p:sp>
      <p:sp>
        <p:nvSpPr>
          <p:cNvPr id="26" name="Text 24"/>
          <p:cNvSpPr/>
          <p:nvPr/>
        </p:nvSpPr>
        <p:spPr>
          <a:xfrm>
            <a:off x="6400800" y="36118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8</a:t>
            </a:r>
            <a:endParaRPr lang="en-US" sz="1500" dirty="0"/>
          </a:p>
        </p:txBody>
      </p:sp>
      <p:sp>
        <p:nvSpPr>
          <p:cNvPr id="27" name="Text 25"/>
          <p:cNvSpPr/>
          <p:nvPr/>
        </p:nvSpPr>
        <p:spPr>
          <a:xfrm>
            <a:off x="7132320" y="35935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Diagramme de cas d'utilisation</a:t>
            </a:r>
            <a:endParaRPr lang="en-US" sz="1500" dirty="0"/>
          </a:p>
        </p:txBody>
      </p:sp>
      <p:sp>
        <p:nvSpPr>
          <p:cNvPr id="28" name="Shape 26"/>
          <p:cNvSpPr/>
          <p:nvPr/>
        </p:nvSpPr>
        <p:spPr>
          <a:xfrm>
            <a:off x="6400800" y="4526280"/>
            <a:ext cx="566928" cy="566928"/>
          </a:xfrm>
          <a:prstGeom prst="ellipse">
            <a:avLst/>
          </a:prstGeom>
          <a:solidFill>
            <a:srgbClr val="F2C200"/>
          </a:solidFill>
          <a:ln w="25400">
            <a:solidFill>
              <a:srgbClr val="141A2E"/>
            </a:solidFill>
            <a:prstDash val="solid"/>
          </a:ln>
        </p:spPr>
      </p:sp>
      <p:sp>
        <p:nvSpPr>
          <p:cNvPr id="29" name="Text 27"/>
          <p:cNvSpPr/>
          <p:nvPr/>
        </p:nvSpPr>
        <p:spPr>
          <a:xfrm>
            <a:off x="6400800" y="45262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9</a:t>
            </a:r>
            <a:endParaRPr lang="en-US" sz="1500" dirty="0"/>
          </a:p>
        </p:txBody>
      </p:sp>
      <p:sp>
        <p:nvSpPr>
          <p:cNvPr id="30" name="Text 28"/>
          <p:cNvSpPr/>
          <p:nvPr/>
        </p:nvSpPr>
        <p:spPr>
          <a:xfrm>
            <a:off x="7132320" y="45079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Diagramme de classes d'analyse</a:t>
            </a:r>
            <a:endParaRPr lang="en-US" sz="1500" dirty="0"/>
          </a:p>
        </p:txBody>
      </p:sp>
      <p:sp>
        <p:nvSpPr>
          <p:cNvPr id="31" name="Shape 29"/>
          <p:cNvSpPr/>
          <p:nvPr/>
        </p:nvSpPr>
        <p:spPr>
          <a:xfrm>
            <a:off x="6400800" y="5440680"/>
            <a:ext cx="566928" cy="566928"/>
          </a:xfrm>
          <a:prstGeom prst="ellipse">
            <a:avLst/>
          </a:prstGeom>
          <a:solidFill>
            <a:srgbClr val="F2C200"/>
          </a:solidFill>
          <a:ln w="25400">
            <a:solidFill>
              <a:srgbClr val="141A2E"/>
            </a:solidFill>
            <a:prstDash val="solid"/>
          </a:ln>
        </p:spPr>
      </p:sp>
      <p:sp>
        <p:nvSpPr>
          <p:cNvPr id="32" name="Text 30"/>
          <p:cNvSpPr/>
          <p:nvPr/>
        </p:nvSpPr>
        <p:spPr>
          <a:xfrm>
            <a:off x="6400800" y="5440680"/>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10</a:t>
            </a:r>
            <a:endParaRPr lang="en-US" sz="1500" dirty="0"/>
          </a:p>
        </p:txBody>
      </p:sp>
      <p:sp>
        <p:nvSpPr>
          <p:cNvPr id="33" name="Text 31"/>
          <p:cNvSpPr/>
          <p:nvPr/>
        </p:nvSpPr>
        <p:spPr>
          <a:xfrm>
            <a:off x="7132320" y="5422392"/>
            <a:ext cx="4754880" cy="603504"/>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Outils et technologies</a:t>
            </a:r>
            <a:endParaRPr lang="en-US" sz="1500" dirty="0"/>
          </a:p>
        </p:txBody>
      </p:sp>
      <p:sp>
        <p:nvSpPr>
          <p:cNvPr id="34" name="Text 3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35" name="Text 33"/>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01 · ORGANISME D'ACCUEIL</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La Poste Tunisienne</a:t>
            </a:r>
            <a:endParaRPr lang="en-US" sz="3200" dirty="0"/>
          </a:p>
        </p:txBody>
      </p:sp>
      <p:sp>
        <p:nvSpPr>
          <p:cNvPr id="4" name="Text 2"/>
          <p:cNvSpPr/>
          <p:nvPr/>
        </p:nvSpPr>
        <p:spPr>
          <a:xfrm>
            <a:off x="640080" y="1737360"/>
            <a:ext cx="5029200" cy="2011680"/>
          </a:xfrm>
          <a:prstGeom prst="rect">
            <a:avLst/>
          </a:prstGeom>
          <a:noFill/>
          <a:ln/>
        </p:spPr>
        <p:txBody>
          <a:bodyPr wrap="square" rtlCol="0" anchor="ctr"/>
          <a:lstStyle/>
          <a:p>
            <a:pPr indent="0" marL="0">
              <a:lnSpc>
                <a:spcPct val="130000"/>
              </a:lnSpc>
              <a:buNone/>
            </a:pPr>
            <a:r>
              <a:rPr lang="en-US" sz="1600" dirty="0">
                <a:solidFill>
                  <a:srgbClr val="141A2E"/>
                </a:solidFill>
                <a:latin typeface="Calibri" pitchFamily="34" charset="0"/>
                <a:ea typeface="Calibri" pitchFamily="34" charset="-122"/>
                <a:cs typeface="Calibri" pitchFamily="34" charset="-120"/>
              </a:rPr>
              <a:t>Établissement public à caractère industriel et commercial.
</a:t>
            </a:r>
            <a:pPr indent="0" marL="0">
              <a:lnSpc>
                <a:spcPct val="130000"/>
              </a:lnSpc>
              <a:buNone/>
            </a:pPr>
            <a:r>
              <a:rPr lang="en-US" sz="1600" dirty="0">
                <a:solidFill>
                  <a:srgbClr val="141A2E"/>
                </a:solidFill>
                <a:latin typeface="Calibri" pitchFamily="34" charset="0"/>
                <a:ea typeface="Calibri" pitchFamily="34" charset="-122"/>
                <a:cs typeface="Calibri" pitchFamily="34" charset="-120"/>
              </a:rPr>
              <a:t>Un réseau dense de bureaux couvrant tout le territoire national, au service de proximité des citoyens et des entreprises.</a:t>
            </a:r>
            <a:endParaRPr lang="en-US" sz="1600" dirty="0"/>
          </a:p>
        </p:txBody>
      </p:sp>
      <p:sp>
        <p:nvSpPr>
          <p:cNvPr id="5" name="Shape 3"/>
          <p:cNvSpPr/>
          <p:nvPr/>
        </p:nvSpPr>
        <p:spPr>
          <a:xfrm>
            <a:off x="6126480" y="1691640"/>
            <a:ext cx="5394960" cy="118872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6" name="Shape 4"/>
          <p:cNvSpPr/>
          <p:nvPr/>
        </p:nvSpPr>
        <p:spPr>
          <a:xfrm>
            <a:off x="6400800" y="1984248"/>
            <a:ext cx="603504" cy="603504"/>
          </a:xfrm>
          <a:prstGeom prst="ellipse">
            <a:avLst/>
          </a:prstGeom>
          <a:solidFill>
            <a:srgbClr val="1B2D6B"/>
          </a:solidFill>
          <a:ln w="25400">
            <a:solidFill>
              <a:srgbClr val="141A2E"/>
            </a:solidFill>
            <a:prstDash val="solid"/>
          </a:ln>
        </p:spPr>
      </p:sp>
      <p:sp>
        <p:nvSpPr>
          <p:cNvPr id="7" name="Text 5"/>
          <p:cNvSpPr/>
          <p:nvPr/>
        </p:nvSpPr>
        <p:spPr>
          <a:xfrm>
            <a:off x="6400800" y="1984248"/>
            <a:ext cx="603504" cy="60350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7178040" y="1911096"/>
            <a:ext cx="4206240" cy="36576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Services postaux</a:t>
            </a:r>
            <a:endParaRPr lang="en-US" sz="1700" dirty="0"/>
          </a:p>
        </p:txBody>
      </p:sp>
      <p:sp>
        <p:nvSpPr>
          <p:cNvPr id="9" name="Text 7"/>
          <p:cNvSpPr/>
          <p:nvPr/>
        </p:nvSpPr>
        <p:spPr>
          <a:xfrm>
            <a:off x="7178040" y="2295144"/>
            <a:ext cx="4206240" cy="36576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Courrier, colis, Rapid-Poste</a:t>
            </a:r>
            <a:endParaRPr lang="en-US" sz="1300" dirty="0"/>
          </a:p>
        </p:txBody>
      </p:sp>
      <p:sp>
        <p:nvSpPr>
          <p:cNvPr id="10" name="Shape 8"/>
          <p:cNvSpPr/>
          <p:nvPr/>
        </p:nvSpPr>
        <p:spPr>
          <a:xfrm>
            <a:off x="6126480" y="3108960"/>
            <a:ext cx="5394960" cy="118872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1" name="Shape 9"/>
          <p:cNvSpPr/>
          <p:nvPr/>
        </p:nvSpPr>
        <p:spPr>
          <a:xfrm>
            <a:off x="6400800" y="3401568"/>
            <a:ext cx="603504" cy="603504"/>
          </a:xfrm>
          <a:prstGeom prst="ellipse">
            <a:avLst/>
          </a:prstGeom>
          <a:solidFill>
            <a:srgbClr val="1B2D6B"/>
          </a:solidFill>
          <a:ln w="25400">
            <a:solidFill>
              <a:srgbClr val="141A2E"/>
            </a:solidFill>
            <a:prstDash val="solid"/>
          </a:ln>
        </p:spPr>
      </p:sp>
      <p:sp>
        <p:nvSpPr>
          <p:cNvPr id="12" name="Text 10"/>
          <p:cNvSpPr/>
          <p:nvPr/>
        </p:nvSpPr>
        <p:spPr>
          <a:xfrm>
            <a:off x="6400800" y="3401568"/>
            <a:ext cx="603504" cy="60350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7178040" y="3328416"/>
            <a:ext cx="4206240" cy="36576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Services financiers</a:t>
            </a:r>
            <a:endParaRPr lang="en-US" sz="1700" dirty="0"/>
          </a:p>
        </p:txBody>
      </p:sp>
      <p:sp>
        <p:nvSpPr>
          <p:cNvPr id="14" name="Text 12"/>
          <p:cNvSpPr/>
          <p:nvPr/>
        </p:nvSpPr>
        <p:spPr>
          <a:xfrm>
            <a:off x="7178040" y="3712464"/>
            <a:ext cx="4206240" cy="36576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CCP, mandats, épargne</a:t>
            </a:r>
            <a:endParaRPr lang="en-US" sz="1300" dirty="0"/>
          </a:p>
        </p:txBody>
      </p:sp>
      <p:sp>
        <p:nvSpPr>
          <p:cNvPr id="15" name="Shape 13"/>
          <p:cNvSpPr/>
          <p:nvPr/>
        </p:nvSpPr>
        <p:spPr>
          <a:xfrm>
            <a:off x="6126480" y="4526280"/>
            <a:ext cx="5394960" cy="118872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6" name="Shape 14"/>
          <p:cNvSpPr/>
          <p:nvPr/>
        </p:nvSpPr>
        <p:spPr>
          <a:xfrm>
            <a:off x="6400800" y="4818888"/>
            <a:ext cx="603504" cy="603504"/>
          </a:xfrm>
          <a:prstGeom prst="ellipse">
            <a:avLst/>
          </a:prstGeom>
          <a:solidFill>
            <a:srgbClr val="1B2D6B"/>
          </a:solidFill>
          <a:ln w="25400">
            <a:solidFill>
              <a:srgbClr val="141A2E"/>
            </a:solidFill>
            <a:prstDash val="solid"/>
          </a:ln>
        </p:spPr>
      </p:sp>
      <p:sp>
        <p:nvSpPr>
          <p:cNvPr id="17" name="Text 15"/>
          <p:cNvSpPr/>
          <p:nvPr/>
        </p:nvSpPr>
        <p:spPr>
          <a:xfrm>
            <a:off x="6400800" y="4818888"/>
            <a:ext cx="603504" cy="60350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7178040" y="4745736"/>
            <a:ext cx="4206240" cy="36576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Services numériques</a:t>
            </a:r>
            <a:endParaRPr lang="en-US" sz="1700" dirty="0"/>
          </a:p>
        </p:txBody>
      </p:sp>
      <p:sp>
        <p:nvSpPr>
          <p:cNvPr id="19" name="Text 17"/>
          <p:cNvSpPr/>
          <p:nvPr/>
        </p:nvSpPr>
        <p:spPr>
          <a:xfrm>
            <a:off x="7178040" y="5129784"/>
            <a:ext cx="4206240" cy="36576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e-Dinar, paiement en ligne</a:t>
            </a:r>
            <a:endParaRPr lang="en-US" sz="1300" dirty="0"/>
          </a:p>
        </p:txBody>
      </p:sp>
      <p:sp>
        <p:nvSpPr>
          <p:cNvPr id="20" name="Text 18"/>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1" name="Text 19"/>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02 · CONTEXTE DU PROJET</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Une transformation numérique nécessaire</a:t>
            </a:r>
            <a:endParaRPr lang="en-US" sz="3200" dirty="0"/>
          </a:p>
        </p:txBody>
      </p:sp>
      <p:sp>
        <p:nvSpPr>
          <p:cNvPr id="4" name="Shape 2"/>
          <p:cNvSpPr/>
          <p:nvPr/>
        </p:nvSpPr>
        <p:spPr>
          <a:xfrm>
            <a:off x="640080" y="1920240"/>
            <a:ext cx="3520440" cy="310896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5" name="Shape 3"/>
          <p:cNvSpPr/>
          <p:nvPr/>
        </p:nvSpPr>
        <p:spPr>
          <a:xfrm>
            <a:off x="960120" y="2240280"/>
            <a:ext cx="685800" cy="685800"/>
          </a:xfrm>
          <a:prstGeom prst="ellipse">
            <a:avLst/>
          </a:prstGeom>
          <a:solidFill>
            <a:srgbClr val="F2C200"/>
          </a:solidFill>
          <a:ln w="25400">
            <a:solidFill>
              <a:srgbClr val="141A2E"/>
            </a:solidFill>
            <a:prstDash val="solid"/>
          </a:ln>
        </p:spPr>
      </p:sp>
      <p:sp>
        <p:nvSpPr>
          <p:cNvPr id="6" name="Text 4"/>
          <p:cNvSpPr/>
          <p:nvPr/>
        </p:nvSpPr>
        <p:spPr>
          <a:xfrm>
            <a:off x="960120" y="224028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914400" y="3108960"/>
            <a:ext cx="2971800" cy="82296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Croissance du e-commerce</a:t>
            </a:r>
            <a:endParaRPr lang="en-US" sz="1800" dirty="0"/>
          </a:p>
        </p:txBody>
      </p:sp>
      <p:sp>
        <p:nvSpPr>
          <p:cNvPr id="8" name="Text 6"/>
          <p:cNvSpPr/>
          <p:nvPr/>
        </p:nvSpPr>
        <p:spPr>
          <a:xfrm>
            <a:off x="914400" y="3931920"/>
            <a:ext cx="2971800" cy="914400"/>
          </a:xfrm>
          <a:prstGeom prst="rect">
            <a:avLst/>
          </a:prstGeom>
          <a:noFill/>
          <a:ln/>
        </p:spPr>
        <p:txBody>
          <a:bodyPr wrap="square" rtlCol="0" anchor="ctr"/>
          <a:lstStyle/>
          <a:p>
            <a:pPr indent="0" marL="0">
              <a:lnSpc>
                <a:spcPct val="125000"/>
              </a:lnSpc>
              <a:buNone/>
            </a:pPr>
            <a:r>
              <a:rPr lang="en-US" sz="1400" dirty="0">
                <a:solidFill>
                  <a:srgbClr val="56607D"/>
                </a:solidFill>
                <a:latin typeface="Calibri" pitchFamily="34" charset="0"/>
                <a:ea typeface="Calibri" pitchFamily="34" charset="-122"/>
                <a:cs typeface="Calibri" pitchFamily="34" charset="-120"/>
              </a:rPr>
              <a:t>Les usagers attendent des services rapides et en ligne.</a:t>
            </a:r>
            <a:endParaRPr lang="en-US" sz="1400" dirty="0"/>
          </a:p>
        </p:txBody>
      </p:sp>
      <p:sp>
        <p:nvSpPr>
          <p:cNvPr id="9" name="Shape 7"/>
          <p:cNvSpPr/>
          <p:nvPr/>
        </p:nvSpPr>
        <p:spPr>
          <a:xfrm>
            <a:off x="4434840" y="1920240"/>
            <a:ext cx="3520440" cy="310896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0" name="Shape 8"/>
          <p:cNvSpPr/>
          <p:nvPr/>
        </p:nvSpPr>
        <p:spPr>
          <a:xfrm>
            <a:off x="4754880" y="2240280"/>
            <a:ext cx="685800" cy="685800"/>
          </a:xfrm>
          <a:prstGeom prst="ellipse">
            <a:avLst/>
          </a:prstGeom>
          <a:solidFill>
            <a:srgbClr val="F2C200"/>
          </a:solidFill>
          <a:ln w="25400">
            <a:solidFill>
              <a:srgbClr val="141A2E"/>
            </a:solidFill>
            <a:prstDash val="solid"/>
          </a:ln>
        </p:spPr>
      </p:sp>
      <p:sp>
        <p:nvSpPr>
          <p:cNvPr id="11" name="Text 9"/>
          <p:cNvSpPr/>
          <p:nvPr/>
        </p:nvSpPr>
        <p:spPr>
          <a:xfrm>
            <a:off x="4754880" y="224028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709160" y="3108960"/>
            <a:ext cx="2971800" cy="82296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Services encore physiques</a:t>
            </a:r>
            <a:endParaRPr lang="en-US" sz="1800" dirty="0"/>
          </a:p>
        </p:txBody>
      </p:sp>
      <p:sp>
        <p:nvSpPr>
          <p:cNvPr id="13" name="Text 11"/>
          <p:cNvSpPr/>
          <p:nvPr/>
        </p:nvSpPr>
        <p:spPr>
          <a:xfrm>
            <a:off x="4709160" y="3931920"/>
            <a:ext cx="2971800" cy="914400"/>
          </a:xfrm>
          <a:prstGeom prst="rect">
            <a:avLst/>
          </a:prstGeom>
          <a:noFill/>
          <a:ln/>
        </p:spPr>
        <p:txBody>
          <a:bodyPr wrap="square" rtlCol="0" anchor="ctr"/>
          <a:lstStyle/>
          <a:p>
            <a:pPr indent="0" marL="0">
              <a:lnSpc>
                <a:spcPct val="125000"/>
              </a:lnSpc>
              <a:buNone/>
            </a:pPr>
            <a:r>
              <a:rPr lang="en-US" sz="1400" dirty="0">
                <a:solidFill>
                  <a:srgbClr val="56607D"/>
                </a:solidFill>
                <a:latin typeface="Calibri" pitchFamily="34" charset="0"/>
                <a:ea typeface="Calibri" pitchFamily="34" charset="-122"/>
                <a:cs typeface="Calibri" pitchFamily="34" charset="-120"/>
              </a:rPr>
              <a:t>La majorité des opérations se font au guichet.</a:t>
            </a:r>
            <a:endParaRPr lang="en-US" sz="1400" dirty="0"/>
          </a:p>
        </p:txBody>
      </p:sp>
      <p:sp>
        <p:nvSpPr>
          <p:cNvPr id="14" name="Shape 12"/>
          <p:cNvSpPr/>
          <p:nvPr/>
        </p:nvSpPr>
        <p:spPr>
          <a:xfrm>
            <a:off x="8229600" y="1920240"/>
            <a:ext cx="3520440" cy="310896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5" name="Shape 13"/>
          <p:cNvSpPr/>
          <p:nvPr/>
        </p:nvSpPr>
        <p:spPr>
          <a:xfrm>
            <a:off x="8549640" y="2240280"/>
            <a:ext cx="685800" cy="685800"/>
          </a:xfrm>
          <a:prstGeom prst="ellipse">
            <a:avLst/>
          </a:prstGeom>
          <a:solidFill>
            <a:srgbClr val="F2C200"/>
          </a:solidFill>
          <a:ln w="25400">
            <a:solidFill>
              <a:srgbClr val="141A2E"/>
            </a:solidFill>
            <a:prstDash val="solid"/>
          </a:ln>
        </p:spPr>
      </p:sp>
      <p:sp>
        <p:nvSpPr>
          <p:cNvPr id="16" name="Text 14"/>
          <p:cNvSpPr/>
          <p:nvPr/>
        </p:nvSpPr>
        <p:spPr>
          <a:xfrm>
            <a:off x="8549640" y="224028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503920" y="3108960"/>
            <a:ext cx="2971800" cy="82296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Enjeu pour le service public</a:t>
            </a:r>
            <a:endParaRPr lang="en-US" sz="1800" dirty="0"/>
          </a:p>
        </p:txBody>
      </p:sp>
      <p:sp>
        <p:nvSpPr>
          <p:cNvPr id="18" name="Text 16"/>
          <p:cNvSpPr/>
          <p:nvPr/>
        </p:nvSpPr>
        <p:spPr>
          <a:xfrm>
            <a:off x="8503920" y="3931920"/>
            <a:ext cx="2971800" cy="914400"/>
          </a:xfrm>
          <a:prstGeom prst="rect">
            <a:avLst/>
          </a:prstGeom>
          <a:noFill/>
          <a:ln/>
        </p:spPr>
        <p:txBody>
          <a:bodyPr wrap="square" rtlCol="0" anchor="ctr"/>
          <a:lstStyle/>
          <a:p>
            <a:pPr indent="0" marL="0">
              <a:lnSpc>
                <a:spcPct val="125000"/>
              </a:lnSpc>
              <a:buNone/>
            </a:pPr>
            <a:r>
              <a:rPr lang="en-US" sz="1400" dirty="0">
                <a:solidFill>
                  <a:srgbClr val="56607D"/>
                </a:solidFill>
                <a:latin typeface="Calibri" pitchFamily="34" charset="0"/>
                <a:ea typeface="Calibri" pitchFamily="34" charset="-122"/>
                <a:cs typeface="Calibri" pitchFamily="34" charset="-120"/>
              </a:rPr>
              <a:t>Moderniser l'offre et gagner en efficacité.</a:t>
            </a:r>
            <a:endParaRPr lang="en-US" sz="1400" dirty="0"/>
          </a:p>
        </p:txBody>
      </p:sp>
      <p:sp>
        <p:nvSpPr>
          <p:cNvPr id="19" name="Text 17"/>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0" name="Text 18"/>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04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F2C200"/>
                </a:solidFill>
                <a:latin typeface="Calibri" pitchFamily="34" charset="0"/>
                <a:ea typeface="Calibri" pitchFamily="34" charset="-122"/>
                <a:cs typeface="Calibri" pitchFamily="34" charset="-120"/>
              </a:rPr>
              <a:t>03 · PROBLÉMATIQUE</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 problème posé</a:t>
            </a:r>
            <a:endParaRPr lang="en-US" sz="3200" dirty="0"/>
          </a:p>
        </p:txBody>
      </p:sp>
      <p:sp>
        <p:nvSpPr>
          <p:cNvPr id="4" name="Shape 2"/>
          <p:cNvSpPr/>
          <p:nvPr/>
        </p:nvSpPr>
        <p:spPr>
          <a:xfrm>
            <a:off x="640080" y="1691640"/>
            <a:ext cx="10881360" cy="1600200"/>
          </a:xfrm>
          <a:prstGeom prst="rect">
            <a:avLst/>
          </a:prstGeom>
          <a:solidFill>
            <a:srgbClr val="1B2D6B"/>
          </a:solidFill>
          <a:ln w="25400">
            <a:solidFill>
              <a:srgbClr val="F2C200"/>
            </a:solidFill>
            <a:prstDash val="solid"/>
          </a:ln>
          <a:effectLst>
            <a:outerShdw sx="100000" sy="100000" kx="0" ky="0" algn="bl" rotWithShape="0" blurRad="101600" dist="76200" dir="2700000">
              <a:srgbClr val="2C44A0">
                <a:alpha val="100000"/>
              </a:srgbClr>
            </a:outerShdw>
          </a:effectLst>
        </p:spPr>
      </p:sp>
      <p:sp>
        <p:nvSpPr>
          <p:cNvPr id="5" name="Text 3"/>
          <p:cNvSpPr/>
          <p:nvPr/>
        </p:nvSpPr>
        <p:spPr>
          <a:xfrm>
            <a:off x="1005840" y="1828800"/>
            <a:ext cx="10149840" cy="1325880"/>
          </a:xfrm>
          <a:prstGeom prst="rect">
            <a:avLst/>
          </a:prstGeom>
          <a:noFill/>
          <a:ln/>
        </p:spPr>
        <p:txBody>
          <a:bodyPr wrap="square" rtlCol="0" anchor="ctr"/>
          <a:lstStyle/>
          <a:p>
            <a:pPr indent="0" marL="0">
              <a:lnSpc>
                <a:spcPct val="115000"/>
              </a:lnSpc>
              <a:buNone/>
            </a:pPr>
            <a:r>
              <a:rPr lang="en-US" sz="2000" b="1" i="1" dirty="0">
                <a:solidFill>
                  <a:srgbClr val="FFFFFF"/>
                </a:solidFill>
                <a:latin typeface="Cambria" pitchFamily="34" charset="0"/>
                <a:ea typeface="Cambria" pitchFamily="34" charset="-122"/>
                <a:cs typeface="Cambria" pitchFamily="34" charset="-120"/>
              </a:rPr>
              <a:t>Comment digitaliser et unifier les services de La Poste Tunisienne au sein d'une plateforme unique, simple et sécurisée, accessible à distance pour le citoyen et efficace pour le personnel ?</a:t>
            </a:r>
            <a:endParaRPr lang="en-US" sz="2000" dirty="0"/>
          </a:p>
        </p:txBody>
      </p:sp>
      <p:sp>
        <p:nvSpPr>
          <p:cNvPr id="6" name="Shape 4"/>
          <p:cNvSpPr/>
          <p:nvPr/>
        </p:nvSpPr>
        <p:spPr>
          <a:xfrm>
            <a:off x="640080" y="3840480"/>
            <a:ext cx="3520440" cy="1737360"/>
          </a:xfrm>
          <a:prstGeom prst="rect">
            <a:avLst/>
          </a:prstGeom>
          <a:solidFill>
            <a:srgbClr val="1B2D6B"/>
          </a:solidFill>
          <a:ln w="25400">
            <a:solidFill>
              <a:srgbClr val="FFFFFF"/>
            </a:solidFill>
            <a:prstDash val="solid"/>
          </a:ln>
          <a:effectLst>
            <a:outerShdw sx="100000" sy="100000" kx="0" ky="0" algn="bl" rotWithShape="0" blurRad="101600" dist="76200" dir="2700000">
              <a:srgbClr val="E5384B">
                <a:alpha val="100000"/>
              </a:srgbClr>
            </a:outerShdw>
          </a:effectLst>
        </p:spPr>
      </p:sp>
      <p:sp>
        <p:nvSpPr>
          <p:cNvPr id="7" name="Text 5"/>
          <p:cNvSpPr/>
          <p:nvPr/>
        </p:nvSpPr>
        <p:spPr>
          <a:xfrm>
            <a:off x="914400" y="4023360"/>
            <a:ext cx="2971800" cy="1371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Files d'attente au guichet</a:t>
            </a:r>
            <a:endParaRPr lang="en-US" sz="1600" dirty="0"/>
          </a:p>
        </p:txBody>
      </p:sp>
      <p:sp>
        <p:nvSpPr>
          <p:cNvPr id="8" name="Shape 6"/>
          <p:cNvSpPr/>
          <p:nvPr/>
        </p:nvSpPr>
        <p:spPr>
          <a:xfrm>
            <a:off x="4434840" y="3840480"/>
            <a:ext cx="3520440" cy="1737360"/>
          </a:xfrm>
          <a:prstGeom prst="rect">
            <a:avLst/>
          </a:prstGeom>
          <a:solidFill>
            <a:srgbClr val="1B2D6B"/>
          </a:solidFill>
          <a:ln w="25400">
            <a:solidFill>
              <a:srgbClr val="FFFFFF"/>
            </a:solidFill>
            <a:prstDash val="solid"/>
          </a:ln>
          <a:effectLst>
            <a:outerShdw sx="100000" sy="100000" kx="0" ky="0" algn="bl" rotWithShape="0" blurRad="101600" dist="76200" dir="2700000">
              <a:srgbClr val="E5384B">
                <a:alpha val="100000"/>
              </a:srgbClr>
            </a:outerShdw>
          </a:effectLst>
        </p:spPr>
      </p:sp>
      <p:sp>
        <p:nvSpPr>
          <p:cNvPr id="9" name="Text 7"/>
          <p:cNvSpPr/>
          <p:nvPr/>
        </p:nvSpPr>
        <p:spPr>
          <a:xfrm>
            <a:off x="4709160" y="4023360"/>
            <a:ext cx="2971800" cy="1371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Perte de temps pour le citoyen</a:t>
            </a:r>
            <a:endParaRPr lang="en-US" sz="1600" dirty="0"/>
          </a:p>
        </p:txBody>
      </p:sp>
      <p:sp>
        <p:nvSpPr>
          <p:cNvPr id="10" name="Shape 8"/>
          <p:cNvSpPr/>
          <p:nvPr/>
        </p:nvSpPr>
        <p:spPr>
          <a:xfrm>
            <a:off x="8229600" y="3840480"/>
            <a:ext cx="3520440" cy="1737360"/>
          </a:xfrm>
          <a:prstGeom prst="rect">
            <a:avLst/>
          </a:prstGeom>
          <a:solidFill>
            <a:srgbClr val="1B2D6B"/>
          </a:solidFill>
          <a:ln w="25400">
            <a:solidFill>
              <a:srgbClr val="FFFFFF"/>
            </a:solidFill>
            <a:prstDash val="solid"/>
          </a:ln>
          <a:effectLst>
            <a:outerShdw sx="100000" sy="100000" kx="0" ky="0" algn="bl" rotWithShape="0" blurRad="101600" dist="76200" dir="2700000">
              <a:srgbClr val="E5384B">
                <a:alpha val="100000"/>
              </a:srgbClr>
            </a:outerShdw>
          </a:effectLst>
        </p:spPr>
      </p:sp>
      <p:sp>
        <p:nvSpPr>
          <p:cNvPr id="11" name="Text 9"/>
          <p:cNvSpPr/>
          <p:nvPr/>
        </p:nvSpPr>
        <p:spPr>
          <a:xfrm>
            <a:off x="8503920" y="4023360"/>
            <a:ext cx="2971800" cy="1371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Offre en ligne fragmentée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04 · ÉTUDE DE L'EXISTANT</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Existant et critique</a:t>
            </a:r>
            <a:endParaRPr lang="en-US" sz="3200" dirty="0"/>
          </a:p>
        </p:txBody>
      </p:sp>
      <p:sp>
        <p:nvSpPr>
          <p:cNvPr id="4" name="Shape 2"/>
          <p:cNvSpPr/>
          <p:nvPr/>
        </p:nvSpPr>
        <p:spPr>
          <a:xfrm>
            <a:off x="640080" y="1737360"/>
            <a:ext cx="5257800" cy="393192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5" name="Text 3"/>
          <p:cNvSpPr/>
          <p:nvPr/>
        </p:nvSpPr>
        <p:spPr>
          <a:xfrm>
            <a:off x="914400" y="1920240"/>
            <a:ext cx="475488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Situation actuelle</a:t>
            </a:r>
            <a:endParaRPr lang="en-US" sz="1800" dirty="0"/>
          </a:p>
        </p:txBody>
      </p:sp>
      <p:sp>
        <p:nvSpPr>
          <p:cNvPr id="6" name="Text 4"/>
          <p:cNvSpPr/>
          <p:nvPr/>
        </p:nvSpPr>
        <p:spPr>
          <a:xfrm>
            <a:off x="914400" y="2514600"/>
            <a:ext cx="4754880" cy="548640"/>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Achat — </a:t>
            </a:r>
            <a:pPr indent="0" marL="0">
              <a:buNone/>
            </a:pPr>
            <a:r>
              <a:rPr lang="en-US" sz="1500" dirty="0">
                <a:solidFill>
                  <a:srgbClr val="56607D"/>
                </a:solidFill>
                <a:latin typeface="Calibri" pitchFamily="34" charset="0"/>
                <a:ea typeface="Calibri" pitchFamily="34" charset="-122"/>
                <a:cs typeface="Calibri" pitchFamily="34" charset="-120"/>
              </a:rPr>
              <a:t>au bureau uniquement</a:t>
            </a:r>
            <a:endParaRPr lang="en-US" sz="1500" dirty="0"/>
          </a:p>
        </p:txBody>
      </p:sp>
      <p:sp>
        <p:nvSpPr>
          <p:cNvPr id="7" name="Text 5"/>
          <p:cNvSpPr/>
          <p:nvPr/>
        </p:nvSpPr>
        <p:spPr>
          <a:xfrm>
            <a:off x="914400" y="3264408"/>
            <a:ext cx="4754880" cy="548640"/>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Dépôt de colis — </a:t>
            </a:r>
            <a:pPr indent="0" marL="0">
              <a:buNone/>
            </a:pPr>
            <a:r>
              <a:rPr lang="en-US" sz="1500" dirty="0">
                <a:solidFill>
                  <a:srgbClr val="56607D"/>
                </a:solidFill>
                <a:latin typeface="Calibri" pitchFamily="34" charset="0"/>
                <a:ea typeface="Calibri" pitchFamily="34" charset="-122"/>
                <a:cs typeface="Calibri" pitchFamily="34" charset="-120"/>
              </a:rPr>
              <a:t>au guichet</a:t>
            </a:r>
            <a:endParaRPr lang="en-US" sz="1500" dirty="0"/>
          </a:p>
        </p:txBody>
      </p:sp>
      <p:sp>
        <p:nvSpPr>
          <p:cNvPr id="8" name="Text 6"/>
          <p:cNvSpPr/>
          <p:nvPr/>
        </p:nvSpPr>
        <p:spPr>
          <a:xfrm>
            <a:off x="914400" y="4014216"/>
            <a:ext cx="4754880" cy="548640"/>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Suivi — </a:t>
            </a:r>
            <a:pPr indent="0" marL="0">
              <a:buNone/>
            </a:pPr>
            <a:r>
              <a:rPr lang="en-US" sz="1500" dirty="0">
                <a:solidFill>
                  <a:srgbClr val="56607D"/>
                </a:solidFill>
                <a:latin typeface="Calibri" pitchFamily="34" charset="0"/>
                <a:ea typeface="Calibri" pitchFamily="34" charset="-122"/>
                <a:cs typeface="Calibri" pitchFamily="34" charset="-120"/>
              </a:rPr>
              <a:t>non unifié</a:t>
            </a:r>
            <a:endParaRPr lang="en-US" sz="1500" dirty="0"/>
          </a:p>
        </p:txBody>
      </p:sp>
      <p:sp>
        <p:nvSpPr>
          <p:cNvPr id="9" name="Text 7"/>
          <p:cNvSpPr/>
          <p:nvPr/>
        </p:nvSpPr>
        <p:spPr>
          <a:xfrm>
            <a:off x="914400" y="4764024"/>
            <a:ext cx="4754880" cy="548640"/>
          </a:xfrm>
          <a:prstGeom prst="rect">
            <a:avLst/>
          </a:prstGeom>
          <a:noFill/>
          <a:ln/>
        </p:spPr>
        <p:txBody>
          <a:bodyPr wrap="square" rtlCol="0" anchor="ctr"/>
          <a:lstStyle/>
          <a:p>
            <a:pPr indent="0" marL="0">
              <a:buNone/>
            </a:pPr>
            <a:r>
              <a:rPr lang="en-US" sz="1500" b="1" dirty="0">
                <a:solidFill>
                  <a:srgbClr val="141A2E"/>
                </a:solidFill>
                <a:latin typeface="Calibri" pitchFamily="34" charset="0"/>
                <a:ea typeface="Calibri" pitchFamily="34" charset="-122"/>
                <a:cs typeface="Calibri" pitchFamily="34" charset="-120"/>
              </a:rPr>
              <a:t>Paiement — </a:t>
            </a:r>
            <a:pPr indent="0" marL="0">
              <a:buNone/>
            </a:pPr>
            <a:r>
              <a:rPr lang="en-US" sz="1500" dirty="0">
                <a:solidFill>
                  <a:srgbClr val="56607D"/>
                </a:solidFill>
                <a:latin typeface="Calibri" pitchFamily="34" charset="0"/>
                <a:ea typeface="Calibri" pitchFamily="34" charset="-122"/>
                <a:cs typeface="Calibri" pitchFamily="34" charset="-120"/>
              </a:rPr>
              <a:t>en espèces sur place</a:t>
            </a:r>
            <a:endParaRPr lang="en-US" sz="1500" dirty="0"/>
          </a:p>
        </p:txBody>
      </p:sp>
      <p:sp>
        <p:nvSpPr>
          <p:cNvPr id="10" name="Shape 8"/>
          <p:cNvSpPr/>
          <p:nvPr/>
        </p:nvSpPr>
        <p:spPr>
          <a:xfrm>
            <a:off x="6263640" y="1737360"/>
            <a:ext cx="5257800" cy="3931920"/>
          </a:xfrm>
          <a:prstGeom prst="rect">
            <a:avLst/>
          </a:prstGeom>
          <a:solidFill>
            <a:srgbClr val="FFFFFF"/>
          </a:solidFill>
          <a:ln w="25400">
            <a:solidFill>
              <a:srgbClr val="E5384B"/>
            </a:solidFill>
            <a:prstDash val="solid"/>
          </a:ln>
          <a:effectLst>
            <a:outerShdw sx="100000" sy="100000" kx="0" ky="0" algn="bl" rotWithShape="0" blurRad="101600" dist="76200" dir="2700000">
              <a:srgbClr val="E5384B">
                <a:alpha val="100000"/>
              </a:srgbClr>
            </a:outerShdw>
          </a:effectLst>
        </p:spPr>
      </p:sp>
      <p:sp>
        <p:nvSpPr>
          <p:cNvPr id="11" name="Text 9"/>
          <p:cNvSpPr/>
          <p:nvPr/>
        </p:nvSpPr>
        <p:spPr>
          <a:xfrm>
            <a:off x="6537960" y="1920240"/>
            <a:ext cx="4754880" cy="457200"/>
          </a:xfrm>
          <a:prstGeom prst="rect">
            <a:avLst/>
          </a:prstGeom>
          <a:noFill/>
          <a:ln/>
        </p:spPr>
        <p:txBody>
          <a:bodyPr wrap="square" rtlCol="0" anchor="ctr"/>
          <a:lstStyle/>
          <a:p>
            <a:pPr indent="0" marL="0">
              <a:buNone/>
            </a:pPr>
            <a:r>
              <a:rPr lang="en-US" sz="1800" b="1" dirty="0">
                <a:solidFill>
                  <a:srgbClr val="E5384B"/>
                </a:solidFill>
                <a:latin typeface="Cambria" pitchFamily="34" charset="0"/>
                <a:ea typeface="Cambria" pitchFamily="34" charset="-122"/>
                <a:cs typeface="Cambria" pitchFamily="34" charset="-120"/>
              </a:rPr>
              <a:t>Limites constatées</a:t>
            </a:r>
            <a:endParaRPr lang="en-US" sz="1800" dirty="0"/>
          </a:p>
        </p:txBody>
      </p:sp>
      <p:sp>
        <p:nvSpPr>
          <p:cNvPr id="12" name="Shape 10"/>
          <p:cNvSpPr/>
          <p:nvPr/>
        </p:nvSpPr>
        <p:spPr>
          <a:xfrm>
            <a:off x="6537960" y="2542032"/>
            <a:ext cx="201168" cy="201168"/>
          </a:xfrm>
          <a:prstGeom prst="rect">
            <a:avLst/>
          </a:prstGeom>
          <a:solidFill>
            <a:srgbClr val="E5384B"/>
          </a:solidFill>
          <a:ln w="12700">
            <a:solidFill>
              <a:srgbClr val="E5384B"/>
            </a:solidFill>
            <a:prstDash val="solid"/>
          </a:ln>
        </p:spPr>
      </p:sp>
      <p:sp>
        <p:nvSpPr>
          <p:cNvPr id="13" name="Text 11"/>
          <p:cNvSpPr/>
          <p:nvPr/>
        </p:nvSpPr>
        <p:spPr>
          <a:xfrm>
            <a:off x="6858000" y="2468880"/>
            <a:ext cx="4480560" cy="457200"/>
          </a:xfrm>
          <a:prstGeom prst="rect">
            <a:avLst/>
          </a:prstGeom>
          <a:noFill/>
          <a:ln/>
        </p:spPr>
        <p:txBody>
          <a:bodyPr wrap="square" rtlCol="0" anchor="ctr"/>
          <a:lstStyle/>
          <a:p>
            <a:pPr indent="0" marL="0">
              <a:buNone/>
            </a:pPr>
            <a:r>
              <a:rPr lang="en-US" sz="1450" dirty="0">
                <a:solidFill>
                  <a:srgbClr val="141A2E"/>
                </a:solidFill>
                <a:latin typeface="Calibri" pitchFamily="34" charset="0"/>
                <a:ea typeface="Calibri" pitchFamily="34" charset="-122"/>
                <a:cs typeface="Calibri" pitchFamily="34" charset="-120"/>
              </a:rPr>
              <a:t>Déplacement obligatoire</a:t>
            </a:r>
            <a:endParaRPr lang="en-US" sz="1450" dirty="0"/>
          </a:p>
        </p:txBody>
      </p:sp>
      <p:sp>
        <p:nvSpPr>
          <p:cNvPr id="14" name="Shape 12"/>
          <p:cNvSpPr/>
          <p:nvPr/>
        </p:nvSpPr>
        <p:spPr>
          <a:xfrm>
            <a:off x="6537960" y="3163824"/>
            <a:ext cx="201168" cy="201168"/>
          </a:xfrm>
          <a:prstGeom prst="rect">
            <a:avLst/>
          </a:prstGeom>
          <a:solidFill>
            <a:srgbClr val="E5384B"/>
          </a:solidFill>
          <a:ln w="12700">
            <a:solidFill>
              <a:srgbClr val="E5384B"/>
            </a:solidFill>
            <a:prstDash val="solid"/>
          </a:ln>
        </p:spPr>
      </p:sp>
      <p:sp>
        <p:nvSpPr>
          <p:cNvPr id="15" name="Text 13"/>
          <p:cNvSpPr/>
          <p:nvPr/>
        </p:nvSpPr>
        <p:spPr>
          <a:xfrm>
            <a:off x="6858000" y="3090672"/>
            <a:ext cx="4480560" cy="457200"/>
          </a:xfrm>
          <a:prstGeom prst="rect">
            <a:avLst/>
          </a:prstGeom>
          <a:noFill/>
          <a:ln/>
        </p:spPr>
        <p:txBody>
          <a:bodyPr wrap="square" rtlCol="0" anchor="ctr"/>
          <a:lstStyle/>
          <a:p>
            <a:pPr indent="0" marL="0">
              <a:buNone/>
            </a:pPr>
            <a:r>
              <a:rPr lang="en-US" sz="1450" dirty="0">
                <a:solidFill>
                  <a:srgbClr val="141A2E"/>
                </a:solidFill>
                <a:latin typeface="Calibri" pitchFamily="34" charset="0"/>
                <a:ea typeface="Calibri" pitchFamily="34" charset="-122"/>
                <a:cs typeface="Calibri" pitchFamily="34" charset="-120"/>
              </a:rPr>
              <a:t>Files d'attente et perte de temps</a:t>
            </a:r>
            <a:endParaRPr lang="en-US" sz="1450" dirty="0"/>
          </a:p>
        </p:txBody>
      </p:sp>
      <p:sp>
        <p:nvSpPr>
          <p:cNvPr id="16" name="Shape 14"/>
          <p:cNvSpPr/>
          <p:nvPr/>
        </p:nvSpPr>
        <p:spPr>
          <a:xfrm>
            <a:off x="6537960" y="3785616"/>
            <a:ext cx="201168" cy="201168"/>
          </a:xfrm>
          <a:prstGeom prst="rect">
            <a:avLst/>
          </a:prstGeom>
          <a:solidFill>
            <a:srgbClr val="E5384B"/>
          </a:solidFill>
          <a:ln w="12700">
            <a:solidFill>
              <a:srgbClr val="E5384B"/>
            </a:solidFill>
            <a:prstDash val="solid"/>
          </a:ln>
        </p:spPr>
      </p:sp>
      <p:sp>
        <p:nvSpPr>
          <p:cNvPr id="17" name="Text 15"/>
          <p:cNvSpPr/>
          <p:nvPr/>
        </p:nvSpPr>
        <p:spPr>
          <a:xfrm>
            <a:off x="6858000" y="3712464"/>
            <a:ext cx="4480560" cy="457200"/>
          </a:xfrm>
          <a:prstGeom prst="rect">
            <a:avLst/>
          </a:prstGeom>
          <a:noFill/>
          <a:ln/>
        </p:spPr>
        <p:txBody>
          <a:bodyPr wrap="square" rtlCol="0" anchor="ctr"/>
          <a:lstStyle/>
          <a:p>
            <a:pPr indent="0" marL="0">
              <a:buNone/>
            </a:pPr>
            <a:r>
              <a:rPr lang="en-US" sz="1450" dirty="0">
                <a:solidFill>
                  <a:srgbClr val="141A2E"/>
                </a:solidFill>
                <a:latin typeface="Calibri" pitchFamily="34" charset="0"/>
                <a:ea typeface="Calibri" pitchFamily="34" charset="-122"/>
                <a:cs typeface="Calibri" pitchFamily="34" charset="-120"/>
              </a:rPr>
              <a:t>Charge de travail des agents</a:t>
            </a:r>
            <a:endParaRPr lang="en-US" sz="1450" dirty="0"/>
          </a:p>
        </p:txBody>
      </p:sp>
      <p:sp>
        <p:nvSpPr>
          <p:cNvPr id="18" name="Shape 16"/>
          <p:cNvSpPr/>
          <p:nvPr/>
        </p:nvSpPr>
        <p:spPr>
          <a:xfrm>
            <a:off x="6537960" y="4407408"/>
            <a:ext cx="201168" cy="201168"/>
          </a:xfrm>
          <a:prstGeom prst="rect">
            <a:avLst/>
          </a:prstGeom>
          <a:solidFill>
            <a:srgbClr val="E5384B"/>
          </a:solidFill>
          <a:ln w="12700">
            <a:solidFill>
              <a:srgbClr val="E5384B"/>
            </a:solidFill>
            <a:prstDash val="solid"/>
          </a:ln>
        </p:spPr>
      </p:sp>
      <p:sp>
        <p:nvSpPr>
          <p:cNvPr id="19" name="Text 17"/>
          <p:cNvSpPr/>
          <p:nvPr/>
        </p:nvSpPr>
        <p:spPr>
          <a:xfrm>
            <a:off x="6858000" y="4334256"/>
            <a:ext cx="4480560" cy="457200"/>
          </a:xfrm>
          <a:prstGeom prst="rect">
            <a:avLst/>
          </a:prstGeom>
          <a:noFill/>
          <a:ln/>
        </p:spPr>
        <p:txBody>
          <a:bodyPr wrap="square" rtlCol="0" anchor="ctr"/>
          <a:lstStyle/>
          <a:p>
            <a:pPr indent="0" marL="0">
              <a:buNone/>
            </a:pPr>
            <a:r>
              <a:rPr lang="en-US" sz="1450" dirty="0">
                <a:solidFill>
                  <a:srgbClr val="141A2E"/>
                </a:solidFill>
                <a:latin typeface="Calibri" pitchFamily="34" charset="0"/>
                <a:ea typeface="Calibri" pitchFamily="34" charset="-122"/>
                <a:cs typeface="Calibri" pitchFamily="34" charset="-120"/>
              </a:rPr>
              <a:t>Pas de suivi en temps réel</a:t>
            </a:r>
            <a:endParaRPr lang="en-US" sz="1450" dirty="0"/>
          </a:p>
        </p:txBody>
      </p:sp>
      <p:sp>
        <p:nvSpPr>
          <p:cNvPr id="20" name="Shape 18"/>
          <p:cNvSpPr/>
          <p:nvPr/>
        </p:nvSpPr>
        <p:spPr>
          <a:xfrm>
            <a:off x="6537960" y="5029200"/>
            <a:ext cx="201168" cy="201168"/>
          </a:xfrm>
          <a:prstGeom prst="rect">
            <a:avLst/>
          </a:prstGeom>
          <a:solidFill>
            <a:srgbClr val="E5384B"/>
          </a:solidFill>
          <a:ln w="12700">
            <a:solidFill>
              <a:srgbClr val="E5384B"/>
            </a:solidFill>
            <a:prstDash val="solid"/>
          </a:ln>
        </p:spPr>
      </p:sp>
      <p:sp>
        <p:nvSpPr>
          <p:cNvPr id="21" name="Text 19"/>
          <p:cNvSpPr/>
          <p:nvPr/>
        </p:nvSpPr>
        <p:spPr>
          <a:xfrm>
            <a:off x="6858000" y="4956048"/>
            <a:ext cx="4480560" cy="457200"/>
          </a:xfrm>
          <a:prstGeom prst="rect">
            <a:avLst/>
          </a:prstGeom>
          <a:noFill/>
          <a:ln/>
        </p:spPr>
        <p:txBody>
          <a:bodyPr wrap="square" rtlCol="0" anchor="ctr"/>
          <a:lstStyle/>
          <a:p>
            <a:pPr indent="0" marL="0">
              <a:buNone/>
            </a:pPr>
            <a:r>
              <a:rPr lang="en-US" sz="1450" dirty="0">
                <a:solidFill>
                  <a:srgbClr val="141A2E"/>
                </a:solidFill>
                <a:latin typeface="Calibri" pitchFamily="34" charset="0"/>
                <a:ea typeface="Calibri" pitchFamily="34" charset="-122"/>
                <a:cs typeface="Calibri" pitchFamily="34" charset="-120"/>
              </a:rPr>
              <a:t>Offre en ligne incomplète</a:t>
            </a:r>
            <a:endParaRPr lang="en-US" sz="1450" dirty="0"/>
          </a:p>
        </p:txBody>
      </p:sp>
      <p:sp>
        <p:nvSpPr>
          <p:cNvPr id="22" name="Text 20"/>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3" name="Text 21"/>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05 · SOLUTION PROPOSÉE</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La plateforme e-Boutique</a:t>
            </a:r>
            <a:endParaRPr lang="en-US" sz="3200" dirty="0"/>
          </a:p>
        </p:txBody>
      </p:sp>
      <p:sp>
        <p:nvSpPr>
          <p:cNvPr id="4" name="Shape 2"/>
          <p:cNvSpPr/>
          <p:nvPr/>
        </p:nvSpPr>
        <p:spPr>
          <a:xfrm>
            <a:off x="5029200" y="2788920"/>
            <a:ext cx="2103120" cy="1280160"/>
          </a:xfrm>
          <a:prstGeom prst="rect">
            <a:avLst/>
          </a:prstGeom>
          <a:solidFill>
            <a:srgbClr val="1B2D6B"/>
          </a:solidFill>
          <a:ln w="25400">
            <a:solidFill>
              <a:srgbClr val="F2C200"/>
            </a:solidFill>
            <a:prstDash val="solid"/>
          </a:ln>
          <a:effectLst>
            <a:outerShdw sx="100000" sy="100000" kx="0" ky="0" algn="bl" rotWithShape="0" blurRad="101600" dist="76200" dir="2700000">
              <a:srgbClr val="F2C200">
                <a:alpha val="100000"/>
              </a:srgbClr>
            </a:outerShdw>
          </a:effectLst>
        </p:spPr>
      </p:sp>
      <p:sp>
        <p:nvSpPr>
          <p:cNvPr id="5" name="Text 3"/>
          <p:cNvSpPr/>
          <p:nvPr/>
        </p:nvSpPr>
        <p:spPr>
          <a:xfrm>
            <a:off x="5029200" y="2788920"/>
            <a:ext cx="2103120" cy="8229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e-Boutique</a:t>
            </a:r>
            <a:endParaRPr lang="en-US" sz="1700" dirty="0"/>
          </a:p>
        </p:txBody>
      </p:sp>
      <p:sp>
        <p:nvSpPr>
          <p:cNvPr id="6" name="Text 4"/>
          <p:cNvSpPr/>
          <p:nvPr/>
        </p:nvSpPr>
        <p:spPr>
          <a:xfrm>
            <a:off x="5029200" y="3520440"/>
            <a:ext cx="210312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plateforme sécurisée</a:t>
            </a:r>
            <a:endParaRPr lang="en-US" sz="1000" dirty="0"/>
          </a:p>
        </p:txBody>
      </p:sp>
      <p:sp>
        <p:nvSpPr>
          <p:cNvPr id="7" name="Shape 5"/>
          <p:cNvSpPr/>
          <p:nvPr/>
        </p:nvSpPr>
        <p:spPr>
          <a:xfrm>
            <a:off x="822960" y="1691640"/>
            <a:ext cx="3108960" cy="141732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8" name="Text 6"/>
          <p:cNvSpPr/>
          <p:nvPr/>
        </p:nvSpPr>
        <p:spPr>
          <a:xfrm>
            <a:off x="1078992" y="1920240"/>
            <a:ext cx="2651760" cy="457200"/>
          </a:xfrm>
          <a:prstGeom prst="rect">
            <a:avLst/>
          </a:prstGeom>
          <a:noFill/>
          <a:ln/>
        </p:spPr>
        <p:txBody>
          <a:bodyPr wrap="square" rtlCol="0" anchor="ctr"/>
          <a:lstStyle/>
          <a:p>
            <a:pPr indent="0" marL="0">
              <a:buNone/>
            </a:pPr>
            <a:r>
              <a:rPr lang="en-US" sz="1600" b="1" dirty="0">
                <a:solidFill>
                  <a:srgbClr val="1B2D6B"/>
                </a:solidFill>
                <a:latin typeface="Cambria" pitchFamily="34" charset="0"/>
                <a:ea typeface="Cambria" pitchFamily="34" charset="-122"/>
                <a:cs typeface="Cambria" pitchFamily="34" charset="-120"/>
              </a:rPr>
              <a:t>Boutique &amp; Dépôt</a:t>
            </a:r>
            <a:endParaRPr lang="en-US" sz="1600" dirty="0"/>
          </a:p>
        </p:txBody>
      </p:sp>
      <p:sp>
        <p:nvSpPr>
          <p:cNvPr id="9" name="Text 7"/>
          <p:cNvSpPr/>
          <p:nvPr/>
        </p:nvSpPr>
        <p:spPr>
          <a:xfrm>
            <a:off x="1078992" y="2441448"/>
            <a:ext cx="2651760" cy="45720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Achat, colis, fleurs</a:t>
            </a:r>
            <a:endParaRPr lang="en-US" sz="1300" dirty="0"/>
          </a:p>
        </p:txBody>
      </p:sp>
      <p:sp>
        <p:nvSpPr>
          <p:cNvPr id="10" name="Shape 8"/>
          <p:cNvSpPr/>
          <p:nvPr/>
        </p:nvSpPr>
        <p:spPr>
          <a:xfrm>
            <a:off x="8229600" y="1691640"/>
            <a:ext cx="3108960" cy="141732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1" name="Text 9"/>
          <p:cNvSpPr/>
          <p:nvPr/>
        </p:nvSpPr>
        <p:spPr>
          <a:xfrm>
            <a:off x="8485632" y="1920240"/>
            <a:ext cx="2651760" cy="457200"/>
          </a:xfrm>
          <a:prstGeom prst="rect">
            <a:avLst/>
          </a:prstGeom>
          <a:noFill/>
          <a:ln/>
        </p:spPr>
        <p:txBody>
          <a:bodyPr wrap="square" rtlCol="0" anchor="ctr"/>
          <a:lstStyle/>
          <a:p>
            <a:pPr indent="0" marL="0">
              <a:buNone/>
            </a:pPr>
            <a:r>
              <a:rPr lang="en-US" sz="1600" b="1" dirty="0">
                <a:solidFill>
                  <a:srgbClr val="1B2D6B"/>
                </a:solidFill>
                <a:latin typeface="Cambria" pitchFamily="34" charset="0"/>
                <a:ea typeface="Cambria" pitchFamily="34" charset="-122"/>
                <a:cs typeface="Cambria" pitchFamily="34" charset="-120"/>
              </a:rPr>
              <a:t>Suivi de colis</a:t>
            </a:r>
            <a:endParaRPr lang="en-US" sz="1600" dirty="0"/>
          </a:p>
        </p:txBody>
      </p:sp>
      <p:sp>
        <p:nvSpPr>
          <p:cNvPr id="12" name="Text 10"/>
          <p:cNvSpPr/>
          <p:nvPr/>
        </p:nvSpPr>
        <p:spPr>
          <a:xfrm>
            <a:off x="8485632" y="2441448"/>
            <a:ext cx="2651760" cy="45720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Traçabilité en temps réel</a:t>
            </a:r>
            <a:endParaRPr lang="en-US" sz="1300" dirty="0"/>
          </a:p>
        </p:txBody>
      </p:sp>
      <p:sp>
        <p:nvSpPr>
          <p:cNvPr id="13" name="Shape 11"/>
          <p:cNvSpPr/>
          <p:nvPr/>
        </p:nvSpPr>
        <p:spPr>
          <a:xfrm>
            <a:off x="822960" y="4160520"/>
            <a:ext cx="3108960" cy="141732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4" name="Text 12"/>
          <p:cNvSpPr/>
          <p:nvPr/>
        </p:nvSpPr>
        <p:spPr>
          <a:xfrm>
            <a:off x="1078992" y="4389120"/>
            <a:ext cx="2651760" cy="457200"/>
          </a:xfrm>
          <a:prstGeom prst="rect">
            <a:avLst/>
          </a:prstGeom>
          <a:noFill/>
          <a:ln/>
        </p:spPr>
        <p:txBody>
          <a:bodyPr wrap="square" rtlCol="0" anchor="ctr"/>
          <a:lstStyle/>
          <a:p>
            <a:pPr indent="0" marL="0">
              <a:buNone/>
            </a:pPr>
            <a:r>
              <a:rPr lang="en-US" sz="1600" b="1" dirty="0">
                <a:solidFill>
                  <a:srgbClr val="1B2D6B"/>
                </a:solidFill>
                <a:latin typeface="Cambria" pitchFamily="34" charset="0"/>
                <a:ea typeface="Cambria" pitchFamily="34" charset="-122"/>
                <a:cs typeface="Cambria" pitchFamily="34" charset="-120"/>
              </a:rPr>
              <a:t>Paiement e-Dinar</a:t>
            </a:r>
            <a:endParaRPr lang="en-US" sz="1600" dirty="0"/>
          </a:p>
        </p:txBody>
      </p:sp>
      <p:sp>
        <p:nvSpPr>
          <p:cNvPr id="15" name="Text 13"/>
          <p:cNvSpPr/>
          <p:nvPr/>
        </p:nvSpPr>
        <p:spPr>
          <a:xfrm>
            <a:off x="1078992" y="4910328"/>
            <a:ext cx="2651760" cy="45720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Règlement en ligne</a:t>
            </a:r>
            <a:endParaRPr lang="en-US" sz="1300" dirty="0"/>
          </a:p>
        </p:txBody>
      </p:sp>
      <p:sp>
        <p:nvSpPr>
          <p:cNvPr id="16" name="Shape 14"/>
          <p:cNvSpPr/>
          <p:nvPr/>
        </p:nvSpPr>
        <p:spPr>
          <a:xfrm>
            <a:off x="8229600" y="4160520"/>
            <a:ext cx="3108960" cy="141732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7" name="Text 15"/>
          <p:cNvSpPr/>
          <p:nvPr/>
        </p:nvSpPr>
        <p:spPr>
          <a:xfrm>
            <a:off x="8485632" y="4389120"/>
            <a:ext cx="2651760" cy="457200"/>
          </a:xfrm>
          <a:prstGeom prst="rect">
            <a:avLst/>
          </a:prstGeom>
          <a:noFill/>
          <a:ln/>
        </p:spPr>
        <p:txBody>
          <a:bodyPr wrap="square" rtlCol="0" anchor="ctr"/>
          <a:lstStyle/>
          <a:p>
            <a:pPr indent="0" marL="0">
              <a:buNone/>
            </a:pPr>
            <a:r>
              <a:rPr lang="en-US" sz="1600" b="1" dirty="0">
                <a:solidFill>
                  <a:srgbClr val="1B2D6B"/>
                </a:solidFill>
                <a:latin typeface="Cambria" pitchFamily="34" charset="0"/>
                <a:ea typeface="Cambria" pitchFamily="34" charset="-122"/>
                <a:cs typeface="Cambria" pitchFamily="34" charset="-120"/>
              </a:rPr>
              <a:t>Sécurité</a:t>
            </a:r>
            <a:endParaRPr lang="en-US" sz="1600" dirty="0"/>
          </a:p>
        </p:txBody>
      </p:sp>
      <p:sp>
        <p:nvSpPr>
          <p:cNvPr id="18" name="Text 16"/>
          <p:cNvSpPr/>
          <p:nvPr/>
        </p:nvSpPr>
        <p:spPr>
          <a:xfrm>
            <a:off x="8485632" y="4910328"/>
            <a:ext cx="2651760" cy="457200"/>
          </a:xfrm>
          <a:prstGeom prst="rect">
            <a:avLst/>
          </a:prstGeom>
          <a:noFill/>
          <a:ln/>
        </p:spPr>
        <p:txBody>
          <a:bodyPr wrap="square" rtlCol="0" anchor="ctr"/>
          <a:lstStyle/>
          <a:p>
            <a:pPr indent="0" marL="0">
              <a:buNone/>
            </a:pPr>
            <a:r>
              <a:rPr lang="en-US" sz="1300" dirty="0">
                <a:solidFill>
                  <a:srgbClr val="56607D"/>
                </a:solidFill>
                <a:latin typeface="Calibri" pitchFamily="34" charset="0"/>
                <a:ea typeface="Calibri" pitchFamily="34" charset="-122"/>
                <a:cs typeface="Calibri" pitchFamily="34" charset="-120"/>
              </a:rPr>
              <a:t>Vérification e-mail &amp; 2FA</a:t>
            </a:r>
            <a:endParaRPr lang="en-US" sz="1300" dirty="0"/>
          </a:p>
        </p:txBody>
      </p:sp>
      <p:sp>
        <p:nvSpPr>
          <p:cNvPr id="19" name="Text 17"/>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0" name="Text 18"/>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06 · MÉTHODOLOGIE DE TRAVAIL</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Méthode agile Scrum</a:t>
            </a:r>
            <a:endParaRPr lang="en-US" sz="3200" dirty="0"/>
          </a:p>
        </p:txBody>
      </p:sp>
      <p:sp>
        <p:nvSpPr>
          <p:cNvPr id="4" name="Text 2"/>
          <p:cNvSpPr/>
          <p:nvPr/>
        </p:nvSpPr>
        <p:spPr>
          <a:xfrm>
            <a:off x="640080" y="1664208"/>
            <a:ext cx="10881360" cy="457200"/>
          </a:xfrm>
          <a:prstGeom prst="rect">
            <a:avLst/>
          </a:prstGeom>
          <a:noFill/>
          <a:ln/>
        </p:spPr>
        <p:txBody>
          <a:bodyPr wrap="square" rtlCol="0" anchor="ctr"/>
          <a:lstStyle/>
          <a:p>
            <a:pPr indent="0" marL="0">
              <a:lnSpc>
                <a:spcPct val="120000"/>
              </a:lnSpc>
              <a:buNone/>
            </a:pPr>
            <a:r>
              <a:rPr lang="en-US" sz="1500" dirty="0">
                <a:solidFill>
                  <a:srgbClr val="141A2E"/>
                </a:solidFill>
                <a:latin typeface="Calibri" pitchFamily="34" charset="0"/>
                <a:ea typeface="Calibri" pitchFamily="34" charset="-122"/>
                <a:cs typeface="Calibri" pitchFamily="34" charset="-120"/>
              </a:rPr>
              <a:t>Projet réalisé sur 6 mois, découpé en 8 sprints — chacun livrant une version fonctionnelle et testable.</a:t>
            </a:r>
            <a:endParaRPr lang="en-US" sz="1500" dirty="0"/>
          </a:p>
        </p:txBody>
      </p:sp>
      <p:sp>
        <p:nvSpPr>
          <p:cNvPr id="5" name="Shape 3"/>
          <p:cNvSpPr/>
          <p:nvPr/>
        </p:nvSpPr>
        <p:spPr>
          <a:xfrm>
            <a:off x="640080" y="24231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6" name="Shape 4"/>
          <p:cNvSpPr/>
          <p:nvPr/>
        </p:nvSpPr>
        <p:spPr>
          <a:xfrm>
            <a:off x="877824" y="2734056"/>
            <a:ext cx="566928" cy="566928"/>
          </a:xfrm>
          <a:prstGeom prst="ellipse">
            <a:avLst/>
          </a:prstGeom>
          <a:solidFill>
            <a:srgbClr val="F2C200"/>
          </a:solidFill>
          <a:ln w="25400">
            <a:solidFill>
              <a:srgbClr val="141A2E"/>
            </a:solidFill>
            <a:prstDash val="solid"/>
          </a:ln>
        </p:spPr>
      </p:sp>
      <p:sp>
        <p:nvSpPr>
          <p:cNvPr id="7" name="Text 5"/>
          <p:cNvSpPr/>
          <p:nvPr/>
        </p:nvSpPr>
        <p:spPr>
          <a:xfrm>
            <a:off x="877824" y="2734056"/>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S0</a:t>
            </a:r>
            <a:endParaRPr lang="en-US" sz="1500" dirty="0"/>
          </a:p>
        </p:txBody>
      </p:sp>
      <p:sp>
        <p:nvSpPr>
          <p:cNvPr id="8" name="Text 6"/>
          <p:cNvSpPr/>
          <p:nvPr/>
        </p:nvSpPr>
        <p:spPr>
          <a:xfrm>
            <a:off x="1554480" y="26609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Conception</a:t>
            </a:r>
            <a:endParaRPr lang="en-US" sz="1250" dirty="0"/>
          </a:p>
        </p:txBody>
      </p:sp>
      <p:sp>
        <p:nvSpPr>
          <p:cNvPr id="9" name="Text 7"/>
          <p:cNvSpPr/>
          <p:nvPr/>
        </p:nvSpPr>
        <p:spPr>
          <a:xfrm>
            <a:off x="1554480" y="31729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10" name="Shape 8"/>
          <p:cNvSpPr/>
          <p:nvPr/>
        </p:nvSpPr>
        <p:spPr>
          <a:xfrm>
            <a:off x="3429000" y="24231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1" name="Shape 9"/>
          <p:cNvSpPr/>
          <p:nvPr/>
        </p:nvSpPr>
        <p:spPr>
          <a:xfrm>
            <a:off x="3666744" y="2734056"/>
            <a:ext cx="566928" cy="566928"/>
          </a:xfrm>
          <a:prstGeom prst="ellipse">
            <a:avLst/>
          </a:prstGeom>
          <a:solidFill>
            <a:srgbClr val="1B2D6B"/>
          </a:solidFill>
          <a:ln w="25400">
            <a:solidFill>
              <a:srgbClr val="141A2E"/>
            </a:solidFill>
            <a:prstDash val="solid"/>
          </a:ln>
        </p:spPr>
      </p:sp>
      <p:sp>
        <p:nvSpPr>
          <p:cNvPr id="12" name="Text 10"/>
          <p:cNvSpPr/>
          <p:nvPr/>
        </p:nvSpPr>
        <p:spPr>
          <a:xfrm>
            <a:off x="3666744" y="2734056"/>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S1</a:t>
            </a:r>
            <a:endParaRPr lang="en-US" sz="1500" dirty="0"/>
          </a:p>
        </p:txBody>
      </p:sp>
      <p:sp>
        <p:nvSpPr>
          <p:cNvPr id="13" name="Text 11"/>
          <p:cNvSpPr/>
          <p:nvPr/>
        </p:nvSpPr>
        <p:spPr>
          <a:xfrm>
            <a:off x="4343400" y="26609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Authentification</a:t>
            </a:r>
            <a:endParaRPr lang="en-US" sz="1250" dirty="0"/>
          </a:p>
        </p:txBody>
      </p:sp>
      <p:sp>
        <p:nvSpPr>
          <p:cNvPr id="14" name="Text 12"/>
          <p:cNvSpPr/>
          <p:nvPr/>
        </p:nvSpPr>
        <p:spPr>
          <a:xfrm>
            <a:off x="4343400" y="31729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15" name="Shape 13"/>
          <p:cNvSpPr/>
          <p:nvPr/>
        </p:nvSpPr>
        <p:spPr>
          <a:xfrm>
            <a:off x="6217920" y="24231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6" name="Shape 14"/>
          <p:cNvSpPr/>
          <p:nvPr/>
        </p:nvSpPr>
        <p:spPr>
          <a:xfrm>
            <a:off x="6455664" y="2734056"/>
            <a:ext cx="566928" cy="566928"/>
          </a:xfrm>
          <a:prstGeom prst="ellipse">
            <a:avLst/>
          </a:prstGeom>
          <a:solidFill>
            <a:srgbClr val="F2C200"/>
          </a:solidFill>
          <a:ln w="25400">
            <a:solidFill>
              <a:srgbClr val="141A2E"/>
            </a:solidFill>
            <a:prstDash val="solid"/>
          </a:ln>
        </p:spPr>
      </p:sp>
      <p:sp>
        <p:nvSpPr>
          <p:cNvPr id="17" name="Text 15"/>
          <p:cNvSpPr/>
          <p:nvPr/>
        </p:nvSpPr>
        <p:spPr>
          <a:xfrm>
            <a:off x="6455664" y="2734056"/>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S2</a:t>
            </a:r>
            <a:endParaRPr lang="en-US" sz="1500" dirty="0"/>
          </a:p>
        </p:txBody>
      </p:sp>
      <p:sp>
        <p:nvSpPr>
          <p:cNvPr id="18" name="Text 16"/>
          <p:cNvSpPr/>
          <p:nvPr/>
        </p:nvSpPr>
        <p:spPr>
          <a:xfrm>
            <a:off x="7132320" y="26609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Boutique</a:t>
            </a:r>
            <a:endParaRPr lang="en-US" sz="1250" dirty="0"/>
          </a:p>
        </p:txBody>
      </p:sp>
      <p:sp>
        <p:nvSpPr>
          <p:cNvPr id="19" name="Text 17"/>
          <p:cNvSpPr/>
          <p:nvPr/>
        </p:nvSpPr>
        <p:spPr>
          <a:xfrm>
            <a:off x="7132320" y="31729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20" name="Shape 18"/>
          <p:cNvSpPr/>
          <p:nvPr/>
        </p:nvSpPr>
        <p:spPr>
          <a:xfrm>
            <a:off x="9006840" y="24231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21" name="Shape 19"/>
          <p:cNvSpPr/>
          <p:nvPr/>
        </p:nvSpPr>
        <p:spPr>
          <a:xfrm>
            <a:off x="9244584" y="2734056"/>
            <a:ext cx="566928" cy="566928"/>
          </a:xfrm>
          <a:prstGeom prst="ellipse">
            <a:avLst/>
          </a:prstGeom>
          <a:solidFill>
            <a:srgbClr val="1B2D6B"/>
          </a:solidFill>
          <a:ln w="25400">
            <a:solidFill>
              <a:srgbClr val="141A2E"/>
            </a:solidFill>
            <a:prstDash val="solid"/>
          </a:ln>
        </p:spPr>
      </p:sp>
      <p:sp>
        <p:nvSpPr>
          <p:cNvPr id="22" name="Text 20"/>
          <p:cNvSpPr/>
          <p:nvPr/>
        </p:nvSpPr>
        <p:spPr>
          <a:xfrm>
            <a:off x="9244584" y="2734056"/>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S3</a:t>
            </a:r>
            <a:endParaRPr lang="en-US" sz="1500" dirty="0"/>
          </a:p>
        </p:txBody>
      </p:sp>
      <p:sp>
        <p:nvSpPr>
          <p:cNvPr id="23" name="Text 21"/>
          <p:cNvSpPr/>
          <p:nvPr/>
        </p:nvSpPr>
        <p:spPr>
          <a:xfrm>
            <a:off x="9921240" y="26609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Dépôt &amp; suivi</a:t>
            </a:r>
            <a:endParaRPr lang="en-US" sz="1250" dirty="0"/>
          </a:p>
        </p:txBody>
      </p:sp>
      <p:sp>
        <p:nvSpPr>
          <p:cNvPr id="24" name="Text 22"/>
          <p:cNvSpPr/>
          <p:nvPr/>
        </p:nvSpPr>
        <p:spPr>
          <a:xfrm>
            <a:off x="9921240" y="31729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25" name="Shape 23"/>
          <p:cNvSpPr/>
          <p:nvPr/>
        </p:nvSpPr>
        <p:spPr>
          <a:xfrm>
            <a:off x="640080" y="40233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26" name="Shape 24"/>
          <p:cNvSpPr/>
          <p:nvPr/>
        </p:nvSpPr>
        <p:spPr>
          <a:xfrm>
            <a:off x="877824" y="4334256"/>
            <a:ext cx="566928" cy="566928"/>
          </a:xfrm>
          <a:prstGeom prst="ellipse">
            <a:avLst/>
          </a:prstGeom>
          <a:solidFill>
            <a:srgbClr val="F2C200"/>
          </a:solidFill>
          <a:ln w="25400">
            <a:solidFill>
              <a:srgbClr val="141A2E"/>
            </a:solidFill>
            <a:prstDash val="solid"/>
          </a:ln>
        </p:spPr>
      </p:sp>
      <p:sp>
        <p:nvSpPr>
          <p:cNvPr id="27" name="Text 25"/>
          <p:cNvSpPr/>
          <p:nvPr/>
        </p:nvSpPr>
        <p:spPr>
          <a:xfrm>
            <a:off x="877824" y="4334256"/>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S4</a:t>
            </a:r>
            <a:endParaRPr lang="en-US" sz="1500" dirty="0"/>
          </a:p>
        </p:txBody>
      </p:sp>
      <p:sp>
        <p:nvSpPr>
          <p:cNvPr id="28" name="Text 26"/>
          <p:cNvSpPr/>
          <p:nvPr/>
        </p:nvSpPr>
        <p:spPr>
          <a:xfrm>
            <a:off x="1554480" y="42611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Paiement</a:t>
            </a:r>
            <a:endParaRPr lang="en-US" sz="1250" dirty="0"/>
          </a:p>
        </p:txBody>
      </p:sp>
      <p:sp>
        <p:nvSpPr>
          <p:cNvPr id="29" name="Text 27"/>
          <p:cNvSpPr/>
          <p:nvPr/>
        </p:nvSpPr>
        <p:spPr>
          <a:xfrm>
            <a:off x="1554480" y="47731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2 sem.</a:t>
            </a:r>
            <a:endParaRPr lang="en-US" sz="1100" dirty="0"/>
          </a:p>
        </p:txBody>
      </p:sp>
      <p:sp>
        <p:nvSpPr>
          <p:cNvPr id="30" name="Shape 28"/>
          <p:cNvSpPr/>
          <p:nvPr/>
        </p:nvSpPr>
        <p:spPr>
          <a:xfrm>
            <a:off x="3429000" y="40233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31" name="Shape 29"/>
          <p:cNvSpPr/>
          <p:nvPr/>
        </p:nvSpPr>
        <p:spPr>
          <a:xfrm>
            <a:off x="3666744" y="4334256"/>
            <a:ext cx="566928" cy="566928"/>
          </a:xfrm>
          <a:prstGeom prst="ellipse">
            <a:avLst/>
          </a:prstGeom>
          <a:solidFill>
            <a:srgbClr val="1B2D6B"/>
          </a:solidFill>
          <a:ln w="25400">
            <a:solidFill>
              <a:srgbClr val="141A2E"/>
            </a:solidFill>
            <a:prstDash val="solid"/>
          </a:ln>
        </p:spPr>
      </p:sp>
      <p:sp>
        <p:nvSpPr>
          <p:cNvPr id="32" name="Text 30"/>
          <p:cNvSpPr/>
          <p:nvPr/>
        </p:nvSpPr>
        <p:spPr>
          <a:xfrm>
            <a:off x="3666744" y="4334256"/>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S5</a:t>
            </a:r>
            <a:endParaRPr lang="en-US" sz="1500" dirty="0"/>
          </a:p>
        </p:txBody>
      </p:sp>
      <p:sp>
        <p:nvSpPr>
          <p:cNvPr id="33" name="Text 31"/>
          <p:cNvSpPr/>
          <p:nvPr/>
        </p:nvSpPr>
        <p:spPr>
          <a:xfrm>
            <a:off x="4343400" y="42611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Espace pro &amp; chat</a:t>
            </a:r>
            <a:endParaRPr lang="en-US" sz="1250" dirty="0"/>
          </a:p>
        </p:txBody>
      </p:sp>
      <p:sp>
        <p:nvSpPr>
          <p:cNvPr id="34" name="Text 32"/>
          <p:cNvSpPr/>
          <p:nvPr/>
        </p:nvSpPr>
        <p:spPr>
          <a:xfrm>
            <a:off x="4343400" y="47731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35" name="Shape 33"/>
          <p:cNvSpPr/>
          <p:nvPr/>
        </p:nvSpPr>
        <p:spPr>
          <a:xfrm>
            <a:off x="6217920" y="40233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36" name="Shape 34"/>
          <p:cNvSpPr/>
          <p:nvPr/>
        </p:nvSpPr>
        <p:spPr>
          <a:xfrm>
            <a:off x="6455664" y="4334256"/>
            <a:ext cx="566928" cy="566928"/>
          </a:xfrm>
          <a:prstGeom prst="ellipse">
            <a:avLst/>
          </a:prstGeom>
          <a:solidFill>
            <a:srgbClr val="F2C200"/>
          </a:solidFill>
          <a:ln w="25400">
            <a:solidFill>
              <a:srgbClr val="141A2E"/>
            </a:solidFill>
            <a:prstDash val="solid"/>
          </a:ln>
        </p:spPr>
      </p:sp>
      <p:sp>
        <p:nvSpPr>
          <p:cNvPr id="37" name="Text 35"/>
          <p:cNvSpPr/>
          <p:nvPr/>
        </p:nvSpPr>
        <p:spPr>
          <a:xfrm>
            <a:off x="6455664" y="4334256"/>
            <a:ext cx="566928" cy="566928"/>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S6</a:t>
            </a:r>
            <a:endParaRPr lang="en-US" sz="1500" dirty="0"/>
          </a:p>
        </p:txBody>
      </p:sp>
      <p:sp>
        <p:nvSpPr>
          <p:cNvPr id="38" name="Text 36"/>
          <p:cNvSpPr/>
          <p:nvPr/>
        </p:nvSpPr>
        <p:spPr>
          <a:xfrm>
            <a:off x="7132320" y="42611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Sécurité (2FA)</a:t>
            </a:r>
            <a:endParaRPr lang="en-US" sz="1250" dirty="0"/>
          </a:p>
        </p:txBody>
      </p:sp>
      <p:sp>
        <p:nvSpPr>
          <p:cNvPr id="39" name="Text 37"/>
          <p:cNvSpPr/>
          <p:nvPr/>
        </p:nvSpPr>
        <p:spPr>
          <a:xfrm>
            <a:off x="7132320" y="47731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3 sem.</a:t>
            </a:r>
            <a:endParaRPr lang="en-US" sz="1100" dirty="0"/>
          </a:p>
        </p:txBody>
      </p:sp>
      <p:sp>
        <p:nvSpPr>
          <p:cNvPr id="40" name="Shape 38"/>
          <p:cNvSpPr/>
          <p:nvPr/>
        </p:nvSpPr>
        <p:spPr>
          <a:xfrm>
            <a:off x="9006840" y="4023360"/>
            <a:ext cx="2514600" cy="13716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41" name="Shape 39"/>
          <p:cNvSpPr/>
          <p:nvPr/>
        </p:nvSpPr>
        <p:spPr>
          <a:xfrm>
            <a:off x="9244584" y="4334256"/>
            <a:ext cx="566928" cy="566928"/>
          </a:xfrm>
          <a:prstGeom prst="ellipse">
            <a:avLst/>
          </a:prstGeom>
          <a:solidFill>
            <a:srgbClr val="1B2D6B"/>
          </a:solidFill>
          <a:ln w="25400">
            <a:solidFill>
              <a:srgbClr val="141A2E"/>
            </a:solidFill>
            <a:prstDash val="solid"/>
          </a:ln>
        </p:spPr>
      </p:sp>
      <p:sp>
        <p:nvSpPr>
          <p:cNvPr id="42" name="Text 40"/>
          <p:cNvSpPr/>
          <p:nvPr/>
        </p:nvSpPr>
        <p:spPr>
          <a:xfrm>
            <a:off x="9244584" y="4334256"/>
            <a:ext cx="566928" cy="56692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S7</a:t>
            </a:r>
            <a:endParaRPr lang="en-US" sz="1500" dirty="0"/>
          </a:p>
        </p:txBody>
      </p:sp>
      <p:sp>
        <p:nvSpPr>
          <p:cNvPr id="43" name="Text 41"/>
          <p:cNvSpPr/>
          <p:nvPr/>
        </p:nvSpPr>
        <p:spPr>
          <a:xfrm>
            <a:off x="9921240" y="4261104"/>
            <a:ext cx="1508760" cy="502920"/>
          </a:xfrm>
          <a:prstGeom prst="rect">
            <a:avLst/>
          </a:prstGeom>
          <a:noFill/>
          <a:ln/>
        </p:spPr>
        <p:txBody>
          <a:bodyPr wrap="square"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Notifs &amp; frais</a:t>
            </a:r>
            <a:endParaRPr lang="en-US" sz="1250" dirty="0"/>
          </a:p>
        </p:txBody>
      </p:sp>
      <p:sp>
        <p:nvSpPr>
          <p:cNvPr id="44" name="Text 42"/>
          <p:cNvSpPr/>
          <p:nvPr/>
        </p:nvSpPr>
        <p:spPr>
          <a:xfrm>
            <a:off x="9921240" y="4773168"/>
            <a:ext cx="1508760" cy="320040"/>
          </a:xfrm>
          <a:prstGeom prst="rect">
            <a:avLst/>
          </a:prstGeom>
          <a:noFill/>
          <a:ln/>
        </p:spPr>
        <p:txBody>
          <a:bodyPr wrap="square" rtlCol="0" anchor="ctr"/>
          <a:lstStyle/>
          <a:p>
            <a:pPr indent="0" marL="0">
              <a:buNone/>
            </a:pPr>
            <a:r>
              <a:rPr lang="en-US" sz="1100" dirty="0">
                <a:solidFill>
                  <a:srgbClr val="56607D"/>
                </a:solidFill>
                <a:latin typeface="Calibri" pitchFamily="34" charset="0"/>
                <a:ea typeface="Calibri" pitchFamily="34" charset="-122"/>
                <a:cs typeface="Calibri" pitchFamily="34" charset="-120"/>
              </a:rPr>
              <a:t>2 sem.</a:t>
            </a:r>
            <a:endParaRPr lang="en-US" sz="1100" dirty="0"/>
          </a:p>
        </p:txBody>
      </p:sp>
      <p:sp>
        <p:nvSpPr>
          <p:cNvPr id="45" name="Text 43"/>
          <p:cNvSpPr/>
          <p:nvPr/>
        </p:nvSpPr>
        <p:spPr>
          <a:xfrm>
            <a:off x="640080" y="5806440"/>
            <a:ext cx="10881360" cy="320040"/>
          </a:xfrm>
          <a:prstGeom prst="rect">
            <a:avLst/>
          </a:prstGeom>
          <a:noFill/>
          <a:ln/>
        </p:spPr>
        <p:txBody>
          <a:bodyPr wrap="square" rtlCol="0" anchor="ctr"/>
          <a:lstStyle/>
          <a:p>
            <a:pPr algn="ctr" indent="0" marL="0">
              <a:buNone/>
            </a:pPr>
            <a:r>
              <a:rPr lang="en-US" sz="1200" i="1" dirty="0">
                <a:solidFill>
                  <a:srgbClr val="2C44A0"/>
                </a:solidFill>
                <a:latin typeface="Calibri" pitchFamily="34" charset="0"/>
                <a:ea typeface="Calibri" pitchFamily="34" charset="-122"/>
                <a:cs typeface="Calibri" pitchFamily="34" charset="-120"/>
              </a:rPr>
              <a:t>Février → Juillet 2026</a:t>
            </a:r>
            <a:endParaRPr lang="en-US" sz="1200" dirty="0"/>
          </a:p>
        </p:txBody>
      </p:sp>
      <p:sp>
        <p:nvSpPr>
          <p:cNvPr id="46" name="Text 4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47" name="Text 45"/>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06 · MÉTHODOLOGIE DE TRAVAIL</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Pourquoi la méthode agile ?</a:t>
            </a:r>
            <a:endParaRPr lang="en-US" sz="3200" dirty="0"/>
          </a:p>
        </p:txBody>
      </p:sp>
      <p:sp>
        <p:nvSpPr>
          <p:cNvPr id="4" name="Shape 2"/>
          <p:cNvSpPr/>
          <p:nvPr/>
        </p:nvSpPr>
        <p:spPr>
          <a:xfrm>
            <a:off x="640080" y="1828800"/>
            <a:ext cx="53492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5" name="Shape 3"/>
          <p:cNvSpPr/>
          <p:nvPr/>
        </p:nvSpPr>
        <p:spPr>
          <a:xfrm>
            <a:off x="932688" y="2331720"/>
            <a:ext cx="685800" cy="685800"/>
          </a:xfrm>
          <a:prstGeom prst="ellipse">
            <a:avLst/>
          </a:prstGeom>
          <a:solidFill>
            <a:srgbClr val="F2C200"/>
          </a:solidFill>
          <a:ln w="25400">
            <a:solidFill>
              <a:srgbClr val="141A2E"/>
            </a:solidFill>
            <a:prstDash val="solid"/>
          </a:ln>
        </p:spPr>
      </p:sp>
      <p:sp>
        <p:nvSpPr>
          <p:cNvPr id="6" name="Text 4"/>
          <p:cNvSpPr/>
          <p:nvPr/>
        </p:nvSpPr>
        <p:spPr>
          <a:xfrm>
            <a:off x="932688" y="233172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828800" y="2084832"/>
            <a:ext cx="3931920" cy="45720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Flexibilité</a:t>
            </a:r>
            <a:endParaRPr lang="en-US" sz="1700" dirty="0"/>
          </a:p>
        </p:txBody>
      </p:sp>
      <p:sp>
        <p:nvSpPr>
          <p:cNvPr id="8" name="Text 6"/>
          <p:cNvSpPr/>
          <p:nvPr/>
        </p:nvSpPr>
        <p:spPr>
          <a:xfrm>
            <a:off x="1828800" y="2578608"/>
            <a:ext cx="3977640" cy="822960"/>
          </a:xfrm>
          <a:prstGeom prst="rect">
            <a:avLst/>
          </a:prstGeom>
          <a:noFill/>
          <a:ln/>
        </p:spPr>
        <p:txBody>
          <a:bodyPr wrap="square" rtlCol="0" anchor="ctr"/>
          <a:lstStyle/>
          <a:p>
            <a:pPr indent="0" marL="0">
              <a:lnSpc>
                <a:spcPct val="120000"/>
              </a:lnSpc>
              <a:buNone/>
            </a:pPr>
            <a:r>
              <a:rPr lang="en-US" sz="1300" dirty="0">
                <a:solidFill>
                  <a:srgbClr val="56607D"/>
                </a:solidFill>
                <a:latin typeface="Calibri" pitchFamily="34" charset="0"/>
                <a:ea typeface="Calibri" pitchFamily="34" charset="-122"/>
                <a:cs typeface="Calibri" pitchFamily="34" charset="-120"/>
              </a:rPr>
              <a:t>Adapter les besoins et intégrer de nouvelles fonctionnalités en cours de route.</a:t>
            </a:r>
            <a:endParaRPr lang="en-US" sz="1300" dirty="0"/>
          </a:p>
        </p:txBody>
      </p:sp>
      <p:sp>
        <p:nvSpPr>
          <p:cNvPr id="9" name="Shape 7"/>
          <p:cNvSpPr/>
          <p:nvPr/>
        </p:nvSpPr>
        <p:spPr>
          <a:xfrm>
            <a:off x="6263640" y="1828800"/>
            <a:ext cx="53492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0" name="Shape 8"/>
          <p:cNvSpPr/>
          <p:nvPr/>
        </p:nvSpPr>
        <p:spPr>
          <a:xfrm>
            <a:off x="6556248" y="2331720"/>
            <a:ext cx="685800" cy="685800"/>
          </a:xfrm>
          <a:prstGeom prst="ellipse">
            <a:avLst/>
          </a:prstGeom>
          <a:solidFill>
            <a:srgbClr val="F2C200"/>
          </a:solidFill>
          <a:ln w="25400">
            <a:solidFill>
              <a:srgbClr val="141A2E"/>
            </a:solidFill>
            <a:prstDash val="solid"/>
          </a:ln>
        </p:spPr>
      </p:sp>
      <p:sp>
        <p:nvSpPr>
          <p:cNvPr id="11" name="Text 9"/>
          <p:cNvSpPr/>
          <p:nvPr/>
        </p:nvSpPr>
        <p:spPr>
          <a:xfrm>
            <a:off x="6556248" y="233172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452360" y="2084832"/>
            <a:ext cx="3931920" cy="45720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Livraisons régulières</a:t>
            </a:r>
            <a:endParaRPr lang="en-US" sz="1700" dirty="0"/>
          </a:p>
        </p:txBody>
      </p:sp>
      <p:sp>
        <p:nvSpPr>
          <p:cNvPr id="13" name="Text 11"/>
          <p:cNvSpPr/>
          <p:nvPr/>
        </p:nvSpPr>
        <p:spPr>
          <a:xfrm>
            <a:off x="7452360" y="2578608"/>
            <a:ext cx="3977640" cy="822960"/>
          </a:xfrm>
          <a:prstGeom prst="rect">
            <a:avLst/>
          </a:prstGeom>
          <a:noFill/>
          <a:ln/>
        </p:spPr>
        <p:txBody>
          <a:bodyPr wrap="square" rtlCol="0" anchor="ctr"/>
          <a:lstStyle/>
          <a:p>
            <a:pPr indent="0" marL="0">
              <a:lnSpc>
                <a:spcPct val="120000"/>
              </a:lnSpc>
              <a:buNone/>
            </a:pPr>
            <a:r>
              <a:rPr lang="en-US" sz="1300" dirty="0">
                <a:solidFill>
                  <a:srgbClr val="56607D"/>
                </a:solidFill>
                <a:latin typeface="Calibri" pitchFamily="34" charset="0"/>
                <a:ea typeface="Calibri" pitchFamily="34" charset="-122"/>
                <a:cs typeface="Calibri" pitchFamily="34" charset="-120"/>
              </a:rPr>
              <a:t>Une version fonctionnelle et testable à la fin de chaque sprint.</a:t>
            </a:r>
            <a:endParaRPr lang="en-US" sz="1300" dirty="0"/>
          </a:p>
        </p:txBody>
      </p:sp>
      <p:sp>
        <p:nvSpPr>
          <p:cNvPr id="14" name="Shape 12"/>
          <p:cNvSpPr/>
          <p:nvPr/>
        </p:nvSpPr>
        <p:spPr>
          <a:xfrm>
            <a:off x="640080" y="3794760"/>
            <a:ext cx="53492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5" name="Shape 13"/>
          <p:cNvSpPr/>
          <p:nvPr/>
        </p:nvSpPr>
        <p:spPr>
          <a:xfrm>
            <a:off x="932688" y="4297680"/>
            <a:ext cx="685800" cy="685800"/>
          </a:xfrm>
          <a:prstGeom prst="ellipse">
            <a:avLst/>
          </a:prstGeom>
          <a:solidFill>
            <a:srgbClr val="F2C200"/>
          </a:solidFill>
          <a:ln w="25400">
            <a:solidFill>
              <a:srgbClr val="141A2E"/>
            </a:solidFill>
            <a:prstDash val="solid"/>
          </a:ln>
        </p:spPr>
      </p:sp>
      <p:sp>
        <p:nvSpPr>
          <p:cNvPr id="16" name="Text 14"/>
          <p:cNvSpPr/>
          <p:nvPr/>
        </p:nvSpPr>
        <p:spPr>
          <a:xfrm>
            <a:off x="932688" y="429768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828800" y="4050792"/>
            <a:ext cx="3931920" cy="45720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Suivi continu</a:t>
            </a:r>
            <a:endParaRPr lang="en-US" sz="1700" dirty="0"/>
          </a:p>
        </p:txBody>
      </p:sp>
      <p:sp>
        <p:nvSpPr>
          <p:cNvPr id="18" name="Text 16"/>
          <p:cNvSpPr/>
          <p:nvPr/>
        </p:nvSpPr>
        <p:spPr>
          <a:xfrm>
            <a:off x="1828800" y="4544568"/>
            <a:ext cx="3977640" cy="822960"/>
          </a:xfrm>
          <a:prstGeom prst="rect">
            <a:avLst/>
          </a:prstGeom>
          <a:noFill/>
          <a:ln/>
        </p:spPr>
        <p:txBody>
          <a:bodyPr wrap="square" rtlCol="0" anchor="ctr"/>
          <a:lstStyle/>
          <a:p>
            <a:pPr indent="0" marL="0">
              <a:lnSpc>
                <a:spcPct val="120000"/>
              </a:lnSpc>
              <a:buNone/>
            </a:pPr>
            <a:r>
              <a:rPr lang="en-US" sz="1300" dirty="0">
                <a:solidFill>
                  <a:srgbClr val="56607D"/>
                </a:solidFill>
                <a:latin typeface="Calibri" pitchFamily="34" charset="0"/>
                <a:ea typeface="Calibri" pitchFamily="34" charset="-122"/>
                <a:cs typeface="Calibri" pitchFamily="34" charset="-120"/>
              </a:rPr>
              <a:t>Progression visible et validée régulièrement avec l'encadrant.</a:t>
            </a:r>
            <a:endParaRPr lang="en-US" sz="1300" dirty="0"/>
          </a:p>
        </p:txBody>
      </p:sp>
      <p:sp>
        <p:nvSpPr>
          <p:cNvPr id="19" name="Shape 17"/>
          <p:cNvSpPr/>
          <p:nvPr/>
        </p:nvSpPr>
        <p:spPr>
          <a:xfrm>
            <a:off x="6263640" y="3794760"/>
            <a:ext cx="53492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20" name="Shape 18"/>
          <p:cNvSpPr/>
          <p:nvPr/>
        </p:nvSpPr>
        <p:spPr>
          <a:xfrm>
            <a:off x="6556248" y="4297680"/>
            <a:ext cx="685800" cy="685800"/>
          </a:xfrm>
          <a:prstGeom prst="ellipse">
            <a:avLst/>
          </a:prstGeom>
          <a:solidFill>
            <a:srgbClr val="F2C200"/>
          </a:solidFill>
          <a:ln w="25400">
            <a:solidFill>
              <a:srgbClr val="141A2E"/>
            </a:solidFill>
            <a:prstDash val="solid"/>
          </a:ln>
        </p:spPr>
      </p:sp>
      <p:sp>
        <p:nvSpPr>
          <p:cNvPr id="21" name="Text 19"/>
          <p:cNvSpPr/>
          <p:nvPr/>
        </p:nvSpPr>
        <p:spPr>
          <a:xfrm>
            <a:off x="6556248" y="4297680"/>
            <a:ext cx="685800" cy="685800"/>
          </a:xfrm>
          <a:prstGeom prst="rect">
            <a:avLst/>
          </a:prstGeom>
          <a:noFill/>
          <a:ln/>
        </p:spPr>
        <p:txBody>
          <a:bodyPr wrap="square" rtlCol="0" anchor="ctr"/>
          <a:lstStyle/>
          <a:p>
            <a:pPr algn="ctr" indent="0" marL="0">
              <a:buNone/>
            </a:pPr>
            <a:r>
              <a:rPr lang="en-US" sz="1500" b="1" dirty="0">
                <a:solidFill>
                  <a:srgbClr val="1B2D6B"/>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452360" y="4050792"/>
            <a:ext cx="3931920" cy="457200"/>
          </a:xfrm>
          <a:prstGeom prst="rect">
            <a:avLst/>
          </a:prstGeom>
          <a:noFill/>
          <a:ln/>
        </p:spPr>
        <p:txBody>
          <a:bodyPr wrap="square" rtlCol="0" anchor="ctr"/>
          <a:lstStyle/>
          <a:p>
            <a:pPr indent="0" marL="0">
              <a:buNone/>
            </a:pPr>
            <a:r>
              <a:rPr lang="en-US" sz="1700" b="1" dirty="0">
                <a:solidFill>
                  <a:srgbClr val="1B2D6B"/>
                </a:solidFill>
                <a:latin typeface="Cambria" pitchFamily="34" charset="0"/>
                <a:ea typeface="Cambria" pitchFamily="34" charset="-122"/>
                <a:cs typeface="Cambria" pitchFamily="34" charset="-120"/>
              </a:rPr>
              <a:t>Adapté au PFE</a:t>
            </a:r>
            <a:endParaRPr lang="en-US" sz="1700" dirty="0"/>
          </a:p>
        </p:txBody>
      </p:sp>
      <p:sp>
        <p:nvSpPr>
          <p:cNvPr id="23" name="Text 21"/>
          <p:cNvSpPr/>
          <p:nvPr/>
        </p:nvSpPr>
        <p:spPr>
          <a:xfrm>
            <a:off x="7452360" y="4544568"/>
            <a:ext cx="3977640" cy="822960"/>
          </a:xfrm>
          <a:prstGeom prst="rect">
            <a:avLst/>
          </a:prstGeom>
          <a:noFill/>
          <a:ln/>
        </p:spPr>
        <p:txBody>
          <a:bodyPr wrap="square" rtlCol="0" anchor="ctr"/>
          <a:lstStyle/>
          <a:p>
            <a:pPr indent="0" marL="0">
              <a:lnSpc>
                <a:spcPct val="120000"/>
              </a:lnSpc>
              <a:buNone/>
            </a:pPr>
            <a:r>
              <a:rPr lang="en-US" sz="1300" dirty="0">
                <a:solidFill>
                  <a:srgbClr val="56607D"/>
                </a:solidFill>
                <a:latin typeface="Calibri" pitchFamily="34" charset="0"/>
                <a:ea typeface="Calibri" pitchFamily="34" charset="-122"/>
                <a:cs typeface="Calibri" pitchFamily="34" charset="-120"/>
              </a:rPr>
              <a:t>Projet évolutif, mené progressivement, sans tout planifier au départ.</a:t>
            </a:r>
            <a:endParaRPr lang="en-US" sz="1300" dirty="0"/>
          </a:p>
        </p:txBody>
      </p:sp>
      <p:sp>
        <p:nvSpPr>
          <p:cNvPr id="24" name="Text 2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5" name="Text 23"/>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06 · MÉTHODOLOGIE DE TRAVAIL</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Comparaison des méthodes</a:t>
            </a:r>
            <a:endParaRPr lang="en-US" sz="3200" dirty="0"/>
          </a:p>
        </p:txBody>
      </p:sp>
      <p:sp>
        <p:nvSpPr>
          <p:cNvPr id="4" name="Shape 2"/>
          <p:cNvSpPr/>
          <p:nvPr/>
        </p:nvSpPr>
        <p:spPr>
          <a:xfrm>
            <a:off x="640080" y="1783080"/>
            <a:ext cx="3520440" cy="38862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5" name="Shape 3"/>
          <p:cNvSpPr/>
          <p:nvPr/>
        </p:nvSpPr>
        <p:spPr>
          <a:xfrm>
            <a:off x="640080" y="1783080"/>
            <a:ext cx="3520440" cy="658368"/>
          </a:xfrm>
          <a:prstGeom prst="rect">
            <a:avLst/>
          </a:prstGeom>
          <a:solidFill>
            <a:srgbClr val="56607D"/>
          </a:solidFill>
          <a:ln w="25400">
            <a:solidFill>
              <a:srgbClr val="141A2E"/>
            </a:solidFill>
            <a:prstDash val="solid"/>
          </a:ln>
        </p:spPr>
      </p:sp>
      <p:sp>
        <p:nvSpPr>
          <p:cNvPr id="6" name="Text 4"/>
          <p:cNvSpPr/>
          <p:nvPr/>
        </p:nvSpPr>
        <p:spPr>
          <a:xfrm>
            <a:off x="640080" y="1783080"/>
            <a:ext cx="3520440" cy="65836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Cycle en V</a:t>
            </a:r>
            <a:endParaRPr lang="en-US" sz="1600" dirty="0"/>
          </a:p>
        </p:txBody>
      </p:sp>
      <p:sp>
        <p:nvSpPr>
          <p:cNvPr id="7" name="Shape 5"/>
          <p:cNvSpPr/>
          <p:nvPr/>
        </p:nvSpPr>
        <p:spPr>
          <a:xfrm>
            <a:off x="914400" y="2825496"/>
            <a:ext cx="146304" cy="146304"/>
          </a:xfrm>
          <a:prstGeom prst="ellipse">
            <a:avLst/>
          </a:prstGeom>
          <a:solidFill>
            <a:srgbClr val="56607D"/>
          </a:solidFill>
          <a:ln w="12700">
            <a:solidFill>
              <a:srgbClr val="141A2E"/>
            </a:solidFill>
            <a:prstDash val="solid"/>
          </a:ln>
        </p:spPr>
      </p:sp>
      <p:sp>
        <p:nvSpPr>
          <p:cNvPr id="8" name="Text 6"/>
          <p:cNvSpPr/>
          <p:nvPr/>
        </p:nvSpPr>
        <p:spPr>
          <a:xfrm>
            <a:off x="1188720" y="2743200"/>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Séquentiel et rigide</a:t>
            </a:r>
            <a:endParaRPr lang="en-US" sz="1300" dirty="0"/>
          </a:p>
        </p:txBody>
      </p:sp>
      <p:sp>
        <p:nvSpPr>
          <p:cNvPr id="9" name="Shape 7"/>
          <p:cNvSpPr/>
          <p:nvPr/>
        </p:nvSpPr>
        <p:spPr>
          <a:xfrm>
            <a:off x="914400" y="3483864"/>
            <a:ext cx="146304" cy="146304"/>
          </a:xfrm>
          <a:prstGeom prst="ellipse">
            <a:avLst/>
          </a:prstGeom>
          <a:solidFill>
            <a:srgbClr val="56607D"/>
          </a:solidFill>
          <a:ln w="12700">
            <a:solidFill>
              <a:srgbClr val="141A2E"/>
            </a:solidFill>
            <a:prstDash val="solid"/>
          </a:ln>
        </p:spPr>
      </p:sp>
      <p:sp>
        <p:nvSpPr>
          <p:cNvPr id="10" name="Text 8"/>
          <p:cNvSpPr/>
          <p:nvPr/>
        </p:nvSpPr>
        <p:spPr>
          <a:xfrm>
            <a:off x="1188720" y="3401568"/>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Tout planifié au début</a:t>
            </a:r>
            <a:endParaRPr lang="en-US" sz="1300" dirty="0"/>
          </a:p>
        </p:txBody>
      </p:sp>
      <p:sp>
        <p:nvSpPr>
          <p:cNvPr id="11" name="Shape 9"/>
          <p:cNvSpPr/>
          <p:nvPr/>
        </p:nvSpPr>
        <p:spPr>
          <a:xfrm>
            <a:off x="914400" y="4142232"/>
            <a:ext cx="146304" cy="146304"/>
          </a:xfrm>
          <a:prstGeom prst="ellipse">
            <a:avLst/>
          </a:prstGeom>
          <a:solidFill>
            <a:srgbClr val="56607D"/>
          </a:solidFill>
          <a:ln w="12700">
            <a:solidFill>
              <a:srgbClr val="141A2E"/>
            </a:solidFill>
            <a:prstDash val="solid"/>
          </a:ln>
        </p:spPr>
      </p:sp>
      <p:sp>
        <p:nvSpPr>
          <p:cNvPr id="12" name="Text 10"/>
          <p:cNvSpPr/>
          <p:nvPr/>
        </p:nvSpPr>
        <p:spPr>
          <a:xfrm>
            <a:off x="1188720" y="4059936"/>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Livraison à la fin</a:t>
            </a:r>
            <a:endParaRPr lang="en-US" sz="1300" dirty="0"/>
          </a:p>
        </p:txBody>
      </p:sp>
      <p:sp>
        <p:nvSpPr>
          <p:cNvPr id="13" name="Shape 11"/>
          <p:cNvSpPr/>
          <p:nvPr/>
        </p:nvSpPr>
        <p:spPr>
          <a:xfrm>
            <a:off x="914400" y="4800600"/>
            <a:ext cx="146304" cy="146304"/>
          </a:xfrm>
          <a:prstGeom prst="ellipse">
            <a:avLst/>
          </a:prstGeom>
          <a:solidFill>
            <a:srgbClr val="56607D"/>
          </a:solidFill>
          <a:ln w="12700">
            <a:solidFill>
              <a:srgbClr val="141A2E"/>
            </a:solidFill>
            <a:prstDash val="solid"/>
          </a:ln>
        </p:spPr>
      </p:sp>
      <p:sp>
        <p:nvSpPr>
          <p:cNvPr id="14" name="Text 12"/>
          <p:cNvSpPr/>
          <p:nvPr/>
        </p:nvSpPr>
        <p:spPr>
          <a:xfrm>
            <a:off x="1188720" y="4718304"/>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Peu adapté aux changements</a:t>
            </a:r>
            <a:endParaRPr lang="en-US" sz="1300" dirty="0"/>
          </a:p>
        </p:txBody>
      </p:sp>
      <p:sp>
        <p:nvSpPr>
          <p:cNvPr id="15" name="Shape 13"/>
          <p:cNvSpPr/>
          <p:nvPr/>
        </p:nvSpPr>
        <p:spPr>
          <a:xfrm>
            <a:off x="4434840" y="1783080"/>
            <a:ext cx="3520440" cy="38862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6" name="Shape 14"/>
          <p:cNvSpPr/>
          <p:nvPr/>
        </p:nvSpPr>
        <p:spPr>
          <a:xfrm>
            <a:off x="4434840" y="1783080"/>
            <a:ext cx="3520440" cy="658368"/>
          </a:xfrm>
          <a:prstGeom prst="rect">
            <a:avLst/>
          </a:prstGeom>
          <a:solidFill>
            <a:srgbClr val="2C44A0"/>
          </a:solidFill>
          <a:ln w="25400">
            <a:solidFill>
              <a:srgbClr val="141A2E"/>
            </a:solidFill>
            <a:prstDash val="solid"/>
          </a:ln>
        </p:spPr>
      </p:sp>
      <p:sp>
        <p:nvSpPr>
          <p:cNvPr id="17" name="Text 15"/>
          <p:cNvSpPr/>
          <p:nvPr/>
        </p:nvSpPr>
        <p:spPr>
          <a:xfrm>
            <a:off x="4434840" y="1783080"/>
            <a:ext cx="3520440" cy="65836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Kanban</a:t>
            </a:r>
            <a:endParaRPr lang="en-US" sz="1600" dirty="0"/>
          </a:p>
        </p:txBody>
      </p:sp>
      <p:sp>
        <p:nvSpPr>
          <p:cNvPr id="18" name="Shape 16"/>
          <p:cNvSpPr/>
          <p:nvPr/>
        </p:nvSpPr>
        <p:spPr>
          <a:xfrm>
            <a:off x="4709160" y="2825496"/>
            <a:ext cx="146304" cy="146304"/>
          </a:xfrm>
          <a:prstGeom prst="ellipse">
            <a:avLst/>
          </a:prstGeom>
          <a:solidFill>
            <a:srgbClr val="56607D"/>
          </a:solidFill>
          <a:ln w="12700">
            <a:solidFill>
              <a:srgbClr val="141A2E"/>
            </a:solidFill>
            <a:prstDash val="solid"/>
          </a:ln>
        </p:spPr>
      </p:sp>
      <p:sp>
        <p:nvSpPr>
          <p:cNvPr id="19" name="Text 17"/>
          <p:cNvSpPr/>
          <p:nvPr/>
        </p:nvSpPr>
        <p:spPr>
          <a:xfrm>
            <a:off x="4983480" y="2743200"/>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Flux continu de tâches</a:t>
            </a:r>
            <a:endParaRPr lang="en-US" sz="1300" dirty="0"/>
          </a:p>
        </p:txBody>
      </p:sp>
      <p:sp>
        <p:nvSpPr>
          <p:cNvPr id="20" name="Shape 18"/>
          <p:cNvSpPr/>
          <p:nvPr/>
        </p:nvSpPr>
        <p:spPr>
          <a:xfrm>
            <a:off x="4709160" y="3483864"/>
            <a:ext cx="146304" cy="146304"/>
          </a:xfrm>
          <a:prstGeom prst="ellipse">
            <a:avLst/>
          </a:prstGeom>
          <a:solidFill>
            <a:srgbClr val="56607D"/>
          </a:solidFill>
          <a:ln w="12700">
            <a:solidFill>
              <a:srgbClr val="141A2E"/>
            </a:solidFill>
            <a:prstDash val="solid"/>
          </a:ln>
        </p:spPr>
      </p:sp>
      <p:sp>
        <p:nvSpPr>
          <p:cNvPr id="21" name="Text 19"/>
          <p:cNvSpPr/>
          <p:nvPr/>
        </p:nvSpPr>
        <p:spPr>
          <a:xfrm>
            <a:off x="4983480" y="3401568"/>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Pas de sprints définis</a:t>
            </a:r>
            <a:endParaRPr lang="en-US" sz="1300" dirty="0"/>
          </a:p>
        </p:txBody>
      </p:sp>
      <p:sp>
        <p:nvSpPr>
          <p:cNvPr id="22" name="Shape 20"/>
          <p:cNvSpPr/>
          <p:nvPr/>
        </p:nvSpPr>
        <p:spPr>
          <a:xfrm>
            <a:off x="4709160" y="4142232"/>
            <a:ext cx="146304" cy="146304"/>
          </a:xfrm>
          <a:prstGeom prst="ellipse">
            <a:avLst/>
          </a:prstGeom>
          <a:solidFill>
            <a:srgbClr val="56607D"/>
          </a:solidFill>
          <a:ln w="12700">
            <a:solidFill>
              <a:srgbClr val="141A2E"/>
            </a:solidFill>
            <a:prstDash val="solid"/>
          </a:ln>
        </p:spPr>
      </p:sp>
      <p:sp>
        <p:nvSpPr>
          <p:cNvPr id="23" name="Text 21"/>
          <p:cNvSpPr/>
          <p:nvPr/>
        </p:nvSpPr>
        <p:spPr>
          <a:xfrm>
            <a:off x="4983480" y="4059936"/>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Idéal pour la maintenance</a:t>
            </a:r>
            <a:endParaRPr lang="en-US" sz="1300" dirty="0"/>
          </a:p>
        </p:txBody>
      </p:sp>
      <p:sp>
        <p:nvSpPr>
          <p:cNvPr id="24" name="Shape 22"/>
          <p:cNvSpPr/>
          <p:nvPr/>
        </p:nvSpPr>
        <p:spPr>
          <a:xfrm>
            <a:off x="4709160" y="4800600"/>
            <a:ext cx="146304" cy="146304"/>
          </a:xfrm>
          <a:prstGeom prst="ellipse">
            <a:avLst/>
          </a:prstGeom>
          <a:solidFill>
            <a:srgbClr val="56607D"/>
          </a:solidFill>
          <a:ln w="12700">
            <a:solidFill>
              <a:srgbClr val="141A2E"/>
            </a:solidFill>
            <a:prstDash val="solid"/>
          </a:ln>
        </p:spPr>
      </p:sp>
      <p:sp>
        <p:nvSpPr>
          <p:cNvPr id="25" name="Text 23"/>
          <p:cNvSpPr/>
          <p:nvPr/>
        </p:nvSpPr>
        <p:spPr>
          <a:xfrm>
            <a:off x="4983480" y="4718304"/>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Moins structuré pour un PFE</a:t>
            </a:r>
            <a:endParaRPr lang="en-US" sz="1300" dirty="0"/>
          </a:p>
        </p:txBody>
      </p:sp>
      <p:sp>
        <p:nvSpPr>
          <p:cNvPr id="26" name="Shape 24"/>
          <p:cNvSpPr/>
          <p:nvPr/>
        </p:nvSpPr>
        <p:spPr>
          <a:xfrm>
            <a:off x="8229600" y="1783080"/>
            <a:ext cx="3520440" cy="3886200"/>
          </a:xfrm>
          <a:prstGeom prst="rect">
            <a:avLst/>
          </a:prstGeom>
          <a:solidFill>
            <a:srgbClr val="FFFFFF"/>
          </a:solidFill>
          <a:ln w="38100">
            <a:solidFill>
              <a:srgbClr val="D6A800"/>
            </a:solidFill>
            <a:prstDash val="solid"/>
          </a:ln>
          <a:effectLst>
            <a:outerShdw sx="100000" sy="100000" kx="0" ky="0" algn="bl" rotWithShape="0" blurRad="101600" dist="76200" dir="2700000">
              <a:srgbClr val="F2C200">
                <a:alpha val="100000"/>
              </a:srgbClr>
            </a:outerShdw>
          </a:effectLst>
        </p:spPr>
      </p:sp>
      <p:sp>
        <p:nvSpPr>
          <p:cNvPr id="27" name="Shape 25"/>
          <p:cNvSpPr/>
          <p:nvPr/>
        </p:nvSpPr>
        <p:spPr>
          <a:xfrm>
            <a:off x="8229600" y="1783080"/>
            <a:ext cx="3520440" cy="658368"/>
          </a:xfrm>
          <a:prstGeom prst="rect">
            <a:avLst/>
          </a:prstGeom>
          <a:solidFill>
            <a:srgbClr val="0F6E56"/>
          </a:solidFill>
          <a:ln w="25400">
            <a:solidFill>
              <a:srgbClr val="141A2E"/>
            </a:solidFill>
            <a:prstDash val="solid"/>
          </a:ln>
        </p:spPr>
      </p:sp>
      <p:sp>
        <p:nvSpPr>
          <p:cNvPr id="28" name="Text 26"/>
          <p:cNvSpPr/>
          <p:nvPr/>
        </p:nvSpPr>
        <p:spPr>
          <a:xfrm>
            <a:off x="8229600" y="1783080"/>
            <a:ext cx="3520440" cy="65836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Scrum (agile)</a:t>
            </a:r>
            <a:endParaRPr lang="en-US" sz="1600" dirty="0"/>
          </a:p>
        </p:txBody>
      </p:sp>
      <p:sp>
        <p:nvSpPr>
          <p:cNvPr id="29" name="Shape 27"/>
          <p:cNvSpPr/>
          <p:nvPr/>
        </p:nvSpPr>
        <p:spPr>
          <a:xfrm>
            <a:off x="8503920" y="2825496"/>
            <a:ext cx="146304" cy="146304"/>
          </a:xfrm>
          <a:prstGeom prst="ellipse">
            <a:avLst/>
          </a:prstGeom>
          <a:solidFill>
            <a:srgbClr val="0F6E56"/>
          </a:solidFill>
          <a:ln w="12700">
            <a:solidFill>
              <a:srgbClr val="141A2E"/>
            </a:solidFill>
            <a:prstDash val="solid"/>
          </a:ln>
        </p:spPr>
      </p:sp>
      <p:sp>
        <p:nvSpPr>
          <p:cNvPr id="30" name="Text 28"/>
          <p:cNvSpPr/>
          <p:nvPr/>
        </p:nvSpPr>
        <p:spPr>
          <a:xfrm>
            <a:off x="8778240" y="2743200"/>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Itératif par sprints</a:t>
            </a:r>
            <a:endParaRPr lang="en-US" sz="1300" dirty="0"/>
          </a:p>
        </p:txBody>
      </p:sp>
      <p:sp>
        <p:nvSpPr>
          <p:cNvPr id="31" name="Shape 29"/>
          <p:cNvSpPr/>
          <p:nvPr/>
        </p:nvSpPr>
        <p:spPr>
          <a:xfrm>
            <a:off x="8503920" y="3483864"/>
            <a:ext cx="146304" cy="146304"/>
          </a:xfrm>
          <a:prstGeom prst="ellipse">
            <a:avLst/>
          </a:prstGeom>
          <a:solidFill>
            <a:srgbClr val="0F6E56"/>
          </a:solidFill>
          <a:ln w="12700">
            <a:solidFill>
              <a:srgbClr val="141A2E"/>
            </a:solidFill>
            <a:prstDash val="solid"/>
          </a:ln>
        </p:spPr>
      </p:sp>
      <p:sp>
        <p:nvSpPr>
          <p:cNvPr id="32" name="Text 30"/>
          <p:cNvSpPr/>
          <p:nvPr/>
        </p:nvSpPr>
        <p:spPr>
          <a:xfrm>
            <a:off x="8778240" y="3401568"/>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Livraisons régulières</a:t>
            </a:r>
            <a:endParaRPr lang="en-US" sz="1300" dirty="0"/>
          </a:p>
        </p:txBody>
      </p:sp>
      <p:sp>
        <p:nvSpPr>
          <p:cNvPr id="33" name="Shape 31"/>
          <p:cNvSpPr/>
          <p:nvPr/>
        </p:nvSpPr>
        <p:spPr>
          <a:xfrm>
            <a:off x="8503920" y="4142232"/>
            <a:ext cx="146304" cy="146304"/>
          </a:xfrm>
          <a:prstGeom prst="ellipse">
            <a:avLst/>
          </a:prstGeom>
          <a:solidFill>
            <a:srgbClr val="0F6E56"/>
          </a:solidFill>
          <a:ln w="12700">
            <a:solidFill>
              <a:srgbClr val="141A2E"/>
            </a:solidFill>
            <a:prstDash val="solid"/>
          </a:ln>
        </p:spPr>
      </p:sp>
      <p:sp>
        <p:nvSpPr>
          <p:cNvPr id="34" name="Text 32"/>
          <p:cNvSpPr/>
          <p:nvPr/>
        </p:nvSpPr>
        <p:spPr>
          <a:xfrm>
            <a:off x="8778240" y="4059936"/>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Flexible et structuré</a:t>
            </a:r>
            <a:endParaRPr lang="en-US" sz="1300" dirty="0"/>
          </a:p>
        </p:txBody>
      </p:sp>
      <p:sp>
        <p:nvSpPr>
          <p:cNvPr id="35" name="Shape 33"/>
          <p:cNvSpPr/>
          <p:nvPr/>
        </p:nvSpPr>
        <p:spPr>
          <a:xfrm>
            <a:off x="8503920" y="4800600"/>
            <a:ext cx="146304" cy="146304"/>
          </a:xfrm>
          <a:prstGeom prst="ellipse">
            <a:avLst/>
          </a:prstGeom>
          <a:solidFill>
            <a:srgbClr val="0F6E56"/>
          </a:solidFill>
          <a:ln w="12700">
            <a:solidFill>
              <a:srgbClr val="141A2E"/>
            </a:solidFill>
            <a:prstDash val="solid"/>
          </a:ln>
        </p:spPr>
      </p:sp>
      <p:sp>
        <p:nvSpPr>
          <p:cNvPr id="36" name="Text 34"/>
          <p:cNvSpPr/>
          <p:nvPr/>
        </p:nvSpPr>
        <p:spPr>
          <a:xfrm>
            <a:off x="8778240" y="4718304"/>
            <a:ext cx="2743200" cy="566928"/>
          </a:xfrm>
          <a:prstGeom prst="rect">
            <a:avLst/>
          </a:prstGeom>
          <a:noFill/>
          <a:ln/>
        </p:spPr>
        <p:txBody>
          <a:bodyPr wrap="square" rtlCol="0" anchor="ctr"/>
          <a:lstStyle/>
          <a:p>
            <a:pPr indent="0" marL="0">
              <a:buNone/>
            </a:pPr>
            <a:r>
              <a:rPr lang="en-US" sz="1300" dirty="0">
                <a:solidFill>
                  <a:srgbClr val="141A2E"/>
                </a:solidFill>
                <a:latin typeface="Calibri" pitchFamily="34" charset="0"/>
                <a:ea typeface="Calibri" pitchFamily="34" charset="-122"/>
                <a:cs typeface="Calibri" pitchFamily="34" charset="-120"/>
              </a:rPr>
              <a:t>Adapté à un projet évolutif</a:t>
            </a:r>
            <a:endParaRPr lang="en-US" sz="1300" dirty="0"/>
          </a:p>
        </p:txBody>
      </p:sp>
      <p:sp>
        <p:nvSpPr>
          <p:cNvPr id="37" name="Text 35"/>
          <p:cNvSpPr/>
          <p:nvPr/>
        </p:nvSpPr>
        <p:spPr>
          <a:xfrm>
            <a:off x="8503920" y="5230368"/>
            <a:ext cx="2971800" cy="320040"/>
          </a:xfrm>
          <a:prstGeom prst="rect">
            <a:avLst/>
          </a:prstGeom>
          <a:noFill/>
          <a:ln/>
        </p:spPr>
        <p:txBody>
          <a:bodyPr wrap="square" rtlCol="0" anchor="ctr"/>
          <a:lstStyle/>
          <a:p>
            <a:pPr algn="ctr" indent="0" marL="0">
              <a:buNone/>
            </a:pPr>
            <a:r>
              <a:rPr lang="en-US" sz="1200" b="1" i="1" dirty="0">
                <a:solidFill>
                  <a:srgbClr val="0F6E56"/>
                </a:solidFill>
                <a:latin typeface="Calibri" pitchFamily="34" charset="0"/>
                <a:ea typeface="Calibri" pitchFamily="34" charset="-122"/>
                <a:cs typeface="Calibri" pitchFamily="34" charset="-120"/>
              </a:rPr>
              <a:t>Choix retenu</a:t>
            </a:r>
            <a:endParaRPr lang="en-US" sz="1200" dirty="0"/>
          </a:p>
        </p:txBody>
      </p:sp>
      <p:sp>
        <p:nvSpPr>
          <p:cNvPr id="38" name="Text 36"/>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39" name="Text 37"/>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07 · BESOINS FONCTIONNELS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Ce que le système permet</a:t>
            </a:r>
            <a:endParaRPr lang="en-US" sz="3200" dirty="0"/>
          </a:p>
        </p:txBody>
      </p:sp>
      <p:sp>
        <p:nvSpPr>
          <p:cNvPr id="4" name="Shape 2"/>
          <p:cNvSpPr/>
          <p:nvPr/>
        </p:nvSpPr>
        <p:spPr>
          <a:xfrm>
            <a:off x="640080" y="1783080"/>
            <a:ext cx="3520440" cy="402336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5" name="Shape 3"/>
          <p:cNvSpPr/>
          <p:nvPr/>
        </p:nvSpPr>
        <p:spPr>
          <a:xfrm>
            <a:off x="640080" y="1783080"/>
            <a:ext cx="3520440" cy="640080"/>
          </a:xfrm>
          <a:prstGeom prst="rect">
            <a:avLst/>
          </a:prstGeom>
          <a:solidFill>
            <a:srgbClr val="1B2D6B"/>
          </a:solidFill>
          <a:ln w="25400">
            <a:solidFill>
              <a:srgbClr val="141A2E"/>
            </a:solidFill>
            <a:prstDash val="solid"/>
          </a:ln>
        </p:spPr>
      </p:sp>
      <p:sp>
        <p:nvSpPr>
          <p:cNvPr id="6" name="Text 4"/>
          <p:cNvSpPr/>
          <p:nvPr/>
        </p:nvSpPr>
        <p:spPr>
          <a:xfrm>
            <a:off x="822960" y="1783080"/>
            <a:ext cx="3200400" cy="6400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Client</a:t>
            </a:r>
            <a:endParaRPr lang="en-US" sz="1700" dirty="0"/>
          </a:p>
        </p:txBody>
      </p:sp>
      <p:sp>
        <p:nvSpPr>
          <p:cNvPr id="7" name="Shape 5"/>
          <p:cNvSpPr/>
          <p:nvPr/>
        </p:nvSpPr>
        <p:spPr>
          <a:xfrm>
            <a:off x="914400" y="2706624"/>
            <a:ext cx="137160" cy="137160"/>
          </a:xfrm>
          <a:prstGeom prst="ellipse">
            <a:avLst/>
          </a:prstGeom>
          <a:solidFill>
            <a:srgbClr val="D6A800"/>
          </a:solidFill>
          <a:ln w="12700">
            <a:solidFill>
              <a:srgbClr val="D6A800"/>
            </a:solidFill>
            <a:prstDash val="solid"/>
          </a:ln>
        </p:spPr>
      </p:sp>
      <p:sp>
        <p:nvSpPr>
          <p:cNvPr id="8" name="Text 6"/>
          <p:cNvSpPr/>
          <p:nvPr/>
        </p:nvSpPr>
        <p:spPr>
          <a:xfrm>
            <a:off x="1188720" y="265176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S'inscrire (e-mail + 2FA)</a:t>
            </a:r>
            <a:endParaRPr lang="en-US" sz="1250" dirty="0"/>
          </a:p>
        </p:txBody>
      </p:sp>
      <p:sp>
        <p:nvSpPr>
          <p:cNvPr id="9" name="Shape 7"/>
          <p:cNvSpPr/>
          <p:nvPr/>
        </p:nvSpPr>
        <p:spPr>
          <a:xfrm>
            <a:off x="914400" y="3255264"/>
            <a:ext cx="137160" cy="137160"/>
          </a:xfrm>
          <a:prstGeom prst="ellipse">
            <a:avLst/>
          </a:prstGeom>
          <a:solidFill>
            <a:srgbClr val="D6A800"/>
          </a:solidFill>
          <a:ln w="12700">
            <a:solidFill>
              <a:srgbClr val="D6A800"/>
            </a:solidFill>
            <a:prstDash val="solid"/>
          </a:ln>
        </p:spPr>
      </p:sp>
      <p:sp>
        <p:nvSpPr>
          <p:cNvPr id="10" name="Text 8"/>
          <p:cNvSpPr/>
          <p:nvPr/>
        </p:nvSpPr>
        <p:spPr>
          <a:xfrm>
            <a:off x="1188720" y="320040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Acheter des produits</a:t>
            </a:r>
            <a:endParaRPr lang="en-US" sz="1250" dirty="0"/>
          </a:p>
        </p:txBody>
      </p:sp>
      <p:sp>
        <p:nvSpPr>
          <p:cNvPr id="11" name="Shape 9"/>
          <p:cNvSpPr/>
          <p:nvPr/>
        </p:nvSpPr>
        <p:spPr>
          <a:xfrm>
            <a:off x="914400" y="3803904"/>
            <a:ext cx="137160" cy="137160"/>
          </a:xfrm>
          <a:prstGeom prst="ellipse">
            <a:avLst/>
          </a:prstGeom>
          <a:solidFill>
            <a:srgbClr val="D6A800"/>
          </a:solidFill>
          <a:ln w="12700">
            <a:solidFill>
              <a:srgbClr val="D6A800"/>
            </a:solidFill>
            <a:prstDash val="solid"/>
          </a:ln>
        </p:spPr>
      </p:sp>
      <p:sp>
        <p:nvSpPr>
          <p:cNvPr id="12" name="Text 10"/>
          <p:cNvSpPr/>
          <p:nvPr/>
        </p:nvSpPr>
        <p:spPr>
          <a:xfrm>
            <a:off x="1188720" y="374904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Commander des fleurs</a:t>
            </a:r>
            <a:endParaRPr lang="en-US" sz="1250" dirty="0"/>
          </a:p>
        </p:txBody>
      </p:sp>
      <p:sp>
        <p:nvSpPr>
          <p:cNvPr id="13" name="Shape 11"/>
          <p:cNvSpPr/>
          <p:nvPr/>
        </p:nvSpPr>
        <p:spPr>
          <a:xfrm>
            <a:off x="914400" y="4352544"/>
            <a:ext cx="137160" cy="137160"/>
          </a:xfrm>
          <a:prstGeom prst="ellipse">
            <a:avLst/>
          </a:prstGeom>
          <a:solidFill>
            <a:srgbClr val="D6A800"/>
          </a:solidFill>
          <a:ln w="12700">
            <a:solidFill>
              <a:srgbClr val="D6A800"/>
            </a:solidFill>
            <a:prstDash val="solid"/>
          </a:ln>
        </p:spPr>
      </p:sp>
      <p:sp>
        <p:nvSpPr>
          <p:cNvPr id="14" name="Text 12"/>
          <p:cNvSpPr/>
          <p:nvPr/>
        </p:nvSpPr>
        <p:spPr>
          <a:xfrm>
            <a:off x="1188720" y="429768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Déposer &amp; suivre un colis</a:t>
            </a:r>
            <a:endParaRPr lang="en-US" sz="1250" dirty="0"/>
          </a:p>
        </p:txBody>
      </p:sp>
      <p:sp>
        <p:nvSpPr>
          <p:cNvPr id="15" name="Shape 13"/>
          <p:cNvSpPr/>
          <p:nvPr/>
        </p:nvSpPr>
        <p:spPr>
          <a:xfrm>
            <a:off x="914400" y="4901184"/>
            <a:ext cx="137160" cy="137160"/>
          </a:xfrm>
          <a:prstGeom prst="ellipse">
            <a:avLst/>
          </a:prstGeom>
          <a:solidFill>
            <a:srgbClr val="D6A800"/>
          </a:solidFill>
          <a:ln w="12700">
            <a:solidFill>
              <a:srgbClr val="D6A800"/>
            </a:solidFill>
            <a:prstDash val="solid"/>
          </a:ln>
        </p:spPr>
      </p:sp>
      <p:sp>
        <p:nvSpPr>
          <p:cNvPr id="16" name="Text 14"/>
          <p:cNvSpPr/>
          <p:nvPr/>
        </p:nvSpPr>
        <p:spPr>
          <a:xfrm>
            <a:off x="1188720" y="484632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Payer (e-Dinar)</a:t>
            </a:r>
            <a:endParaRPr lang="en-US" sz="1250" dirty="0"/>
          </a:p>
        </p:txBody>
      </p:sp>
      <p:sp>
        <p:nvSpPr>
          <p:cNvPr id="17" name="Shape 15"/>
          <p:cNvSpPr/>
          <p:nvPr/>
        </p:nvSpPr>
        <p:spPr>
          <a:xfrm>
            <a:off x="914400" y="5449824"/>
            <a:ext cx="137160" cy="137160"/>
          </a:xfrm>
          <a:prstGeom prst="ellipse">
            <a:avLst/>
          </a:prstGeom>
          <a:solidFill>
            <a:srgbClr val="D6A800"/>
          </a:solidFill>
          <a:ln w="12700">
            <a:solidFill>
              <a:srgbClr val="D6A800"/>
            </a:solidFill>
            <a:prstDash val="solid"/>
          </a:ln>
        </p:spPr>
      </p:sp>
      <p:sp>
        <p:nvSpPr>
          <p:cNvPr id="18" name="Text 16"/>
          <p:cNvSpPr/>
          <p:nvPr/>
        </p:nvSpPr>
        <p:spPr>
          <a:xfrm>
            <a:off x="1188720" y="539496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Recevoir des notifications</a:t>
            </a:r>
            <a:endParaRPr lang="en-US" sz="1250" dirty="0"/>
          </a:p>
        </p:txBody>
      </p:sp>
      <p:sp>
        <p:nvSpPr>
          <p:cNvPr id="19" name="Shape 17"/>
          <p:cNvSpPr/>
          <p:nvPr/>
        </p:nvSpPr>
        <p:spPr>
          <a:xfrm>
            <a:off x="4434840" y="1783080"/>
            <a:ext cx="3520440" cy="402336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20" name="Shape 18"/>
          <p:cNvSpPr/>
          <p:nvPr/>
        </p:nvSpPr>
        <p:spPr>
          <a:xfrm>
            <a:off x="4434840" y="1783080"/>
            <a:ext cx="3520440" cy="640080"/>
          </a:xfrm>
          <a:prstGeom prst="rect">
            <a:avLst/>
          </a:prstGeom>
          <a:solidFill>
            <a:srgbClr val="1B2D6B"/>
          </a:solidFill>
          <a:ln w="25400">
            <a:solidFill>
              <a:srgbClr val="141A2E"/>
            </a:solidFill>
            <a:prstDash val="solid"/>
          </a:ln>
        </p:spPr>
      </p:sp>
      <p:sp>
        <p:nvSpPr>
          <p:cNvPr id="21" name="Text 19"/>
          <p:cNvSpPr/>
          <p:nvPr/>
        </p:nvSpPr>
        <p:spPr>
          <a:xfrm>
            <a:off x="4617720" y="1783080"/>
            <a:ext cx="3200400" cy="6400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Agent / Livreur</a:t>
            </a:r>
            <a:endParaRPr lang="en-US" sz="1700" dirty="0"/>
          </a:p>
        </p:txBody>
      </p:sp>
      <p:sp>
        <p:nvSpPr>
          <p:cNvPr id="22" name="Shape 20"/>
          <p:cNvSpPr/>
          <p:nvPr/>
        </p:nvSpPr>
        <p:spPr>
          <a:xfrm>
            <a:off x="4709160" y="2706624"/>
            <a:ext cx="137160" cy="137160"/>
          </a:xfrm>
          <a:prstGeom prst="ellipse">
            <a:avLst/>
          </a:prstGeom>
          <a:solidFill>
            <a:srgbClr val="D6A800"/>
          </a:solidFill>
          <a:ln w="12700">
            <a:solidFill>
              <a:srgbClr val="D6A800"/>
            </a:solidFill>
            <a:prstDash val="solid"/>
          </a:ln>
        </p:spPr>
      </p:sp>
      <p:sp>
        <p:nvSpPr>
          <p:cNvPr id="23" name="Text 21"/>
          <p:cNvSpPr/>
          <p:nvPr/>
        </p:nvSpPr>
        <p:spPr>
          <a:xfrm>
            <a:off x="4983480" y="265176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Gérer les dépôts</a:t>
            </a:r>
            <a:endParaRPr lang="en-US" sz="1250" dirty="0"/>
          </a:p>
        </p:txBody>
      </p:sp>
      <p:sp>
        <p:nvSpPr>
          <p:cNvPr id="24" name="Shape 22"/>
          <p:cNvSpPr/>
          <p:nvPr/>
        </p:nvSpPr>
        <p:spPr>
          <a:xfrm>
            <a:off x="4709160" y="3255264"/>
            <a:ext cx="137160" cy="137160"/>
          </a:xfrm>
          <a:prstGeom prst="ellipse">
            <a:avLst/>
          </a:prstGeom>
          <a:solidFill>
            <a:srgbClr val="D6A800"/>
          </a:solidFill>
          <a:ln w="12700">
            <a:solidFill>
              <a:srgbClr val="D6A800"/>
            </a:solidFill>
            <a:prstDash val="solid"/>
          </a:ln>
        </p:spPr>
      </p:sp>
      <p:sp>
        <p:nvSpPr>
          <p:cNvPr id="25" name="Text 23"/>
          <p:cNvSpPr/>
          <p:nvPr/>
        </p:nvSpPr>
        <p:spPr>
          <a:xfrm>
            <a:off x="4983480" y="320040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Changer le statut du colis</a:t>
            </a:r>
            <a:endParaRPr lang="en-US" sz="1250" dirty="0"/>
          </a:p>
        </p:txBody>
      </p:sp>
      <p:sp>
        <p:nvSpPr>
          <p:cNvPr id="26" name="Shape 24"/>
          <p:cNvSpPr/>
          <p:nvPr/>
        </p:nvSpPr>
        <p:spPr>
          <a:xfrm>
            <a:off x="4709160" y="3803904"/>
            <a:ext cx="137160" cy="137160"/>
          </a:xfrm>
          <a:prstGeom prst="ellipse">
            <a:avLst/>
          </a:prstGeom>
          <a:solidFill>
            <a:srgbClr val="D6A800"/>
          </a:solidFill>
          <a:ln w="12700">
            <a:solidFill>
              <a:srgbClr val="D6A800"/>
            </a:solidFill>
            <a:prstDash val="solid"/>
          </a:ln>
        </p:spPr>
      </p:sp>
      <p:sp>
        <p:nvSpPr>
          <p:cNvPr id="27" name="Text 25"/>
          <p:cNvSpPr/>
          <p:nvPr/>
        </p:nvSpPr>
        <p:spPr>
          <a:xfrm>
            <a:off x="4983480" y="374904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Messagerie interne chiffrée</a:t>
            </a:r>
            <a:endParaRPr lang="en-US" sz="1250" dirty="0"/>
          </a:p>
        </p:txBody>
      </p:sp>
      <p:sp>
        <p:nvSpPr>
          <p:cNvPr id="28" name="Shape 26"/>
          <p:cNvSpPr/>
          <p:nvPr/>
        </p:nvSpPr>
        <p:spPr>
          <a:xfrm>
            <a:off x="8229600" y="1783080"/>
            <a:ext cx="3520440" cy="4023360"/>
          </a:xfrm>
          <a:prstGeom prst="rect">
            <a:avLst/>
          </a:prstGeom>
          <a:solidFill>
            <a:srgbClr val="FFFFFF"/>
          </a:solidFill>
          <a:ln w="25400">
            <a:solidFill>
              <a:srgbClr val="141A2E"/>
            </a:solidFill>
            <a:prstDash val="solid"/>
          </a:ln>
          <a:effectLst>
            <a:outerShdw sx="100000" sy="100000" kx="0" ky="0" algn="bl" rotWithShape="0" blurRad="101600" dist="76200" dir="2700000">
              <a:srgbClr val="E5384B">
                <a:alpha val="100000"/>
              </a:srgbClr>
            </a:outerShdw>
          </a:effectLst>
        </p:spPr>
      </p:sp>
      <p:sp>
        <p:nvSpPr>
          <p:cNvPr id="29" name="Shape 27"/>
          <p:cNvSpPr/>
          <p:nvPr/>
        </p:nvSpPr>
        <p:spPr>
          <a:xfrm>
            <a:off x="8229600" y="1783080"/>
            <a:ext cx="3520440" cy="640080"/>
          </a:xfrm>
          <a:prstGeom prst="rect">
            <a:avLst/>
          </a:prstGeom>
          <a:solidFill>
            <a:srgbClr val="1B2D6B"/>
          </a:solidFill>
          <a:ln w="25400">
            <a:solidFill>
              <a:srgbClr val="141A2E"/>
            </a:solidFill>
            <a:prstDash val="solid"/>
          </a:ln>
        </p:spPr>
      </p:sp>
      <p:sp>
        <p:nvSpPr>
          <p:cNvPr id="30" name="Text 28"/>
          <p:cNvSpPr/>
          <p:nvPr/>
        </p:nvSpPr>
        <p:spPr>
          <a:xfrm>
            <a:off x="8412480" y="1783080"/>
            <a:ext cx="3200400" cy="6400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Administrateur</a:t>
            </a:r>
            <a:endParaRPr lang="en-US" sz="1700" dirty="0"/>
          </a:p>
        </p:txBody>
      </p:sp>
      <p:sp>
        <p:nvSpPr>
          <p:cNvPr id="31" name="Shape 29"/>
          <p:cNvSpPr/>
          <p:nvPr/>
        </p:nvSpPr>
        <p:spPr>
          <a:xfrm>
            <a:off x="8503920" y="2706624"/>
            <a:ext cx="137160" cy="137160"/>
          </a:xfrm>
          <a:prstGeom prst="ellipse">
            <a:avLst/>
          </a:prstGeom>
          <a:solidFill>
            <a:srgbClr val="D6A800"/>
          </a:solidFill>
          <a:ln w="12700">
            <a:solidFill>
              <a:srgbClr val="D6A800"/>
            </a:solidFill>
            <a:prstDash val="solid"/>
          </a:ln>
        </p:spPr>
      </p:sp>
      <p:sp>
        <p:nvSpPr>
          <p:cNvPr id="32" name="Text 30"/>
          <p:cNvSpPr/>
          <p:nvPr/>
        </p:nvSpPr>
        <p:spPr>
          <a:xfrm>
            <a:off x="8778240" y="265176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Gérer utilisateurs &amp; équipes</a:t>
            </a:r>
            <a:endParaRPr lang="en-US" sz="1250" dirty="0"/>
          </a:p>
        </p:txBody>
      </p:sp>
      <p:sp>
        <p:nvSpPr>
          <p:cNvPr id="33" name="Shape 31"/>
          <p:cNvSpPr/>
          <p:nvPr/>
        </p:nvSpPr>
        <p:spPr>
          <a:xfrm>
            <a:off x="8503920" y="3255264"/>
            <a:ext cx="137160" cy="137160"/>
          </a:xfrm>
          <a:prstGeom prst="ellipse">
            <a:avLst/>
          </a:prstGeom>
          <a:solidFill>
            <a:srgbClr val="D6A800"/>
          </a:solidFill>
          <a:ln w="12700">
            <a:solidFill>
              <a:srgbClr val="D6A800"/>
            </a:solidFill>
            <a:prstDash val="solid"/>
          </a:ln>
        </p:spPr>
      </p:sp>
      <p:sp>
        <p:nvSpPr>
          <p:cNvPr id="34" name="Text 32"/>
          <p:cNvSpPr/>
          <p:nvPr/>
        </p:nvSpPr>
        <p:spPr>
          <a:xfrm>
            <a:off x="8778240" y="320040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Gérer produits &amp; bureaux</a:t>
            </a:r>
            <a:endParaRPr lang="en-US" sz="1250" dirty="0"/>
          </a:p>
        </p:txBody>
      </p:sp>
      <p:sp>
        <p:nvSpPr>
          <p:cNvPr id="35" name="Shape 33"/>
          <p:cNvSpPr/>
          <p:nvPr/>
        </p:nvSpPr>
        <p:spPr>
          <a:xfrm>
            <a:off x="8503920" y="3803904"/>
            <a:ext cx="137160" cy="137160"/>
          </a:xfrm>
          <a:prstGeom prst="ellipse">
            <a:avLst/>
          </a:prstGeom>
          <a:solidFill>
            <a:srgbClr val="D6A800"/>
          </a:solidFill>
          <a:ln w="12700">
            <a:solidFill>
              <a:srgbClr val="D6A800"/>
            </a:solidFill>
            <a:prstDash val="solid"/>
          </a:ln>
        </p:spPr>
      </p:sp>
      <p:sp>
        <p:nvSpPr>
          <p:cNvPr id="36" name="Text 34"/>
          <p:cNvSpPr/>
          <p:nvPr/>
        </p:nvSpPr>
        <p:spPr>
          <a:xfrm>
            <a:off x="8778240" y="374904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Gérer la grille tarifaire</a:t>
            </a:r>
            <a:endParaRPr lang="en-US" sz="1250" dirty="0"/>
          </a:p>
        </p:txBody>
      </p:sp>
      <p:sp>
        <p:nvSpPr>
          <p:cNvPr id="37" name="Shape 35"/>
          <p:cNvSpPr/>
          <p:nvPr/>
        </p:nvSpPr>
        <p:spPr>
          <a:xfrm>
            <a:off x="8503920" y="4352544"/>
            <a:ext cx="137160" cy="137160"/>
          </a:xfrm>
          <a:prstGeom prst="ellipse">
            <a:avLst/>
          </a:prstGeom>
          <a:solidFill>
            <a:srgbClr val="D6A800"/>
          </a:solidFill>
          <a:ln w="12700">
            <a:solidFill>
              <a:srgbClr val="D6A800"/>
            </a:solidFill>
            <a:prstDash val="solid"/>
          </a:ln>
        </p:spPr>
      </p:sp>
      <p:sp>
        <p:nvSpPr>
          <p:cNvPr id="38" name="Text 36"/>
          <p:cNvSpPr/>
          <p:nvPr/>
        </p:nvSpPr>
        <p:spPr>
          <a:xfrm>
            <a:off x="8778240" y="4297680"/>
            <a:ext cx="2788920" cy="457200"/>
          </a:xfrm>
          <a:prstGeom prst="rect">
            <a:avLst/>
          </a:prstGeom>
          <a:noFill/>
          <a:ln/>
        </p:spPr>
        <p:txBody>
          <a:bodyPr wrap="square" rtlCol="0" anchor="ctr"/>
          <a:lstStyle/>
          <a:p>
            <a:pPr indent="0" marL="0">
              <a:buNone/>
            </a:pPr>
            <a:r>
              <a:rPr lang="en-US" sz="1250" dirty="0">
                <a:solidFill>
                  <a:srgbClr val="141A2E"/>
                </a:solidFill>
                <a:latin typeface="Calibri" pitchFamily="34" charset="0"/>
                <a:ea typeface="Calibri" pitchFamily="34" charset="-122"/>
                <a:cs typeface="Calibri" pitchFamily="34" charset="-120"/>
              </a:rPr>
              <a:t>Superviser les commandes</a:t>
            </a:r>
            <a:endParaRPr lang="en-US" sz="1250" dirty="0"/>
          </a:p>
        </p:txBody>
      </p:sp>
      <p:sp>
        <p:nvSpPr>
          <p:cNvPr id="39" name="Text 37"/>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40" name="Text 38"/>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07 · BESOINS NON FONCTIONNELS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La qualité attendue</a:t>
            </a:r>
            <a:endParaRPr lang="en-US" sz="3200" dirty="0"/>
          </a:p>
        </p:txBody>
      </p:sp>
      <p:sp>
        <p:nvSpPr>
          <p:cNvPr id="4" name="Shape 2"/>
          <p:cNvSpPr/>
          <p:nvPr/>
        </p:nvSpPr>
        <p:spPr>
          <a:xfrm>
            <a:off x="640080" y="178308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5" name="Text 3"/>
          <p:cNvSpPr/>
          <p:nvPr/>
        </p:nvSpPr>
        <p:spPr>
          <a:xfrm>
            <a:off x="914400" y="203911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Sécurité</a:t>
            </a:r>
            <a:endParaRPr lang="en-US" sz="1800" dirty="0"/>
          </a:p>
        </p:txBody>
      </p:sp>
      <p:sp>
        <p:nvSpPr>
          <p:cNvPr id="6" name="Text 4"/>
          <p:cNvSpPr/>
          <p:nvPr/>
        </p:nvSpPr>
        <p:spPr>
          <a:xfrm>
            <a:off x="914400" y="262432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bcrypt · JWT · 2FA</a:t>
            </a:r>
            <a:endParaRPr lang="en-US" sz="1350" dirty="0"/>
          </a:p>
        </p:txBody>
      </p:sp>
      <p:sp>
        <p:nvSpPr>
          <p:cNvPr id="7" name="Shape 5"/>
          <p:cNvSpPr/>
          <p:nvPr/>
        </p:nvSpPr>
        <p:spPr>
          <a:xfrm>
            <a:off x="4434840" y="178308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8" name="Text 6"/>
          <p:cNvSpPr/>
          <p:nvPr/>
        </p:nvSpPr>
        <p:spPr>
          <a:xfrm>
            <a:off x="4709160" y="203911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Performance</a:t>
            </a:r>
            <a:endParaRPr lang="en-US" sz="1800" dirty="0"/>
          </a:p>
        </p:txBody>
      </p:sp>
      <p:sp>
        <p:nvSpPr>
          <p:cNvPr id="9" name="Text 7"/>
          <p:cNvSpPr/>
          <p:nvPr/>
        </p:nvSpPr>
        <p:spPr>
          <a:xfrm>
            <a:off x="4709160" y="262432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lazy loading</a:t>
            </a:r>
            <a:endParaRPr lang="en-US" sz="1350" dirty="0"/>
          </a:p>
        </p:txBody>
      </p:sp>
      <p:sp>
        <p:nvSpPr>
          <p:cNvPr id="10" name="Shape 8"/>
          <p:cNvSpPr/>
          <p:nvPr/>
        </p:nvSpPr>
        <p:spPr>
          <a:xfrm>
            <a:off x="8229600" y="178308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1" name="Text 9"/>
          <p:cNvSpPr/>
          <p:nvPr/>
        </p:nvSpPr>
        <p:spPr>
          <a:xfrm>
            <a:off x="8503920" y="203911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Ergonomie</a:t>
            </a:r>
            <a:endParaRPr lang="en-US" sz="1800" dirty="0"/>
          </a:p>
        </p:txBody>
      </p:sp>
      <p:sp>
        <p:nvSpPr>
          <p:cNvPr id="12" name="Text 10"/>
          <p:cNvSpPr/>
          <p:nvPr/>
        </p:nvSpPr>
        <p:spPr>
          <a:xfrm>
            <a:off x="8503920" y="262432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interface responsive</a:t>
            </a:r>
            <a:endParaRPr lang="en-US" sz="1350" dirty="0"/>
          </a:p>
        </p:txBody>
      </p:sp>
      <p:sp>
        <p:nvSpPr>
          <p:cNvPr id="13" name="Shape 11"/>
          <p:cNvSpPr/>
          <p:nvPr/>
        </p:nvSpPr>
        <p:spPr>
          <a:xfrm>
            <a:off x="640080" y="374904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4" name="Text 12"/>
          <p:cNvSpPr/>
          <p:nvPr/>
        </p:nvSpPr>
        <p:spPr>
          <a:xfrm>
            <a:off x="914400" y="400507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Fiabilité</a:t>
            </a:r>
            <a:endParaRPr lang="en-US" sz="1800" dirty="0"/>
          </a:p>
        </p:txBody>
      </p:sp>
      <p:sp>
        <p:nvSpPr>
          <p:cNvPr id="15" name="Text 13"/>
          <p:cNvSpPr/>
          <p:nvPr/>
        </p:nvSpPr>
        <p:spPr>
          <a:xfrm>
            <a:off x="914400" y="459028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validation des données</a:t>
            </a:r>
            <a:endParaRPr lang="en-US" sz="1350" dirty="0"/>
          </a:p>
        </p:txBody>
      </p:sp>
      <p:sp>
        <p:nvSpPr>
          <p:cNvPr id="16" name="Shape 14"/>
          <p:cNvSpPr/>
          <p:nvPr/>
        </p:nvSpPr>
        <p:spPr>
          <a:xfrm>
            <a:off x="4434840" y="374904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F2C200">
                <a:alpha val="100000"/>
              </a:srgbClr>
            </a:outerShdw>
          </a:effectLst>
        </p:spPr>
      </p:sp>
      <p:sp>
        <p:nvSpPr>
          <p:cNvPr id="17" name="Text 15"/>
          <p:cNvSpPr/>
          <p:nvPr/>
        </p:nvSpPr>
        <p:spPr>
          <a:xfrm>
            <a:off x="4709160" y="400507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Maintenabilité</a:t>
            </a:r>
            <a:endParaRPr lang="en-US" sz="1800" dirty="0"/>
          </a:p>
        </p:txBody>
      </p:sp>
      <p:sp>
        <p:nvSpPr>
          <p:cNvPr id="18" name="Text 16"/>
          <p:cNvSpPr/>
          <p:nvPr/>
        </p:nvSpPr>
        <p:spPr>
          <a:xfrm>
            <a:off x="4709160" y="459028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code modulaire</a:t>
            </a:r>
            <a:endParaRPr lang="en-US" sz="1350" dirty="0"/>
          </a:p>
        </p:txBody>
      </p:sp>
      <p:sp>
        <p:nvSpPr>
          <p:cNvPr id="19" name="Shape 17"/>
          <p:cNvSpPr/>
          <p:nvPr/>
        </p:nvSpPr>
        <p:spPr>
          <a:xfrm>
            <a:off x="8229600" y="3749040"/>
            <a:ext cx="3520440" cy="169164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20" name="Text 18"/>
          <p:cNvSpPr/>
          <p:nvPr/>
        </p:nvSpPr>
        <p:spPr>
          <a:xfrm>
            <a:off x="8503920" y="4005072"/>
            <a:ext cx="3017520" cy="457200"/>
          </a:xfrm>
          <a:prstGeom prst="rect">
            <a:avLst/>
          </a:prstGeom>
          <a:noFill/>
          <a:ln/>
        </p:spPr>
        <p:txBody>
          <a:bodyPr wrap="square" rtlCol="0" anchor="ctr"/>
          <a:lstStyle/>
          <a:p>
            <a:pPr indent="0" marL="0">
              <a:buNone/>
            </a:pPr>
            <a:r>
              <a:rPr lang="en-US" sz="1800" b="1" dirty="0">
                <a:solidFill>
                  <a:srgbClr val="1B2D6B"/>
                </a:solidFill>
                <a:latin typeface="Cambria" pitchFamily="34" charset="0"/>
                <a:ea typeface="Cambria" pitchFamily="34" charset="-122"/>
                <a:cs typeface="Cambria" pitchFamily="34" charset="-120"/>
              </a:rPr>
              <a:t>Extensibilité</a:t>
            </a:r>
            <a:endParaRPr lang="en-US" sz="1800" dirty="0"/>
          </a:p>
        </p:txBody>
      </p:sp>
      <p:sp>
        <p:nvSpPr>
          <p:cNvPr id="21" name="Text 19"/>
          <p:cNvSpPr/>
          <p:nvPr/>
        </p:nvSpPr>
        <p:spPr>
          <a:xfrm>
            <a:off x="8503920" y="4590288"/>
            <a:ext cx="3017520" cy="548640"/>
          </a:xfrm>
          <a:prstGeom prst="rect">
            <a:avLst/>
          </a:prstGeom>
          <a:noFill/>
          <a:ln/>
        </p:spPr>
        <p:txBody>
          <a:bodyPr wrap="square" rtlCol="0" anchor="ctr"/>
          <a:lstStyle/>
          <a:p>
            <a:pPr indent="0" marL="0">
              <a:buNone/>
            </a:pPr>
            <a:r>
              <a:rPr lang="en-US" sz="1350" dirty="0">
                <a:solidFill>
                  <a:srgbClr val="56607D"/>
                </a:solidFill>
                <a:latin typeface="Calibri" pitchFamily="34" charset="0"/>
                <a:ea typeface="Calibri" pitchFamily="34" charset="-122"/>
                <a:cs typeface="Calibri" pitchFamily="34" charset="-120"/>
              </a:rPr>
              <a:t>ajout sans refonte</a:t>
            </a:r>
            <a:endParaRPr lang="en-US" sz="1350" dirty="0"/>
          </a:p>
        </p:txBody>
      </p:sp>
      <p:sp>
        <p:nvSpPr>
          <p:cNvPr id="22" name="Text 20"/>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23" name="Text 21"/>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08 · CONCEPTION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Diagramme de cas d'utilisation</a:t>
            </a:r>
            <a:endParaRPr lang="en-US" sz="3200" dirty="0"/>
          </a:p>
        </p:txBody>
      </p:sp>
      <p:sp>
        <p:nvSpPr>
          <p:cNvPr id="4" name="Shape 2"/>
          <p:cNvSpPr/>
          <p:nvPr/>
        </p:nvSpPr>
        <p:spPr>
          <a:xfrm>
            <a:off x="2926080" y="1691640"/>
            <a:ext cx="6309360" cy="4160520"/>
          </a:xfrm>
          <a:prstGeom prst="rect">
            <a:avLst/>
          </a:prstGeom>
          <a:solidFill>
            <a:srgbClr val="FFFFFF"/>
          </a:solidFill>
          <a:ln w="25400">
            <a:solidFill>
              <a:srgbClr val="1B2D6B"/>
            </a:solidFill>
            <a:prstDash val="solid"/>
          </a:ln>
        </p:spPr>
      </p:sp>
      <p:sp>
        <p:nvSpPr>
          <p:cNvPr id="5" name="Text 3"/>
          <p:cNvSpPr/>
          <p:nvPr/>
        </p:nvSpPr>
        <p:spPr>
          <a:xfrm>
            <a:off x="2926080" y="1783080"/>
            <a:ext cx="6309360" cy="320040"/>
          </a:xfrm>
          <a:prstGeom prst="rect">
            <a:avLst/>
          </a:prstGeom>
          <a:noFill/>
          <a:ln/>
        </p:spPr>
        <p:txBody>
          <a:bodyPr wrap="square" rtlCol="0" anchor="ctr"/>
          <a:lstStyle/>
          <a:p>
            <a:pPr algn="ctr" indent="0" marL="0">
              <a:buNone/>
            </a:pPr>
            <a:r>
              <a:rPr lang="en-US" sz="1200" b="1" dirty="0">
                <a:solidFill>
                  <a:srgbClr val="2C44A0"/>
                </a:solidFill>
                <a:latin typeface="Calibri" pitchFamily="34" charset="0"/>
                <a:ea typeface="Calibri" pitchFamily="34" charset="-122"/>
                <a:cs typeface="Calibri" pitchFamily="34" charset="-120"/>
              </a:rPr>
              <a:t>Système e-Boutique</a:t>
            </a:r>
            <a:endParaRPr lang="en-US" sz="1200" dirty="0"/>
          </a:p>
        </p:txBody>
      </p:sp>
      <p:sp>
        <p:nvSpPr>
          <p:cNvPr id="6" name="Shape 4"/>
          <p:cNvSpPr/>
          <p:nvPr/>
        </p:nvSpPr>
        <p:spPr>
          <a:xfrm>
            <a:off x="1170432" y="2286000"/>
            <a:ext cx="310896" cy="310896"/>
          </a:xfrm>
          <a:prstGeom prst="ellipse">
            <a:avLst/>
          </a:prstGeom>
          <a:solidFill>
            <a:srgbClr val="1B2D6B"/>
          </a:solidFill>
          <a:ln w="19050">
            <a:solidFill>
              <a:srgbClr val="141A2E"/>
            </a:solidFill>
            <a:prstDash val="solid"/>
          </a:ln>
        </p:spPr>
      </p:sp>
      <p:sp>
        <p:nvSpPr>
          <p:cNvPr id="7" name="Shape 5"/>
          <p:cNvSpPr/>
          <p:nvPr/>
        </p:nvSpPr>
        <p:spPr>
          <a:xfrm>
            <a:off x="1298448" y="2596896"/>
            <a:ext cx="54864" cy="384048"/>
          </a:xfrm>
          <a:prstGeom prst="rect">
            <a:avLst/>
          </a:prstGeom>
          <a:solidFill>
            <a:srgbClr val="1B2D6B"/>
          </a:solidFill>
          <a:ln/>
        </p:spPr>
      </p:sp>
      <p:sp>
        <p:nvSpPr>
          <p:cNvPr id="8" name="Shape 6"/>
          <p:cNvSpPr/>
          <p:nvPr/>
        </p:nvSpPr>
        <p:spPr>
          <a:xfrm>
            <a:off x="1051560" y="2724912"/>
            <a:ext cx="548640" cy="0"/>
          </a:xfrm>
          <a:prstGeom prst="line">
            <a:avLst/>
          </a:prstGeom>
          <a:noFill/>
          <a:ln w="25400">
            <a:solidFill>
              <a:srgbClr val="1B2D6B"/>
            </a:solidFill>
            <a:prstDash val="solid"/>
          </a:ln>
        </p:spPr>
      </p:sp>
      <p:sp>
        <p:nvSpPr>
          <p:cNvPr id="9" name="Text 7"/>
          <p:cNvSpPr/>
          <p:nvPr/>
        </p:nvSpPr>
        <p:spPr>
          <a:xfrm>
            <a:off x="685800" y="3035808"/>
            <a:ext cx="1280160" cy="320040"/>
          </a:xfrm>
          <a:prstGeom prst="rect">
            <a:avLst/>
          </a:prstGeom>
          <a:noFill/>
          <a:ln/>
        </p:spPr>
        <p:txBody>
          <a:bodyPr wrap="square" rtlCol="0" anchor="ctr"/>
          <a:lstStyle/>
          <a:p>
            <a:pPr algn="ctr" indent="0" marL="0">
              <a:buNone/>
            </a:pPr>
            <a:r>
              <a:rPr lang="en-US" sz="1250" b="1" dirty="0">
                <a:solidFill>
                  <a:srgbClr val="141A2E"/>
                </a:solidFill>
                <a:latin typeface="Calibri" pitchFamily="34" charset="0"/>
                <a:ea typeface="Calibri" pitchFamily="34" charset="-122"/>
                <a:cs typeface="Calibri" pitchFamily="34" charset="-120"/>
              </a:rPr>
              <a:t>Client</a:t>
            </a:r>
            <a:endParaRPr lang="en-US" sz="1250" dirty="0"/>
          </a:p>
        </p:txBody>
      </p:sp>
      <p:sp>
        <p:nvSpPr>
          <p:cNvPr id="10" name="Shape 8"/>
          <p:cNvSpPr/>
          <p:nvPr/>
        </p:nvSpPr>
        <p:spPr>
          <a:xfrm>
            <a:off x="1170432" y="4206240"/>
            <a:ext cx="310896" cy="310896"/>
          </a:xfrm>
          <a:prstGeom prst="ellipse">
            <a:avLst/>
          </a:prstGeom>
          <a:solidFill>
            <a:srgbClr val="1B2D6B"/>
          </a:solidFill>
          <a:ln w="19050">
            <a:solidFill>
              <a:srgbClr val="141A2E"/>
            </a:solidFill>
            <a:prstDash val="solid"/>
          </a:ln>
        </p:spPr>
      </p:sp>
      <p:sp>
        <p:nvSpPr>
          <p:cNvPr id="11" name="Shape 9"/>
          <p:cNvSpPr/>
          <p:nvPr/>
        </p:nvSpPr>
        <p:spPr>
          <a:xfrm>
            <a:off x="1298448" y="4517136"/>
            <a:ext cx="54864" cy="384048"/>
          </a:xfrm>
          <a:prstGeom prst="rect">
            <a:avLst/>
          </a:prstGeom>
          <a:solidFill>
            <a:srgbClr val="1B2D6B"/>
          </a:solidFill>
          <a:ln/>
        </p:spPr>
      </p:sp>
      <p:sp>
        <p:nvSpPr>
          <p:cNvPr id="12" name="Shape 10"/>
          <p:cNvSpPr/>
          <p:nvPr/>
        </p:nvSpPr>
        <p:spPr>
          <a:xfrm>
            <a:off x="1051560" y="4645152"/>
            <a:ext cx="548640" cy="0"/>
          </a:xfrm>
          <a:prstGeom prst="line">
            <a:avLst/>
          </a:prstGeom>
          <a:noFill/>
          <a:ln w="25400">
            <a:solidFill>
              <a:srgbClr val="1B2D6B"/>
            </a:solidFill>
            <a:prstDash val="solid"/>
          </a:ln>
        </p:spPr>
      </p:sp>
      <p:sp>
        <p:nvSpPr>
          <p:cNvPr id="13" name="Text 11"/>
          <p:cNvSpPr/>
          <p:nvPr/>
        </p:nvSpPr>
        <p:spPr>
          <a:xfrm>
            <a:off x="685800" y="4956048"/>
            <a:ext cx="1280160" cy="320040"/>
          </a:xfrm>
          <a:prstGeom prst="rect">
            <a:avLst/>
          </a:prstGeom>
          <a:noFill/>
          <a:ln/>
        </p:spPr>
        <p:txBody>
          <a:bodyPr wrap="square" rtlCol="0" anchor="ctr"/>
          <a:lstStyle/>
          <a:p>
            <a:pPr algn="ctr" indent="0" marL="0">
              <a:buNone/>
            </a:pPr>
            <a:r>
              <a:rPr lang="en-US" sz="1250" b="1" dirty="0">
                <a:solidFill>
                  <a:srgbClr val="141A2E"/>
                </a:solidFill>
                <a:latin typeface="Calibri" pitchFamily="34" charset="0"/>
                <a:ea typeface="Calibri" pitchFamily="34" charset="-122"/>
                <a:cs typeface="Calibri" pitchFamily="34" charset="-120"/>
              </a:rPr>
              <a:t>Visiteur</a:t>
            </a:r>
            <a:endParaRPr lang="en-US" sz="1250" dirty="0"/>
          </a:p>
        </p:txBody>
      </p:sp>
      <p:sp>
        <p:nvSpPr>
          <p:cNvPr id="14" name="Shape 12"/>
          <p:cNvSpPr/>
          <p:nvPr/>
        </p:nvSpPr>
        <p:spPr>
          <a:xfrm>
            <a:off x="10771632" y="2286000"/>
            <a:ext cx="310896" cy="310896"/>
          </a:xfrm>
          <a:prstGeom prst="ellipse">
            <a:avLst/>
          </a:prstGeom>
          <a:solidFill>
            <a:srgbClr val="1B2D6B"/>
          </a:solidFill>
          <a:ln w="19050">
            <a:solidFill>
              <a:srgbClr val="141A2E"/>
            </a:solidFill>
            <a:prstDash val="solid"/>
          </a:ln>
        </p:spPr>
      </p:sp>
      <p:sp>
        <p:nvSpPr>
          <p:cNvPr id="15" name="Shape 13"/>
          <p:cNvSpPr/>
          <p:nvPr/>
        </p:nvSpPr>
        <p:spPr>
          <a:xfrm>
            <a:off x="10899648" y="2596896"/>
            <a:ext cx="54864" cy="384048"/>
          </a:xfrm>
          <a:prstGeom prst="rect">
            <a:avLst/>
          </a:prstGeom>
          <a:solidFill>
            <a:srgbClr val="1B2D6B"/>
          </a:solidFill>
          <a:ln/>
        </p:spPr>
      </p:sp>
      <p:sp>
        <p:nvSpPr>
          <p:cNvPr id="16" name="Shape 14"/>
          <p:cNvSpPr/>
          <p:nvPr/>
        </p:nvSpPr>
        <p:spPr>
          <a:xfrm>
            <a:off x="10652760" y="2724912"/>
            <a:ext cx="548640" cy="0"/>
          </a:xfrm>
          <a:prstGeom prst="line">
            <a:avLst/>
          </a:prstGeom>
          <a:noFill/>
          <a:ln w="25400">
            <a:solidFill>
              <a:srgbClr val="1B2D6B"/>
            </a:solidFill>
            <a:prstDash val="solid"/>
          </a:ln>
        </p:spPr>
      </p:sp>
      <p:sp>
        <p:nvSpPr>
          <p:cNvPr id="17" name="Text 15"/>
          <p:cNvSpPr/>
          <p:nvPr/>
        </p:nvSpPr>
        <p:spPr>
          <a:xfrm>
            <a:off x="10287000" y="3035808"/>
            <a:ext cx="1280160" cy="320040"/>
          </a:xfrm>
          <a:prstGeom prst="rect">
            <a:avLst/>
          </a:prstGeom>
          <a:noFill/>
          <a:ln/>
        </p:spPr>
        <p:txBody>
          <a:bodyPr wrap="square" rtlCol="0" anchor="ctr"/>
          <a:lstStyle/>
          <a:p>
            <a:pPr algn="ctr" indent="0" marL="0">
              <a:buNone/>
            </a:pPr>
            <a:r>
              <a:rPr lang="en-US" sz="1250" b="1" dirty="0">
                <a:solidFill>
                  <a:srgbClr val="141A2E"/>
                </a:solidFill>
                <a:latin typeface="Calibri" pitchFamily="34" charset="0"/>
                <a:ea typeface="Calibri" pitchFamily="34" charset="-122"/>
                <a:cs typeface="Calibri" pitchFamily="34" charset="-120"/>
              </a:rPr>
              <a:t>Agent</a:t>
            </a:r>
            <a:endParaRPr lang="en-US" sz="1250" dirty="0"/>
          </a:p>
        </p:txBody>
      </p:sp>
      <p:sp>
        <p:nvSpPr>
          <p:cNvPr id="18" name="Shape 16"/>
          <p:cNvSpPr/>
          <p:nvPr/>
        </p:nvSpPr>
        <p:spPr>
          <a:xfrm>
            <a:off x="10771632" y="4206240"/>
            <a:ext cx="310896" cy="310896"/>
          </a:xfrm>
          <a:prstGeom prst="ellipse">
            <a:avLst/>
          </a:prstGeom>
          <a:solidFill>
            <a:srgbClr val="1B2D6B"/>
          </a:solidFill>
          <a:ln w="19050">
            <a:solidFill>
              <a:srgbClr val="141A2E"/>
            </a:solidFill>
            <a:prstDash val="solid"/>
          </a:ln>
        </p:spPr>
      </p:sp>
      <p:sp>
        <p:nvSpPr>
          <p:cNvPr id="19" name="Shape 17"/>
          <p:cNvSpPr/>
          <p:nvPr/>
        </p:nvSpPr>
        <p:spPr>
          <a:xfrm>
            <a:off x="10899648" y="4517136"/>
            <a:ext cx="54864" cy="384048"/>
          </a:xfrm>
          <a:prstGeom prst="rect">
            <a:avLst/>
          </a:prstGeom>
          <a:solidFill>
            <a:srgbClr val="1B2D6B"/>
          </a:solidFill>
          <a:ln/>
        </p:spPr>
      </p:sp>
      <p:sp>
        <p:nvSpPr>
          <p:cNvPr id="20" name="Shape 18"/>
          <p:cNvSpPr/>
          <p:nvPr/>
        </p:nvSpPr>
        <p:spPr>
          <a:xfrm>
            <a:off x="10652760" y="4645152"/>
            <a:ext cx="548640" cy="0"/>
          </a:xfrm>
          <a:prstGeom prst="line">
            <a:avLst/>
          </a:prstGeom>
          <a:noFill/>
          <a:ln w="25400">
            <a:solidFill>
              <a:srgbClr val="1B2D6B"/>
            </a:solidFill>
            <a:prstDash val="solid"/>
          </a:ln>
        </p:spPr>
      </p:sp>
      <p:sp>
        <p:nvSpPr>
          <p:cNvPr id="21" name="Text 19"/>
          <p:cNvSpPr/>
          <p:nvPr/>
        </p:nvSpPr>
        <p:spPr>
          <a:xfrm>
            <a:off x="10287000" y="4956048"/>
            <a:ext cx="1280160" cy="320040"/>
          </a:xfrm>
          <a:prstGeom prst="rect">
            <a:avLst/>
          </a:prstGeom>
          <a:noFill/>
          <a:ln/>
        </p:spPr>
        <p:txBody>
          <a:bodyPr wrap="square" rtlCol="0" anchor="ctr"/>
          <a:lstStyle/>
          <a:p>
            <a:pPr algn="ctr" indent="0" marL="0">
              <a:buNone/>
            </a:pPr>
            <a:r>
              <a:rPr lang="en-US" sz="1250" b="1" dirty="0">
                <a:solidFill>
                  <a:srgbClr val="141A2E"/>
                </a:solidFill>
                <a:latin typeface="Calibri" pitchFamily="34" charset="0"/>
                <a:ea typeface="Calibri" pitchFamily="34" charset="-122"/>
                <a:cs typeface="Calibri" pitchFamily="34" charset="-120"/>
              </a:rPr>
              <a:t>Admin</a:t>
            </a:r>
            <a:endParaRPr lang="en-US" sz="1250" dirty="0"/>
          </a:p>
        </p:txBody>
      </p:sp>
      <p:sp>
        <p:nvSpPr>
          <p:cNvPr id="22" name="Shape 20"/>
          <p:cNvSpPr/>
          <p:nvPr/>
        </p:nvSpPr>
        <p:spPr>
          <a:xfrm>
            <a:off x="3246120" y="2057400"/>
            <a:ext cx="2743200" cy="658368"/>
          </a:xfrm>
          <a:prstGeom prst="ellipse">
            <a:avLst/>
          </a:prstGeom>
          <a:solidFill>
            <a:srgbClr val="EAF0FC"/>
          </a:solidFill>
          <a:ln w="19050">
            <a:solidFill>
              <a:srgbClr val="1B2D6B"/>
            </a:solidFill>
            <a:prstDash val="solid"/>
          </a:ln>
        </p:spPr>
      </p:sp>
      <p:sp>
        <p:nvSpPr>
          <p:cNvPr id="23" name="Text 21"/>
          <p:cNvSpPr/>
          <p:nvPr/>
        </p:nvSpPr>
        <p:spPr>
          <a:xfrm>
            <a:off x="3246120" y="2057400"/>
            <a:ext cx="2743200" cy="658368"/>
          </a:xfrm>
          <a:prstGeom prst="rect">
            <a:avLst/>
          </a:prstGeom>
          <a:noFill/>
          <a:ln/>
        </p:spPr>
        <p:txBody>
          <a:bodyPr wrap="square" rtlCol="0" anchor="ctr"/>
          <a:lstStyle/>
          <a:p>
            <a:pPr algn="ctr" indent="0" marL="0">
              <a:buNone/>
            </a:pPr>
            <a:r>
              <a:rPr lang="en-US" sz="1200" b="1" dirty="0">
                <a:solidFill>
                  <a:srgbClr val="1B2D6B"/>
                </a:solidFill>
                <a:latin typeface="Calibri" pitchFamily="34" charset="0"/>
                <a:ea typeface="Calibri" pitchFamily="34" charset="-122"/>
                <a:cs typeface="Calibri" pitchFamily="34" charset="-120"/>
              </a:rPr>
              <a:t>Acheter / Déposer</a:t>
            </a:r>
            <a:endParaRPr lang="en-US" sz="1200" dirty="0"/>
          </a:p>
        </p:txBody>
      </p:sp>
      <p:sp>
        <p:nvSpPr>
          <p:cNvPr id="24" name="Shape 22"/>
          <p:cNvSpPr/>
          <p:nvPr/>
        </p:nvSpPr>
        <p:spPr>
          <a:xfrm>
            <a:off x="3246120" y="2926080"/>
            <a:ext cx="2743200" cy="658368"/>
          </a:xfrm>
          <a:prstGeom prst="ellipse">
            <a:avLst/>
          </a:prstGeom>
          <a:solidFill>
            <a:srgbClr val="EAF0FC"/>
          </a:solidFill>
          <a:ln w="19050">
            <a:solidFill>
              <a:srgbClr val="1B2D6B"/>
            </a:solidFill>
            <a:prstDash val="solid"/>
          </a:ln>
        </p:spPr>
      </p:sp>
      <p:sp>
        <p:nvSpPr>
          <p:cNvPr id="25" name="Text 23"/>
          <p:cNvSpPr/>
          <p:nvPr/>
        </p:nvSpPr>
        <p:spPr>
          <a:xfrm>
            <a:off x="3246120" y="2926080"/>
            <a:ext cx="2743200" cy="658368"/>
          </a:xfrm>
          <a:prstGeom prst="rect">
            <a:avLst/>
          </a:prstGeom>
          <a:noFill/>
          <a:ln/>
        </p:spPr>
        <p:txBody>
          <a:bodyPr wrap="square" rtlCol="0" anchor="ctr"/>
          <a:lstStyle/>
          <a:p>
            <a:pPr algn="ctr" indent="0" marL="0">
              <a:buNone/>
            </a:pPr>
            <a:r>
              <a:rPr lang="en-US" sz="1200" b="1" dirty="0">
                <a:solidFill>
                  <a:srgbClr val="1B2D6B"/>
                </a:solidFill>
                <a:latin typeface="Calibri" pitchFamily="34" charset="0"/>
                <a:ea typeface="Calibri" pitchFamily="34" charset="-122"/>
                <a:cs typeface="Calibri" pitchFamily="34" charset="-120"/>
              </a:rPr>
              <a:t>Suivre un colis</a:t>
            </a:r>
            <a:endParaRPr lang="en-US" sz="1200" dirty="0"/>
          </a:p>
        </p:txBody>
      </p:sp>
      <p:sp>
        <p:nvSpPr>
          <p:cNvPr id="26" name="Shape 24"/>
          <p:cNvSpPr/>
          <p:nvPr/>
        </p:nvSpPr>
        <p:spPr>
          <a:xfrm>
            <a:off x="3246120" y="3794760"/>
            <a:ext cx="2743200" cy="658368"/>
          </a:xfrm>
          <a:prstGeom prst="ellipse">
            <a:avLst/>
          </a:prstGeom>
          <a:solidFill>
            <a:srgbClr val="EAF0FC"/>
          </a:solidFill>
          <a:ln w="19050">
            <a:solidFill>
              <a:srgbClr val="1B2D6B"/>
            </a:solidFill>
            <a:prstDash val="solid"/>
          </a:ln>
        </p:spPr>
      </p:sp>
      <p:sp>
        <p:nvSpPr>
          <p:cNvPr id="27" name="Text 25"/>
          <p:cNvSpPr/>
          <p:nvPr/>
        </p:nvSpPr>
        <p:spPr>
          <a:xfrm>
            <a:off x="3246120" y="3794760"/>
            <a:ext cx="2743200" cy="658368"/>
          </a:xfrm>
          <a:prstGeom prst="rect">
            <a:avLst/>
          </a:prstGeom>
          <a:noFill/>
          <a:ln/>
        </p:spPr>
        <p:txBody>
          <a:bodyPr wrap="square" rtlCol="0" anchor="ctr"/>
          <a:lstStyle/>
          <a:p>
            <a:pPr algn="ctr" indent="0" marL="0">
              <a:buNone/>
            </a:pPr>
            <a:r>
              <a:rPr lang="en-US" sz="1200" b="1" dirty="0">
                <a:solidFill>
                  <a:srgbClr val="1B2D6B"/>
                </a:solidFill>
                <a:latin typeface="Calibri" pitchFamily="34" charset="0"/>
                <a:ea typeface="Calibri" pitchFamily="34" charset="-122"/>
                <a:cs typeface="Calibri" pitchFamily="34" charset="-120"/>
              </a:rPr>
              <a:t>Payer (e-Dinar)</a:t>
            </a:r>
            <a:endParaRPr lang="en-US" sz="1200" dirty="0"/>
          </a:p>
        </p:txBody>
      </p:sp>
      <p:sp>
        <p:nvSpPr>
          <p:cNvPr id="28" name="Shape 26"/>
          <p:cNvSpPr/>
          <p:nvPr/>
        </p:nvSpPr>
        <p:spPr>
          <a:xfrm>
            <a:off x="6172200" y="2057400"/>
            <a:ext cx="2743200" cy="658368"/>
          </a:xfrm>
          <a:prstGeom prst="ellipse">
            <a:avLst/>
          </a:prstGeom>
          <a:solidFill>
            <a:srgbClr val="EAF0FC"/>
          </a:solidFill>
          <a:ln w="19050">
            <a:solidFill>
              <a:srgbClr val="1B2D6B"/>
            </a:solidFill>
            <a:prstDash val="solid"/>
          </a:ln>
        </p:spPr>
      </p:sp>
      <p:sp>
        <p:nvSpPr>
          <p:cNvPr id="29" name="Text 27"/>
          <p:cNvSpPr/>
          <p:nvPr/>
        </p:nvSpPr>
        <p:spPr>
          <a:xfrm>
            <a:off x="6172200" y="2057400"/>
            <a:ext cx="2743200" cy="658368"/>
          </a:xfrm>
          <a:prstGeom prst="rect">
            <a:avLst/>
          </a:prstGeom>
          <a:noFill/>
          <a:ln/>
        </p:spPr>
        <p:txBody>
          <a:bodyPr wrap="square" rtlCol="0" anchor="ctr"/>
          <a:lstStyle/>
          <a:p>
            <a:pPr algn="ctr" indent="0" marL="0">
              <a:buNone/>
            </a:pPr>
            <a:r>
              <a:rPr lang="en-US" sz="1200" b="1" dirty="0">
                <a:solidFill>
                  <a:srgbClr val="1B2D6B"/>
                </a:solidFill>
                <a:latin typeface="Calibri" pitchFamily="34" charset="0"/>
                <a:ea typeface="Calibri" pitchFamily="34" charset="-122"/>
                <a:cs typeface="Calibri" pitchFamily="34" charset="-120"/>
              </a:rPr>
              <a:t>Changer statut colis</a:t>
            </a:r>
            <a:endParaRPr lang="en-US" sz="1200" dirty="0"/>
          </a:p>
        </p:txBody>
      </p:sp>
      <p:sp>
        <p:nvSpPr>
          <p:cNvPr id="30" name="Shape 28"/>
          <p:cNvSpPr/>
          <p:nvPr/>
        </p:nvSpPr>
        <p:spPr>
          <a:xfrm>
            <a:off x="6172200" y="2926080"/>
            <a:ext cx="2743200" cy="658368"/>
          </a:xfrm>
          <a:prstGeom prst="ellipse">
            <a:avLst/>
          </a:prstGeom>
          <a:solidFill>
            <a:srgbClr val="EAF0FC"/>
          </a:solidFill>
          <a:ln w="19050">
            <a:solidFill>
              <a:srgbClr val="1B2D6B"/>
            </a:solidFill>
            <a:prstDash val="solid"/>
          </a:ln>
        </p:spPr>
      </p:sp>
      <p:sp>
        <p:nvSpPr>
          <p:cNvPr id="31" name="Text 29"/>
          <p:cNvSpPr/>
          <p:nvPr/>
        </p:nvSpPr>
        <p:spPr>
          <a:xfrm>
            <a:off x="6172200" y="2926080"/>
            <a:ext cx="2743200" cy="658368"/>
          </a:xfrm>
          <a:prstGeom prst="rect">
            <a:avLst/>
          </a:prstGeom>
          <a:noFill/>
          <a:ln/>
        </p:spPr>
        <p:txBody>
          <a:bodyPr wrap="square" rtlCol="0" anchor="ctr"/>
          <a:lstStyle/>
          <a:p>
            <a:pPr algn="ctr" indent="0" marL="0">
              <a:buNone/>
            </a:pPr>
            <a:r>
              <a:rPr lang="en-US" sz="1200" b="1" dirty="0">
                <a:solidFill>
                  <a:srgbClr val="1B2D6B"/>
                </a:solidFill>
                <a:latin typeface="Calibri" pitchFamily="34" charset="0"/>
                <a:ea typeface="Calibri" pitchFamily="34" charset="-122"/>
                <a:cs typeface="Calibri" pitchFamily="34" charset="-120"/>
              </a:rPr>
              <a:t>Gérer (users, bureaux)</a:t>
            </a:r>
            <a:endParaRPr lang="en-US" sz="1200" dirty="0"/>
          </a:p>
        </p:txBody>
      </p:sp>
      <p:sp>
        <p:nvSpPr>
          <p:cNvPr id="32" name="Shape 30"/>
          <p:cNvSpPr/>
          <p:nvPr/>
        </p:nvSpPr>
        <p:spPr>
          <a:xfrm>
            <a:off x="6172200" y="3794760"/>
            <a:ext cx="2743200" cy="658368"/>
          </a:xfrm>
          <a:prstGeom prst="ellipse">
            <a:avLst/>
          </a:prstGeom>
          <a:solidFill>
            <a:srgbClr val="E3F2EC"/>
          </a:solidFill>
          <a:ln w="19050">
            <a:solidFill>
              <a:srgbClr val="0F6E56"/>
            </a:solidFill>
            <a:prstDash val="solid"/>
          </a:ln>
        </p:spPr>
      </p:sp>
      <p:sp>
        <p:nvSpPr>
          <p:cNvPr id="33" name="Text 31"/>
          <p:cNvSpPr/>
          <p:nvPr/>
        </p:nvSpPr>
        <p:spPr>
          <a:xfrm>
            <a:off x="6172200" y="3794760"/>
            <a:ext cx="2743200" cy="658368"/>
          </a:xfrm>
          <a:prstGeom prst="rect">
            <a:avLst/>
          </a:prstGeom>
          <a:noFill/>
          <a:ln/>
        </p:spPr>
        <p:txBody>
          <a:bodyPr wrap="square" rtlCol="0" anchor="ctr"/>
          <a:lstStyle/>
          <a:p>
            <a:pPr algn="ctr" indent="0" marL="0">
              <a:buNone/>
            </a:pPr>
            <a:r>
              <a:rPr lang="en-US" sz="1200" b="1" dirty="0">
                <a:solidFill>
                  <a:srgbClr val="0F6E56"/>
                </a:solidFill>
                <a:latin typeface="Calibri" pitchFamily="34" charset="0"/>
                <a:ea typeface="Calibri" pitchFamily="34" charset="-122"/>
                <a:cs typeface="Calibri" pitchFamily="34" charset="-120"/>
              </a:rPr>
              <a:t>Authentification</a:t>
            </a:r>
            <a:endParaRPr lang="en-US" sz="1200" dirty="0"/>
          </a:p>
        </p:txBody>
      </p:sp>
      <p:sp>
        <p:nvSpPr>
          <p:cNvPr id="34" name="Text 32"/>
          <p:cNvSpPr/>
          <p:nvPr/>
        </p:nvSpPr>
        <p:spPr>
          <a:xfrm>
            <a:off x="2926080" y="5943600"/>
            <a:ext cx="6309360" cy="274320"/>
          </a:xfrm>
          <a:prstGeom prst="rect">
            <a:avLst/>
          </a:prstGeom>
          <a:noFill/>
          <a:ln/>
        </p:spPr>
        <p:txBody>
          <a:bodyPr wrap="square" rtlCol="0" anchor="ctr"/>
          <a:lstStyle/>
          <a:p>
            <a:pPr algn="ctr" indent="0" marL="0">
              <a:buNone/>
            </a:pPr>
            <a:r>
              <a:rPr lang="en-US" sz="1050" i="1" dirty="0">
                <a:solidFill>
                  <a:srgbClr val="0F6E56"/>
                </a:solidFill>
                <a:latin typeface="Calibri" pitchFamily="34" charset="0"/>
                <a:ea typeface="Calibri" pitchFamily="34" charset="-122"/>
                <a:cs typeface="Calibri" pitchFamily="34" charset="-120"/>
              </a:rPr>
              <a:t>« include » Authentification pour les cas nécessitant une connexion</a:t>
            </a:r>
            <a:endParaRPr lang="en-US" sz="1050" dirty="0"/>
          </a:p>
        </p:txBody>
      </p:sp>
      <p:sp>
        <p:nvSpPr>
          <p:cNvPr id="35" name="Text 33"/>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36" name="Text 34"/>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09 · CONCEPTION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Diagramme de classes d'analyse</a:t>
            </a:r>
            <a:endParaRPr lang="en-US" sz="3200" dirty="0"/>
          </a:p>
        </p:txBody>
      </p:sp>
      <p:sp>
        <p:nvSpPr>
          <p:cNvPr id="4" name="Shape 2"/>
          <p:cNvSpPr/>
          <p:nvPr/>
        </p:nvSpPr>
        <p:spPr>
          <a:xfrm>
            <a:off x="685800" y="1828800"/>
            <a:ext cx="2743200" cy="1764792"/>
          </a:xfrm>
          <a:prstGeom prst="rect">
            <a:avLst/>
          </a:prstGeom>
          <a:solidFill>
            <a:srgbClr val="FFFFFF"/>
          </a:solidFill>
          <a:ln w="25400">
            <a:solidFill>
              <a:srgbClr val="141A2E"/>
            </a:solidFill>
            <a:prstDash val="solid"/>
          </a:ln>
          <a:effectLst>
            <a:outerShdw sx="100000" sy="100000" kx="0" ky="0" algn="bl" rotWithShape="0" blurRad="101600" dist="63500" dir="2700000">
              <a:srgbClr val="F2C200">
                <a:alpha val="100000"/>
              </a:srgbClr>
            </a:outerShdw>
          </a:effectLst>
        </p:spPr>
      </p:sp>
      <p:sp>
        <p:nvSpPr>
          <p:cNvPr id="5" name="Shape 3"/>
          <p:cNvSpPr/>
          <p:nvPr/>
        </p:nvSpPr>
        <p:spPr>
          <a:xfrm>
            <a:off x="685800" y="1828800"/>
            <a:ext cx="2743200" cy="411480"/>
          </a:xfrm>
          <a:prstGeom prst="rect">
            <a:avLst/>
          </a:prstGeom>
          <a:solidFill>
            <a:srgbClr val="1B2D6B"/>
          </a:solidFill>
          <a:ln w="25400">
            <a:solidFill>
              <a:srgbClr val="141A2E"/>
            </a:solidFill>
            <a:prstDash val="solid"/>
          </a:ln>
        </p:spPr>
      </p:sp>
      <p:sp>
        <p:nvSpPr>
          <p:cNvPr id="6" name="Text 4"/>
          <p:cNvSpPr/>
          <p:nvPr/>
        </p:nvSpPr>
        <p:spPr>
          <a:xfrm>
            <a:off x="685800" y="1828800"/>
            <a:ext cx="274320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User</a:t>
            </a:r>
            <a:endParaRPr lang="en-US" sz="1400" dirty="0"/>
          </a:p>
        </p:txBody>
      </p:sp>
      <p:sp>
        <p:nvSpPr>
          <p:cNvPr id="7" name="Text 5"/>
          <p:cNvSpPr/>
          <p:nvPr/>
        </p:nvSpPr>
        <p:spPr>
          <a:xfrm>
            <a:off x="822960" y="2286000"/>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id</a:t>
            </a:r>
            <a:endParaRPr lang="en-US" sz="1150" dirty="0"/>
          </a:p>
        </p:txBody>
      </p:sp>
      <p:sp>
        <p:nvSpPr>
          <p:cNvPr id="8" name="Text 6"/>
          <p:cNvSpPr/>
          <p:nvPr/>
        </p:nvSpPr>
        <p:spPr>
          <a:xfrm>
            <a:off x="822960" y="2578608"/>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email</a:t>
            </a:r>
            <a:endParaRPr lang="en-US" sz="1150" dirty="0"/>
          </a:p>
        </p:txBody>
      </p:sp>
      <p:sp>
        <p:nvSpPr>
          <p:cNvPr id="9" name="Text 7"/>
          <p:cNvSpPr/>
          <p:nvPr/>
        </p:nvSpPr>
        <p:spPr>
          <a:xfrm>
            <a:off x="822960" y="2871216"/>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role</a:t>
            </a:r>
            <a:endParaRPr lang="en-US" sz="1150" dirty="0"/>
          </a:p>
        </p:txBody>
      </p:sp>
      <p:sp>
        <p:nvSpPr>
          <p:cNvPr id="10" name="Text 8"/>
          <p:cNvSpPr/>
          <p:nvPr/>
        </p:nvSpPr>
        <p:spPr>
          <a:xfrm>
            <a:off x="822960" y="3163824"/>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twofaEnabled</a:t>
            </a:r>
            <a:endParaRPr lang="en-US" sz="1150" dirty="0"/>
          </a:p>
        </p:txBody>
      </p:sp>
      <p:sp>
        <p:nvSpPr>
          <p:cNvPr id="11" name="Shape 9"/>
          <p:cNvSpPr/>
          <p:nvPr/>
        </p:nvSpPr>
        <p:spPr>
          <a:xfrm>
            <a:off x="4709160" y="1783080"/>
            <a:ext cx="2743200" cy="1764792"/>
          </a:xfrm>
          <a:prstGeom prst="rect">
            <a:avLst/>
          </a:prstGeom>
          <a:solidFill>
            <a:srgbClr val="FFFFFF"/>
          </a:solidFill>
          <a:ln w="25400">
            <a:solidFill>
              <a:srgbClr val="141A2E"/>
            </a:solidFill>
            <a:prstDash val="solid"/>
          </a:ln>
          <a:effectLst>
            <a:outerShdw sx="100000" sy="100000" kx="0" ky="0" algn="bl" rotWithShape="0" blurRad="101600" dist="63500" dir="2700000">
              <a:srgbClr val="F2C200">
                <a:alpha val="100000"/>
              </a:srgbClr>
            </a:outerShdw>
          </a:effectLst>
        </p:spPr>
      </p:sp>
      <p:sp>
        <p:nvSpPr>
          <p:cNvPr id="12" name="Shape 10"/>
          <p:cNvSpPr/>
          <p:nvPr/>
        </p:nvSpPr>
        <p:spPr>
          <a:xfrm>
            <a:off x="4709160" y="1783080"/>
            <a:ext cx="2743200" cy="411480"/>
          </a:xfrm>
          <a:prstGeom prst="rect">
            <a:avLst/>
          </a:prstGeom>
          <a:solidFill>
            <a:srgbClr val="1B2D6B"/>
          </a:solidFill>
          <a:ln w="25400">
            <a:solidFill>
              <a:srgbClr val="141A2E"/>
            </a:solidFill>
            <a:prstDash val="solid"/>
          </a:ln>
        </p:spPr>
      </p:sp>
      <p:sp>
        <p:nvSpPr>
          <p:cNvPr id="13" name="Text 11"/>
          <p:cNvSpPr/>
          <p:nvPr/>
        </p:nvSpPr>
        <p:spPr>
          <a:xfrm>
            <a:off x="4709160" y="1783080"/>
            <a:ext cx="274320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Order</a:t>
            </a:r>
            <a:endParaRPr lang="en-US" sz="1400" dirty="0"/>
          </a:p>
        </p:txBody>
      </p:sp>
      <p:sp>
        <p:nvSpPr>
          <p:cNvPr id="14" name="Text 12"/>
          <p:cNvSpPr/>
          <p:nvPr/>
        </p:nvSpPr>
        <p:spPr>
          <a:xfrm>
            <a:off x="4846320" y="2240280"/>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reference</a:t>
            </a:r>
            <a:endParaRPr lang="en-US" sz="1150" dirty="0"/>
          </a:p>
        </p:txBody>
      </p:sp>
      <p:sp>
        <p:nvSpPr>
          <p:cNvPr id="15" name="Text 13"/>
          <p:cNvSpPr/>
          <p:nvPr/>
        </p:nvSpPr>
        <p:spPr>
          <a:xfrm>
            <a:off x="4846320" y="2532888"/>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status</a:t>
            </a:r>
            <a:endParaRPr lang="en-US" sz="1150" dirty="0"/>
          </a:p>
        </p:txBody>
      </p:sp>
      <p:sp>
        <p:nvSpPr>
          <p:cNvPr id="16" name="Text 14"/>
          <p:cNvSpPr/>
          <p:nvPr/>
        </p:nvSpPr>
        <p:spPr>
          <a:xfrm>
            <a:off x="4846320" y="2825496"/>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amount</a:t>
            </a:r>
            <a:endParaRPr lang="en-US" sz="1150" dirty="0"/>
          </a:p>
        </p:txBody>
      </p:sp>
      <p:sp>
        <p:nvSpPr>
          <p:cNvPr id="17" name="Text 15"/>
          <p:cNvSpPr/>
          <p:nvPr/>
        </p:nvSpPr>
        <p:spPr>
          <a:xfrm>
            <a:off x="4846320" y="3118104"/>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bureauId</a:t>
            </a:r>
            <a:endParaRPr lang="en-US" sz="1150" dirty="0"/>
          </a:p>
        </p:txBody>
      </p:sp>
      <p:sp>
        <p:nvSpPr>
          <p:cNvPr id="18" name="Shape 16"/>
          <p:cNvSpPr/>
          <p:nvPr/>
        </p:nvSpPr>
        <p:spPr>
          <a:xfrm>
            <a:off x="8732520" y="1828800"/>
            <a:ext cx="2743200" cy="1472184"/>
          </a:xfrm>
          <a:prstGeom prst="rect">
            <a:avLst/>
          </a:prstGeom>
          <a:solidFill>
            <a:srgbClr val="FFFFFF"/>
          </a:solidFill>
          <a:ln w="25400">
            <a:solidFill>
              <a:srgbClr val="141A2E"/>
            </a:solidFill>
            <a:prstDash val="solid"/>
          </a:ln>
          <a:effectLst>
            <a:outerShdw sx="100000" sy="100000" kx="0" ky="0" algn="bl" rotWithShape="0" blurRad="101600" dist="63500" dir="2700000">
              <a:srgbClr val="F2C200">
                <a:alpha val="100000"/>
              </a:srgbClr>
            </a:outerShdw>
          </a:effectLst>
        </p:spPr>
      </p:sp>
      <p:sp>
        <p:nvSpPr>
          <p:cNvPr id="19" name="Shape 17"/>
          <p:cNvSpPr/>
          <p:nvPr/>
        </p:nvSpPr>
        <p:spPr>
          <a:xfrm>
            <a:off x="8732520" y="1828800"/>
            <a:ext cx="2743200" cy="411480"/>
          </a:xfrm>
          <a:prstGeom prst="rect">
            <a:avLst/>
          </a:prstGeom>
          <a:solidFill>
            <a:srgbClr val="1B2D6B"/>
          </a:solidFill>
          <a:ln w="25400">
            <a:solidFill>
              <a:srgbClr val="141A2E"/>
            </a:solidFill>
            <a:prstDash val="solid"/>
          </a:ln>
        </p:spPr>
      </p:sp>
      <p:sp>
        <p:nvSpPr>
          <p:cNvPr id="20" name="Text 18"/>
          <p:cNvSpPr/>
          <p:nvPr/>
        </p:nvSpPr>
        <p:spPr>
          <a:xfrm>
            <a:off x="8732520" y="1828800"/>
            <a:ext cx="274320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Product</a:t>
            </a:r>
            <a:endParaRPr lang="en-US" sz="1400" dirty="0"/>
          </a:p>
        </p:txBody>
      </p:sp>
      <p:sp>
        <p:nvSpPr>
          <p:cNvPr id="21" name="Text 19"/>
          <p:cNvSpPr/>
          <p:nvPr/>
        </p:nvSpPr>
        <p:spPr>
          <a:xfrm>
            <a:off x="8869680" y="2286000"/>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name</a:t>
            </a:r>
            <a:endParaRPr lang="en-US" sz="1150" dirty="0"/>
          </a:p>
        </p:txBody>
      </p:sp>
      <p:sp>
        <p:nvSpPr>
          <p:cNvPr id="22" name="Text 20"/>
          <p:cNvSpPr/>
          <p:nvPr/>
        </p:nvSpPr>
        <p:spPr>
          <a:xfrm>
            <a:off x="8869680" y="2578608"/>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category</a:t>
            </a:r>
            <a:endParaRPr lang="en-US" sz="1150" dirty="0"/>
          </a:p>
        </p:txBody>
      </p:sp>
      <p:sp>
        <p:nvSpPr>
          <p:cNvPr id="23" name="Text 21"/>
          <p:cNvSpPr/>
          <p:nvPr/>
        </p:nvSpPr>
        <p:spPr>
          <a:xfrm>
            <a:off x="8869680" y="2871216"/>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price</a:t>
            </a:r>
            <a:endParaRPr lang="en-US" sz="1150" dirty="0"/>
          </a:p>
        </p:txBody>
      </p:sp>
      <p:sp>
        <p:nvSpPr>
          <p:cNvPr id="24" name="Shape 22"/>
          <p:cNvSpPr/>
          <p:nvPr/>
        </p:nvSpPr>
        <p:spPr>
          <a:xfrm>
            <a:off x="4709160" y="4343400"/>
            <a:ext cx="2743200" cy="1472184"/>
          </a:xfrm>
          <a:prstGeom prst="rect">
            <a:avLst/>
          </a:prstGeom>
          <a:solidFill>
            <a:srgbClr val="FFFFFF"/>
          </a:solidFill>
          <a:ln w="25400">
            <a:solidFill>
              <a:srgbClr val="141A2E"/>
            </a:solidFill>
            <a:prstDash val="solid"/>
          </a:ln>
          <a:effectLst>
            <a:outerShdw sx="100000" sy="100000" kx="0" ky="0" algn="bl" rotWithShape="0" blurRad="101600" dist="63500" dir="2700000">
              <a:srgbClr val="F2C200">
                <a:alpha val="100000"/>
              </a:srgbClr>
            </a:outerShdw>
          </a:effectLst>
        </p:spPr>
      </p:sp>
      <p:sp>
        <p:nvSpPr>
          <p:cNvPr id="25" name="Shape 23"/>
          <p:cNvSpPr/>
          <p:nvPr/>
        </p:nvSpPr>
        <p:spPr>
          <a:xfrm>
            <a:off x="4709160" y="4343400"/>
            <a:ext cx="2743200" cy="411480"/>
          </a:xfrm>
          <a:prstGeom prst="rect">
            <a:avLst/>
          </a:prstGeom>
          <a:solidFill>
            <a:srgbClr val="1B2D6B"/>
          </a:solidFill>
          <a:ln w="25400">
            <a:solidFill>
              <a:srgbClr val="141A2E"/>
            </a:solidFill>
            <a:prstDash val="solid"/>
          </a:ln>
        </p:spPr>
      </p:sp>
      <p:sp>
        <p:nvSpPr>
          <p:cNvPr id="26" name="Text 24"/>
          <p:cNvSpPr/>
          <p:nvPr/>
        </p:nvSpPr>
        <p:spPr>
          <a:xfrm>
            <a:off x="4709160" y="4343400"/>
            <a:ext cx="274320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Bureau</a:t>
            </a:r>
            <a:endParaRPr lang="en-US" sz="1400" dirty="0"/>
          </a:p>
        </p:txBody>
      </p:sp>
      <p:sp>
        <p:nvSpPr>
          <p:cNvPr id="27" name="Text 25"/>
          <p:cNvSpPr/>
          <p:nvPr/>
        </p:nvSpPr>
        <p:spPr>
          <a:xfrm>
            <a:off x="4846320" y="4800600"/>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name</a:t>
            </a:r>
            <a:endParaRPr lang="en-US" sz="1150" dirty="0"/>
          </a:p>
        </p:txBody>
      </p:sp>
      <p:sp>
        <p:nvSpPr>
          <p:cNvPr id="28" name="Text 26"/>
          <p:cNvSpPr/>
          <p:nvPr/>
        </p:nvSpPr>
        <p:spPr>
          <a:xfrm>
            <a:off x="4846320" y="5093208"/>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city</a:t>
            </a:r>
            <a:endParaRPr lang="en-US" sz="1150" dirty="0"/>
          </a:p>
        </p:txBody>
      </p:sp>
      <p:sp>
        <p:nvSpPr>
          <p:cNvPr id="29" name="Text 27"/>
          <p:cNvSpPr/>
          <p:nvPr/>
        </p:nvSpPr>
        <p:spPr>
          <a:xfrm>
            <a:off x="4846320" y="5385816"/>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lat / lng</a:t>
            </a:r>
            <a:endParaRPr lang="en-US" sz="1150" dirty="0"/>
          </a:p>
        </p:txBody>
      </p:sp>
      <p:sp>
        <p:nvSpPr>
          <p:cNvPr id="30" name="Shape 28"/>
          <p:cNvSpPr/>
          <p:nvPr/>
        </p:nvSpPr>
        <p:spPr>
          <a:xfrm>
            <a:off x="8732520" y="4160520"/>
            <a:ext cx="2743200" cy="1472184"/>
          </a:xfrm>
          <a:prstGeom prst="rect">
            <a:avLst/>
          </a:prstGeom>
          <a:solidFill>
            <a:srgbClr val="FFFFFF"/>
          </a:solidFill>
          <a:ln w="25400">
            <a:solidFill>
              <a:srgbClr val="141A2E"/>
            </a:solidFill>
            <a:prstDash val="solid"/>
          </a:ln>
          <a:effectLst>
            <a:outerShdw sx="100000" sy="100000" kx="0" ky="0" algn="bl" rotWithShape="0" blurRad="101600" dist="63500" dir="2700000">
              <a:srgbClr val="F2C200">
                <a:alpha val="100000"/>
              </a:srgbClr>
            </a:outerShdw>
          </a:effectLst>
        </p:spPr>
      </p:sp>
      <p:sp>
        <p:nvSpPr>
          <p:cNvPr id="31" name="Shape 29"/>
          <p:cNvSpPr/>
          <p:nvPr/>
        </p:nvSpPr>
        <p:spPr>
          <a:xfrm>
            <a:off x="8732520" y="4160520"/>
            <a:ext cx="2743200" cy="411480"/>
          </a:xfrm>
          <a:prstGeom prst="rect">
            <a:avLst/>
          </a:prstGeom>
          <a:solidFill>
            <a:srgbClr val="0F6E56"/>
          </a:solidFill>
          <a:ln w="25400">
            <a:solidFill>
              <a:srgbClr val="141A2E"/>
            </a:solidFill>
            <a:prstDash val="solid"/>
          </a:ln>
        </p:spPr>
      </p:sp>
      <p:sp>
        <p:nvSpPr>
          <p:cNvPr id="32" name="Text 30"/>
          <p:cNvSpPr/>
          <p:nvPr/>
        </p:nvSpPr>
        <p:spPr>
          <a:xfrm>
            <a:off x="8732520" y="4160520"/>
            <a:ext cx="274320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ShippingRate</a:t>
            </a:r>
            <a:endParaRPr lang="en-US" sz="1400" dirty="0"/>
          </a:p>
        </p:txBody>
      </p:sp>
      <p:sp>
        <p:nvSpPr>
          <p:cNvPr id="33" name="Text 31"/>
          <p:cNvSpPr/>
          <p:nvPr/>
        </p:nvSpPr>
        <p:spPr>
          <a:xfrm>
            <a:off x="8869680" y="4617720"/>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zone</a:t>
            </a:r>
            <a:endParaRPr lang="en-US" sz="1150" dirty="0"/>
          </a:p>
        </p:txBody>
      </p:sp>
      <p:sp>
        <p:nvSpPr>
          <p:cNvPr id="34" name="Text 32"/>
          <p:cNvSpPr/>
          <p:nvPr/>
        </p:nvSpPr>
        <p:spPr>
          <a:xfrm>
            <a:off x="8869680" y="4910328"/>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basePrice</a:t>
            </a:r>
            <a:endParaRPr lang="en-US" sz="1150" dirty="0"/>
          </a:p>
        </p:txBody>
      </p:sp>
      <p:sp>
        <p:nvSpPr>
          <p:cNvPr id="35" name="Text 33"/>
          <p:cNvSpPr/>
          <p:nvPr/>
        </p:nvSpPr>
        <p:spPr>
          <a:xfrm>
            <a:off x="8869680" y="5202936"/>
            <a:ext cx="2468880" cy="274320"/>
          </a:xfrm>
          <a:prstGeom prst="rect">
            <a:avLst/>
          </a:prstGeom>
          <a:noFill/>
          <a:ln/>
        </p:spPr>
        <p:txBody>
          <a:bodyPr wrap="square" rtlCol="0" anchor="ctr"/>
          <a:lstStyle/>
          <a:p>
            <a:pPr indent="0" marL="0">
              <a:buNone/>
            </a:pPr>
            <a:r>
              <a:rPr lang="en-US" sz="1150" dirty="0">
                <a:solidFill>
                  <a:srgbClr val="141A2E"/>
                </a:solidFill>
                <a:latin typeface="Calibri" pitchFamily="34" charset="0"/>
                <a:ea typeface="Calibri" pitchFamily="34" charset="-122"/>
                <a:cs typeface="Calibri" pitchFamily="34" charset="-120"/>
              </a:rPr>
              <a:t>+ pricePerKg</a:t>
            </a:r>
            <a:endParaRPr lang="en-US" sz="1150" dirty="0"/>
          </a:p>
        </p:txBody>
      </p:sp>
      <p:sp>
        <p:nvSpPr>
          <p:cNvPr id="36" name="Shape 34"/>
          <p:cNvSpPr/>
          <p:nvPr/>
        </p:nvSpPr>
        <p:spPr>
          <a:xfrm>
            <a:off x="3429000" y="2148840"/>
            <a:ext cx="1280160" cy="0"/>
          </a:xfrm>
          <a:prstGeom prst="line">
            <a:avLst/>
          </a:prstGeom>
          <a:noFill/>
          <a:ln w="19050">
            <a:solidFill>
              <a:srgbClr val="141A2E"/>
            </a:solidFill>
            <a:prstDash val="solid"/>
          </a:ln>
        </p:spPr>
      </p:sp>
      <p:sp>
        <p:nvSpPr>
          <p:cNvPr id="37" name="Text 35"/>
          <p:cNvSpPr/>
          <p:nvPr/>
        </p:nvSpPr>
        <p:spPr>
          <a:xfrm>
            <a:off x="3429000" y="1874520"/>
            <a:ext cx="1280160" cy="274320"/>
          </a:xfrm>
          <a:prstGeom prst="rect">
            <a:avLst/>
          </a:prstGeom>
          <a:noFill/>
          <a:ln/>
        </p:spPr>
        <p:txBody>
          <a:bodyPr wrap="square" rtlCol="0" anchor="ctr"/>
          <a:lstStyle/>
          <a:p>
            <a:pPr algn="ctr" indent="0" marL="0">
              <a:buNone/>
            </a:pPr>
            <a:r>
              <a:rPr lang="en-US" sz="1000" dirty="0">
                <a:solidFill>
                  <a:srgbClr val="2C44A0"/>
                </a:solidFill>
                <a:latin typeface="Calibri" pitchFamily="34" charset="0"/>
                <a:ea typeface="Calibri" pitchFamily="34" charset="-122"/>
                <a:cs typeface="Calibri" pitchFamily="34" charset="-120"/>
              </a:rPr>
              <a:t>passe</a:t>
            </a:r>
            <a:endParaRPr lang="en-US" sz="1000" dirty="0"/>
          </a:p>
        </p:txBody>
      </p:sp>
      <p:sp>
        <p:nvSpPr>
          <p:cNvPr id="38" name="Shape 36"/>
          <p:cNvSpPr/>
          <p:nvPr/>
        </p:nvSpPr>
        <p:spPr>
          <a:xfrm>
            <a:off x="7452360" y="2148840"/>
            <a:ext cx="1280160" cy="0"/>
          </a:xfrm>
          <a:prstGeom prst="line">
            <a:avLst/>
          </a:prstGeom>
          <a:noFill/>
          <a:ln w="19050">
            <a:solidFill>
              <a:srgbClr val="141A2E"/>
            </a:solidFill>
            <a:prstDash val="solid"/>
          </a:ln>
        </p:spPr>
      </p:sp>
      <p:sp>
        <p:nvSpPr>
          <p:cNvPr id="39" name="Text 37"/>
          <p:cNvSpPr/>
          <p:nvPr/>
        </p:nvSpPr>
        <p:spPr>
          <a:xfrm>
            <a:off x="7406640" y="1874520"/>
            <a:ext cx="1371600" cy="274320"/>
          </a:xfrm>
          <a:prstGeom prst="rect">
            <a:avLst/>
          </a:prstGeom>
          <a:noFill/>
          <a:ln/>
        </p:spPr>
        <p:txBody>
          <a:bodyPr wrap="square" rtlCol="0" anchor="ctr"/>
          <a:lstStyle/>
          <a:p>
            <a:pPr algn="ctr" indent="0" marL="0">
              <a:buNone/>
            </a:pPr>
            <a:r>
              <a:rPr lang="en-US" sz="1000" dirty="0">
                <a:solidFill>
                  <a:srgbClr val="2C44A0"/>
                </a:solidFill>
                <a:latin typeface="Calibri" pitchFamily="34" charset="0"/>
                <a:ea typeface="Calibri" pitchFamily="34" charset="-122"/>
                <a:cs typeface="Calibri" pitchFamily="34" charset="-120"/>
              </a:rPr>
              <a:t>contient</a:t>
            </a:r>
            <a:endParaRPr lang="en-US" sz="1000" dirty="0"/>
          </a:p>
        </p:txBody>
      </p:sp>
      <p:sp>
        <p:nvSpPr>
          <p:cNvPr id="40" name="Shape 38"/>
          <p:cNvSpPr/>
          <p:nvPr/>
        </p:nvSpPr>
        <p:spPr>
          <a:xfrm>
            <a:off x="6080760" y="3108960"/>
            <a:ext cx="0" cy="1234440"/>
          </a:xfrm>
          <a:prstGeom prst="line">
            <a:avLst/>
          </a:prstGeom>
          <a:noFill/>
          <a:ln w="19050">
            <a:solidFill>
              <a:srgbClr val="141A2E"/>
            </a:solidFill>
            <a:prstDash val="solid"/>
          </a:ln>
        </p:spPr>
      </p:sp>
      <p:sp>
        <p:nvSpPr>
          <p:cNvPr id="41" name="Text 39"/>
          <p:cNvSpPr/>
          <p:nvPr/>
        </p:nvSpPr>
        <p:spPr>
          <a:xfrm>
            <a:off x="6217920" y="3566160"/>
            <a:ext cx="1371600" cy="274320"/>
          </a:xfrm>
          <a:prstGeom prst="rect">
            <a:avLst/>
          </a:prstGeom>
          <a:noFill/>
          <a:ln/>
        </p:spPr>
        <p:txBody>
          <a:bodyPr wrap="square" rtlCol="0" anchor="ctr"/>
          <a:lstStyle/>
          <a:p>
            <a:pPr indent="0" marL="0">
              <a:buNone/>
            </a:pPr>
            <a:r>
              <a:rPr lang="en-US" sz="1000" dirty="0">
                <a:solidFill>
                  <a:srgbClr val="2C44A0"/>
                </a:solidFill>
                <a:latin typeface="Calibri" pitchFamily="34" charset="0"/>
                <a:ea typeface="Calibri" pitchFamily="34" charset="-122"/>
                <a:cs typeface="Calibri" pitchFamily="34" charset="-120"/>
              </a:rPr>
              <a:t>déposé à</a:t>
            </a:r>
            <a:endParaRPr lang="en-US" sz="1000" dirty="0"/>
          </a:p>
        </p:txBody>
      </p:sp>
      <p:sp>
        <p:nvSpPr>
          <p:cNvPr id="42" name="Shape 40"/>
          <p:cNvSpPr/>
          <p:nvPr/>
        </p:nvSpPr>
        <p:spPr>
          <a:xfrm>
            <a:off x="7452360" y="4663440"/>
            <a:ext cx="1280160" cy="0"/>
          </a:xfrm>
          <a:prstGeom prst="line">
            <a:avLst/>
          </a:prstGeom>
          <a:noFill/>
          <a:ln w="19050">
            <a:solidFill>
              <a:srgbClr val="0F6E56"/>
            </a:solidFill>
            <a:prstDash val="dash"/>
          </a:ln>
        </p:spPr>
      </p:sp>
      <p:sp>
        <p:nvSpPr>
          <p:cNvPr id="43" name="Text 41"/>
          <p:cNvSpPr/>
          <p:nvPr/>
        </p:nvSpPr>
        <p:spPr>
          <a:xfrm>
            <a:off x="7315200" y="4389120"/>
            <a:ext cx="1554480" cy="274320"/>
          </a:xfrm>
          <a:prstGeom prst="rect">
            <a:avLst/>
          </a:prstGeom>
          <a:noFill/>
          <a:ln/>
        </p:spPr>
        <p:txBody>
          <a:bodyPr wrap="square" rtlCol="0" anchor="ctr"/>
          <a:lstStyle/>
          <a:p>
            <a:pPr algn="ctr" indent="0" marL="0">
              <a:buNone/>
            </a:pPr>
            <a:r>
              <a:rPr lang="en-US" sz="1000" dirty="0">
                <a:solidFill>
                  <a:srgbClr val="0F6E56"/>
                </a:solidFill>
                <a:latin typeface="Calibri" pitchFamily="34" charset="0"/>
                <a:ea typeface="Calibri" pitchFamily="34" charset="-122"/>
                <a:cs typeface="Calibri" pitchFamily="34" charset="-120"/>
              </a:rPr>
              <a:t>calcule frais</a:t>
            </a:r>
            <a:endParaRPr lang="en-US" sz="1000" dirty="0"/>
          </a:p>
        </p:txBody>
      </p:sp>
      <p:sp>
        <p:nvSpPr>
          <p:cNvPr id="44" name="Text 42"/>
          <p:cNvSpPr/>
          <p:nvPr/>
        </p:nvSpPr>
        <p:spPr>
          <a:xfrm>
            <a:off x="685800" y="6035040"/>
            <a:ext cx="5486400" cy="274320"/>
          </a:xfrm>
          <a:prstGeom prst="rect">
            <a:avLst/>
          </a:prstGeom>
          <a:noFill/>
          <a:ln/>
        </p:spPr>
        <p:txBody>
          <a:bodyPr wrap="square" rtlCol="0" anchor="ctr"/>
          <a:lstStyle/>
          <a:p>
            <a:pPr indent="0" marL="0">
              <a:buNone/>
            </a:pPr>
            <a:r>
              <a:rPr lang="en-US" sz="1050" i="1" dirty="0">
                <a:solidFill>
                  <a:srgbClr val="E5384B"/>
                </a:solidFill>
                <a:latin typeface="Calibri" pitchFamily="34" charset="0"/>
                <a:ea typeface="Calibri" pitchFamily="34" charset="-122"/>
                <a:cs typeface="Calibri" pitchFamily="34" charset="-120"/>
              </a:rPr>
              <a:t>★ attribut ajouté (sécurité / frais)</a:t>
            </a:r>
            <a:endParaRPr lang="en-US" sz="1050" dirty="0"/>
          </a:p>
        </p:txBody>
      </p:sp>
      <p:sp>
        <p:nvSpPr>
          <p:cNvPr id="45" name="Text 43"/>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46" name="Text 44"/>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C44A0"/>
                </a:solidFill>
                <a:latin typeface="Calibri" pitchFamily="34" charset="0"/>
                <a:ea typeface="Calibri" pitchFamily="34" charset="-122"/>
                <a:cs typeface="Calibri" pitchFamily="34" charset="-120"/>
              </a:rPr>
              <a:t>10 · OUTILS ET TECHNOLOGIES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1B2D6B"/>
                </a:solidFill>
                <a:latin typeface="Cambria" pitchFamily="34" charset="0"/>
                <a:ea typeface="Cambria" pitchFamily="34" charset="-122"/>
                <a:cs typeface="Cambria" pitchFamily="34" charset="-120"/>
              </a:rPr>
              <a:t>Architecture 3-tiers</a:t>
            </a:r>
            <a:endParaRPr lang="en-US" sz="3200" dirty="0"/>
          </a:p>
        </p:txBody>
      </p:sp>
      <p:sp>
        <p:nvSpPr>
          <p:cNvPr id="4" name="Shape 2"/>
          <p:cNvSpPr/>
          <p:nvPr/>
        </p:nvSpPr>
        <p:spPr>
          <a:xfrm>
            <a:off x="640080" y="1783080"/>
            <a:ext cx="3520440" cy="38862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5" name="Shape 3"/>
          <p:cNvSpPr/>
          <p:nvPr/>
        </p:nvSpPr>
        <p:spPr>
          <a:xfrm>
            <a:off x="640080" y="1783080"/>
            <a:ext cx="3520440" cy="640080"/>
          </a:xfrm>
          <a:prstGeom prst="rect">
            <a:avLst/>
          </a:prstGeom>
          <a:solidFill>
            <a:srgbClr val="1B2D6B"/>
          </a:solidFill>
          <a:ln w="25400">
            <a:solidFill>
              <a:srgbClr val="141A2E"/>
            </a:solidFill>
            <a:prstDash val="solid"/>
          </a:ln>
        </p:spPr>
      </p:sp>
      <p:sp>
        <p:nvSpPr>
          <p:cNvPr id="6" name="Text 4"/>
          <p:cNvSpPr/>
          <p:nvPr/>
        </p:nvSpPr>
        <p:spPr>
          <a:xfrm>
            <a:off x="640080" y="1783080"/>
            <a:ext cx="3520440" cy="6400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Frontend</a:t>
            </a:r>
            <a:endParaRPr lang="en-US" sz="1600" dirty="0"/>
          </a:p>
        </p:txBody>
      </p:sp>
      <p:sp>
        <p:nvSpPr>
          <p:cNvPr id="7" name="Shape 5"/>
          <p:cNvSpPr/>
          <p:nvPr/>
        </p:nvSpPr>
        <p:spPr>
          <a:xfrm>
            <a:off x="960120" y="2697480"/>
            <a:ext cx="2880360" cy="548640"/>
          </a:xfrm>
          <a:prstGeom prst="rect">
            <a:avLst/>
          </a:prstGeom>
          <a:solidFill>
            <a:srgbClr val="FFFFFF"/>
          </a:solidFill>
          <a:ln w="19050">
            <a:solidFill>
              <a:srgbClr val="141A2E"/>
            </a:solidFill>
            <a:prstDash val="solid"/>
          </a:ln>
        </p:spPr>
      </p:sp>
      <p:sp>
        <p:nvSpPr>
          <p:cNvPr id="8" name="Text 6"/>
          <p:cNvSpPr/>
          <p:nvPr/>
        </p:nvSpPr>
        <p:spPr>
          <a:xfrm>
            <a:off x="960120" y="2697480"/>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Angular</a:t>
            </a:r>
            <a:endParaRPr lang="en-US" sz="1400" dirty="0"/>
          </a:p>
        </p:txBody>
      </p:sp>
      <p:sp>
        <p:nvSpPr>
          <p:cNvPr id="9" name="Shape 7"/>
          <p:cNvSpPr/>
          <p:nvPr/>
        </p:nvSpPr>
        <p:spPr>
          <a:xfrm>
            <a:off x="960120" y="3410712"/>
            <a:ext cx="2880360" cy="548640"/>
          </a:xfrm>
          <a:prstGeom prst="rect">
            <a:avLst/>
          </a:prstGeom>
          <a:solidFill>
            <a:srgbClr val="FFFFFF"/>
          </a:solidFill>
          <a:ln w="19050">
            <a:solidFill>
              <a:srgbClr val="141A2E"/>
            </a:solidFill>
            <a:prstDash val="solid"/>
          </a:ln>
        </p:spPr>
      </p:sp>
      <p:sp>
        <p:nvSpPr>
          <p:cNvPr id="10" name="Text 8"/>
          <p:cNvSpPr/>
          <p:nvPr/>
        </p:nvSpPr>
        <p:spPr>
          <a:xfrm>
            <a:off x="960120" y="3410712"/>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TypeScript</a:t>
            </a:r>
            <a:endParaRPr lang="en-US" sz="1400" dirty="0"/>
          </a:p>
        </p:txBody>
      </p:sp>
      <p:sp>
        <p:nvSpPr>
          <p:cNvPr id="11" name="Shape 9"/>
          <p:cNvSpPr/>
          <p:nvPr/>
        </p:nvSpPr>
        <p:spPr>
          <a:xfrm>
            <a:off x="960120" y="4123944"/>
            <a:ext cx="2880360" cy="548640"/>
          </a:xfrm>
          <a:prstGeom prst="rect">
            <a:avLst/>
          </a:prstGeom>
          <a:solidFill>
            <a:srgbClr val="FFFFFF"/>
          </a:solidFill>
          <a:ln w="19050">
            <a:solidFill>
              <a:srgbClr val="141A2E"/>
            </a:solidFill>
            <a:prstDash val="solid"/>
          </a:ln>
        </p:spPr>
      </p:sp>
      <p:sp>
        <p:nvSpPr>
          <p:cNvPr id="12" name="Text 10"/>
          <p:cNvSpPr/>
          <p:nvPr/>
        </p:nvSpPr>
        <p:spPr>
          <a:xfrm>
            <a:off x="960120" y="4123944"/>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Leaflet</a:t>
            </a:r>
            <a:endParaRPr lang="en-US" sz="1400" dirty="0"/>
          </a:p>
        </p:txBody>
      </p:sp>
      <p:sp>
        <p:nvSpPr>
          <p:cNvPr id="13" name="Shape 11"/>
          <p:cNvSpPr/>
          <p:nvPr/>
        </p:nvSpPr>
        <p:spPr>
          <a:xfrm>
            <a:off x="960120" y="4837176"/>
            <a:ext cx="2880360" cy="548640"/>
          </a:xfrm>
          <a:prstGeom prst="rect">
            <a:avLst/>
          </a:prstGeom>
          <a:solidFill>
            <a:srgbClr val="FFFFFF"/>
          </a:solidFill>
          <a:ln w="19050">
            <a:solidFill>
              <a:srgbClr val="141A2E"/>
            </a:solidFill>
            <a:prstDash val="solid"/>
          </a:ln>
        </p:spPr>
      </p:sp>
      <p:sp>
        <p:nvSpPr>
          <p:cNvPr id="14" name="Text 12"/>
          <p:cNvSpPr/>
          <p:nvPr/>
        </p:nvSpPr>
        <p:spPr>
          <a:xfrm>
            <a:off x="960120" y="4837176"/>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SCSS</a:t>
            </a:r>
            <a:endParaRPr lang="en-US" sz="1400" dirty="0"/>
          </a:p>
        </p:txBody>
      </p:sp>
      <p:sp>
        <p:nvSpPr>
          <p:cNvPr id="15" name="Shape 13"/>
          <p:cNvSpPr/>
          <p:nvPr/>
        </p:nvSpPr>
        <p:spPr>
          <a:xfrm>
            <a:off x="4434840" y="1783080"/>
            <a:ext cx="3520440" cy="38862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16" name="Shape 14"/>
          <p:cNvSpPr/>
          <p:nvPr/>
        </p:nvSpPr>
        <p:spPr>
          <a:xfrm>
            <a:off x="4434840" y="1783080"/>
            <a:ext cx="3520440" cy="640080"/>
          </a:xfrm>
          <a:prstGeom prst="rect">
            <a:avLst/>
          </a:prstGeom>
          <a:solidFill>
            <a:srgbClr val="E5384B"/>
          </a:solidFill>
          <a:ln w="25400">
            <a:solidFill>
              <a:srgbClr val="141A2E"/>
            </a:solidFill>
            <a:prstDash val="solid"/>
          </a:ln>
        </p:spPr>
      </p:sp>
      <p:sp>
        <p:nvSpPr>
          <p:cNvPr id="17" name="Text 15"/>
          <p:cNvSpPr/>
          <p:nvPr/>
        </p:nvSpPr>
        <p:spPr>
          <a:xfrm>
            <a:off x="4434840" y="1783080"/>
            <a:ext cx="3520440" cy="6400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Backend</a:t>
            </a:r>
            <a:endParaRPr lang="en-US" sz="1600" dirty="0"/>
          </a:p>
        </p:txBody>
      </p:sp>
      <p:sp>
        <p:nvSpPr>
          <p:cNvPr id="18" name="Shape 16"/>
          <p:cNvSpPr/>
          <p:nvPr/>
        </p:nvSpPr>
        <p:spPr>
          <a:xfrm>
            <a:off x="4754880" y="2697480"/>
            <a:ext cx="2880360" cy="548640"/>
          </a:xfrm>
          <a:prstGeom prst="rect">
            <a:avLst/>
          </a:prstGeom>
          <a:solidFill>
            <a:srgbClr val="FFFFFF"/>
          </a:solidFill>
          <a:ln w="19050">
            <a:solidFill>
              <a:srgbClr val="141A2E"/>
            </a:solidFill>
            <a:prstDash val="solid"/>
          </a:ln>
        </p:spPr>
      </p:sp>
      <p:sp>
        <p:nvSpPr>
          <p:cNvPr id="19" name="Text 17"/>
          <p:cNvSpPr/>
          <p:nvPr/>
        </p:nvSpPr>
        <p:spPr>
          <a:xfrm>
            <a:off x="4754880" y="2697480"/>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Node.js</a:t>
            </a:r>
            <a:endParaRPr lang="en-US" sz="1400" dirty="0"/>
          </a:p>
        </p:txBody>
      </p:sp>
      <p:sp>
        <p:nvSpPr>
          <p:cNvPr id="20" name="Shape 18"/>
          <p:cNvSpPr/>
          <p:nvPr/>
        </p:nvSpPr>
        <p:spPr>
          <a:xfrm>
            <a:off x="4754880" y="3410712"/>
            <a:ext cx="2880360" cy="548640"/>
          </a:xfrm>
          <a:prstGeom prst="rect">
            <a:avLst/>
          </a:prstGeom>
          <a:solidFill>
            <a:srgbClr val="FFFFFF"/>
          </a:solidFill>
          <a:ln w="19050">
            <a:solidFill>
              <a:srgbClr val="141A2E"/>
            </a:solidFill>
            <a:prstDash val="solid"/>
          </a:ln>
        </p:spPr>
      </p:sp>
      <p:sp>
        <p:nvSpPr>
          <p:cNvPr id="21" name="Text 19"/>
          <p:cNvSpPr/>
          <p:nvPr/>
        </p:nvSpPr>
        <p:spPr>
          <a:xfrm>
            <a:off x="4754880" y="3410712"/>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Express</a:t>
            </a:r>
            <a:endParaRPr lang="en-US" sz="1400" dirty="0"/>
          </a:p>
        </p:txBody>
      </p:sp>
      <p:sp>
        <p:nvSpPr>
          <p:cNvPr id="22" name="Shape 20"/>
          <p:cNvSpPr/>
          <p:nvPr/>
        </p:nvSpPr>
        <p:spPr>
          <a:xfrm>
            <a:off x="4754880" y="4123944"/>
            <a:ext cx="2880360" cy="548640"/>
          </a:xfrm>
          <a:prstGeom prst="rect">
            <a:avLst/>
          </a:prstGeom>
          <a:solidFill>
            <a:srgbClr val="FFFFFF"/>
          </a:solidFill>
          <a:ln w="19050">
            <a:solidFill>
              <a:srgbClr val="141A2E"/>
            </a:solidFill>
            <a:prstDash val="solid"/>
          </a:ln>
        </p:spPr>
      </p:sp>
      <p:sp>
        <p:nvSpPr>
          <p:cNvPr id="23" name="Text 21"/>
          <p:cNvSpPr/>
          <p:nvPr/>
        </p:nvSpPr>
        <p:spPr>
          <a:xfrm>
            <a:off x="4754880" y="4123944"/>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JWT</a:t>
            </a:r>
            <a:endParaRPr lang="en-US" sz="1400" dirty="0"/>
          </a:p>
        </p:txBody>
      </p:sp>
      <p:sp>
        <p:nvSpPr>
          <p:cNvPr id="24" name="Shape 22"/>
          <p:cNvSpPr/>
          <p:nvPr/>
        </p:nvSpPr>
        <p:spPr>
          <a:xfrm>
            <a:off x="4754880" y="4837176"/>
            <a:ext cx="2880360" cy="548640"/>
          </a:xfrm>
          <a:prstGeom prst="rect">
            <a:avLst/>
          </a:prstGeom>
          <a:solidFill>
            <a:srgbClr val="FFFFFF"/>
          </a:solidFill>
          <a:ln w="19050">
            <a:solidFill>
              <a:srgbClr val="141A2E"/>
            </a:solidFill>
            <a:prstDash val="solid"/>
          </a:ln>
        </p:spPr>
      </p:sp>
      <p:sp>
        <p:nvSpPr>
          <p:cNvPr id="25" name="Text 23"/>
          <p:cNvSpPr/>
          <p:nvPr/>
        </p:nvSpPr>
        <p:spPr>
          <a:xfrm>
            <a:off x="4754880" y="4837176"/>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bcrypt</a:t>
            </a:r>
            <a:endParaRPr lang="en-US" sz="1400" dirty="0"/>
          </a:p>
        </p:txBody>
      </p:sp>
      <p:sp>
        <p:nvSpPr>
          <p:cNvPr id="26" name="Shape 24"/>
          <p:cNvSpPr/>
          <p:nvPr/>
        </p:nvSpPr>
        <p:spPr>
          <a:xfrm>
            <a:off x="8229600" y="1783080"/>
            <a:ext cx="3520440" cy="3886200"/>
          </a:xfrm>
          <a:prstGeom prst="rect">
            <a:avLst/>
          </a:prstGeom>
          <a:solidFill>
            <a:srgbClr val="FFFFFF"/>
          </a:solidFill>
          <a:ln w="25400">
            <a:solidFill>
              <a:srgbClr val="141A2E"/>
            </a:solidFill>
            <a:prstDash val="solid"/>
          </a:ln>
          <a:effectLst>
            <a:outerShdw sx="100000" sy="100000" kx="0" ky="0" algn="bl" rotWithShape="0" blurRad="101600" dist="76200" dir="2700000">
              <a:srgbClr val="1B2D6B">
                <a:alpha val="100000"/>
              </a:srgbClr>
            </a:outerShdw>
          </a:effectLst>
        </p:spPr>
      </p:sp>
      <p:sp>
        <p:nvSpPr>
          <p:cNvPr id="27" name="Shape 25"/>
          <p:cNvSpPr/>
          <p:nvPr/>
        </p:nvSpPr>
        <p:spPr>
          <a:xfrm>
            <a:off x="8229600" y="1783080"/>
            <a:ext cx="3520440" cy="640080"/>
          </a:xfrm>
          <a:prstGeom prst="rect">
            <a:avLst/>
          </a:prstGeom>
          <a:solidFill>
            <a:srgbClr val="0F6E56"/>
          </a:solidFill>
          <a:ln w="25400">
            <a:solidFill>
              <a:srgbClr val="141A2E"/>
            </a:solidFill>
            <a:prstDash val="solid"/>
          </a:ln>
        </p:spPr>
      </p:sp>
      <p:sp>
        <p:nvSpPr>
          <p:cNvPr id="28" name="Text 26"/>
          <p:cNvSpPr/>
          <p:nvPr/>
        </p:nvSpPr>
        <p:spPr>
          <a:xfrm>
            <a:off x="8229600" y="1783080"/>
            <a:ext cx="3520440" cy="6400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Base de données</a:t>
            </a:r>
            <a:endParaRPr lang="en-US" sz="1600" dirty="0"/>
          </a:p>
        </p:txBody>
      </p:sp>
      <p:sp>
        <p:nvSpPr>
          <p:cNvPr id="29" name="Shape 27"/>
          <p:cNvSpPr/>
          <p:nvPr/>
        </p:nvSpPr>
        <p:spPr>
          <a:xfrm>
            <a:off x="8549640" y="2697480"/>
            <a:ext cx="2880360" cy="548640"/>
          </a:xfrm>
          <a:prstGeom prst="rect">
            <a:avLst/>
          </a:prstGeom>
          <a:solidFill>
            <a:srgbClr val="FFFFFF"/>
          </a:solidFill>
          <a:ln w="19050">
            <a:solidFill>
              <a:srgbClr val="141A2E"/>
            </a:solidFill>
            <a:prstDash val="solid"/>
          </a:ln>
        </p:spPr>
      </p:sp>
      <p:sp>
        <p:nvSpPr>
          <p:cNvPr id="30" name="Text 28"/>
          <p:cNvSpPr/>
          <p:nvPr/>
        </p:nvSpPr>
        <p:spPr>
          <a:xfrm>
            <a:off x="8549640" y="2697480"/>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MySQL</a:t>
            </a:r>
            <a:endParaRPr lang="en-US" sz="1400" dirty="0"/>
          </a:p>
        </p:txBody>
      </p:sp>
      <p:sp>
        <p:nvSpPr>
          <p:cNvPr id="31" name="Shape 29"/>
          <p:cNvSpPr/>
          <p:nvPr/>
        </p:nvSpPr>
        <p:spPr>
          <a:xfrm>
            <a:off x="8549640" y="3410712"/>
            <a:ext cx="2880360" cy="548640"/>
          </a:xfrm>
          <a:prstGeom prst="rect">
            <a:avLst/>
          </a:prstGeom>
          <a:solidFill>
            <a:srgbClr val="FFFFFF"/>
          </a:solidFill>
          <a:ln w="19050">
            <a:solidFill>
              <a:srgbClr val="141A2E"/>
            </a:solidFill>
            <a:prstDash val="solid"/>
          </a:ln>
        </p:spPr>
      </p:sp>
      <p:sp>
        <p:nvSpPr>
          <p:cNvPr id="32" name="Text 30"/>
          <p:cNvSpPr/>
          <p:nvPr/>
        </p:nvSpPr>
        <p:spPr>
          <a:xfrm>
            <a:off x="8549640" y="3410712"/>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mysql2</a:t>
            </a:r>
            <a:endParaRPr lang="en-US" sz="1400" dirty="0"/>
          </a:p>
        </p:txBody>
      </p:sp>
      <p:sp>
        <p:nvSpPr>
          <p:cNvPr id="33" name="Shape 31"/>
          <p:cNvSpPr/>
          <p:nvPr/>
        </p:nvSpPr>
        <p:spPr>
          <a:xfrm>
            <a:off x="8549640" y="4123944"/>
            <a:ext cx="2880360" cy="548640"/>
          </a:xfrm>
          <a:prstGeom prst="rect">
            <a:avLst/>
          </a:prstGeom>
          <a:solidFill>
            <a:srgbClr val="FFFFFF"/>
          </a:solidFill>
          <a:ln w="19050">
            <a:solidFill>
              <a:srgbClr val="141A2E"/>
            </a:solidFill>
            <a:prstDash val="solid"/>
          </a:ln>
        </p:spPr>
      </p:sp>
      <p:sp>
        <p:nvSpPr>
          <p:cNvPr id="34" name="Text 32"/>
          <p:cNvSpPr/>
          <p:nvPr/>
        </p:nvSpPr>
        <p:spPr>
          <a:xfrm>
            <a:off x="8549640" y="4123944"/>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AES-GCM</a:t>
            </a:r>
            <a:endParaRPr lang="en-US" sz="1400" dirty="0"/>
          </a:p>
        </p:txBody>
      </p:sp>
      <p:sp>
        <p:nvSpPr>
          <p:cNvPr id="35" name="Shape 33"/>
          <p:cNvSpPr/>
          <p:nvPr/>
        </p:nvSpPr>
        <p:spPr>
          <a:xfrm>
            <a:off x="8549640" y="4837176"/>
            <a:ext cx="2880360" cy="548640"/>
          </a:xfrm>
          <a:prstGeom prst="rect">
            <a:avLst/>
          </a:prstGeom>
          <a:solidFill>
            <a:srgbClr val="FFFFFF"/>
          </a:solidFill>
          <a:ln w="19050">
            <a:solidFill>
              <a:srgbClr val="141A2E"/>
            </a:solidFill>
            <a:prstDash val="solid"/>
          </a:ln>
        </p:spPr>
      </p:sp>
      <p:sp>
        <p:nvSpPr>
          <p:cNvPr id="36" name="Text 34"/>
          <p:cNvSpPr/>
          <p:nvPr/>
        </p:nvSpPr>
        <p:spPr>
          <a:xfrm>
            <a:off x="8549640" y="4837176"/>
            <a:ext cx="2880360" cy="548640"/>
          </a:xfrm>
          <a:prstGeom prst="rect">
            <a:avLst/>
          </a:prstGeom>
          <a:noFill/>
          <a:ln/>
        </p:spPr>
        <p:txBody>
          <a:bodyPr wrap="square" rtlCol="0" anchor="ctr"/>
          <a:lstStyle/>
          <a:p>
            <a:pPr algn="ctr" indent="0" marL="0">
              <a:buNone/>
            </a:pPr>
            <a:r>
              <a:rPr lang="en-US" sz="1400" b="1" dirty="0">
                <a:solidFill>
                  <a:srgbClr val="141A2E"/>
                </a:solidFill>
                <a:latin typeface="Calibri" pitchFamily="34" charset="0"/>
                <a:ea typeface="Calibri" pitchFamily="34" charset="-122"/>
                <a:cs typeface="Calibri" pitchFamily="34" charset="-120"/>
              </a:rPr>
              <a:t>Nodemailer</a:t>
            </a:r>
            <a:endParaRPr lang="en-US" sz="1400" dirty="0"/>
          </a:p>
        </p:txBody>
      </p:sp>
      <p:sp>
        <p:nvSpPr>
          <p:cNvPr id="37" name="Text 35"/>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56607D"/>
                </a:solidFill>
                <a:latin typeface="Calibri" pitchFamily="34" charset="0"/>
                <a:ea typeface="Calibri" pitchFamily="34" charset="-122"/>
                <a:cs typeface="Calibri" pitchFamily="34" charset="-120"/>
              </a:rPr>
              <a:t>e-Boutique — La Poste Tunisienne</a:t>
            </a:r>
            <a:endParaRPr lang="en-US" sz="900" dirty="0"/>
          </a:p>
        </p:txBody>
      </p:sp>
      <p:sp>
        <p:nvSpPr>
          <p:cNvPr id="38" name="Text 36"/>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6607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4F"/>
        </a:solidFill>
      </p:bgPr>
    </p:bg>
    <p:spTree>
      <p:nvGrpSpPr>
        <p:cNvPr id="1" name=""/>
        <p:cNvGrpSpPr/>
        <p:nvPr/>
      </p:nvGrpSpPr>
      <p:grpSpPr>
        <a:xfrm>
          <a:off x="0" y="0"/>
          <a:ext cx="0" cy="0"/>
          <a:chOff x="0" y="0"/>
          <a:chExt cx="0" cy="0"/>
        </a:xfrm>
      </p:grpSpPr>
      <p:sp>
        <p:nvSpPr>
          <p:cNvPr id="2" name="Shape 0"/>
          <p:cNvSpPr/>
          <p:nvPr/>
        </p:nvSpPr>
        <p:spPr>
          <a:xfrm>
            <a:off x="-1005840" y="4937760"/>
            <a:ext cx="2926080" cy="2926080"/>
          </a:xfrm>
          <a:prstGeom prst="ellipse">
            <a:avLst/>
          </a:prstGeom>
          <a:solidFill>
            <a:srgbClr val="1B2D6B"/>
          </a:solidFill>
          <a:ln/>
        </p:spPr>
      </p:sp>
      <p:sp>
        <p:nvSpPr>
          <p:cNvPr id="3" name="Shape 1"/>
          <p:cNvSpPr/>
          <p:nvPr/>
        </p:nvSpPr>
        <p:spPr>
          <a:xfrm>
            <a:off x="10607040" y="-914400"/>
            <a:ext cx="2743200" cy="2743200"/>
          </a:xfrm>
          <a:prstGeom prst="ellipse">
            <a:avLst/>
          </a:prstGeom>
          <a:solidFill>
            <a:srgbClr val="2C44A0"/>
          </a:solidFill>
          <a:ln/>
        </p:spPr>
      </p:sp>
      <p:sp>
        <p:nvSpPr>
          <p:cNvPr id="4" name="Text 2"/>
          <p:cNvSpPr/>
          <p:nvPr/>
        </p:nvSpPr>
        <p:spPr>
          <a:xfrm>
            <a:off x="640080" y="640080"/>
            <a:ext cx="7315200" cy="274320"/>
          </a:xfrm>
          <a:prstGeom prst="rect">
            <a:avLst/>
          </a:prstGeom>
          <a:noFill/>
          <a:ln/>
        </p:spPr>
        <p:txBody>
          <a:bodyPr wrap="square" rtlCol="0" anchor="ctr"/>
          <a:lstStyle/>
          <a:p>
            <a:pPr indent="0" marL="0">
              <a:buNone/>
            </a:pPr>
            <a:r>
              <a:rPr lang="en-US" sz="1200" b="1" spc="200" kern="0" dirty="0">
                <a:solidFill>
                  <a:srgbClr val="F2C200"/>
                </a:solidFill>
                <a:latin typeface="Calibri" pitchFamily="34" charset="0"/>
                <a:ea typeface="Calibri" pitchFamily="34" charset="-122"/>
                <a:cs typeface="Calibri" pitchFamily="34" charset="-120"/>
              </a:rPr>
              <a:t>CONCLUSION &amp; PERSPECTIVES</a:t>
            </a:r>
            <a:endParaRPr lang="en-US" sz="1200" dirty="0"/>
          </a:p>
        </p:txBody>
      </p:sp>
      <p:sp>
        <p:nvSpPr>
          <p:cNvPr id="5" name="Text 3"/>
          <p:cNvSpPr/>
          <p:nvPr/>
        </p:nvSpPr>
        <p:spPr>
          <a:xfrm>
            <a:off x="640080" y="960120"/>
            <a:ext cx="1097280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Une solution complète et sécurisée</a:t>
            </a:r>
            <a:endParaRPr lang="en-US" sz="3200" dirty="0"/>
          </a:p>
        </p:txBody>
      </p:sp>
      <p:sp>
        <p:nvSpPr>
          <p:cNvPr id="6" name="Shape 4"/>
          <p:cNvSpPr/>
          <p:nvPr/>
        </p:nvSpPr>
        <p:spPr>
          <a:xfrm>
            <a:off x="640080" y="2103120"/>
            <a:ext cx="5394960" cy="3200400"/>
          </a:xfrm>
          <a:prstGeom prst="rect">
            <a:avLst/>
          </a:prstGeom>
          <a:solidFill>
            <a:srgbClr val="1B2D6B"/>
          </a:solidFill>
          <a:ln w="25400">
            <a:solidFill>
              <a:srgbClr val="F2C200"/>
            </a:solidFill>
            <a:prstDash val="solid"/>
          </a:ln>
          <a:effectLst>
            <a:outerShdw sx="100000" sy="100000" kx="0" ky="0" algn="bl" rotWithShape="0" blurRad="101600" dist="76200" dir="2700000">
              <a:srgbClr val="2C44A0">
                <a:alpha val="100000"/>
              </a:srgbClr>
            </a:outerShdw>
          </a:effectLst>
        </p:spPr>
      </p:sp>
      <p:sp>
        <p:nvSpPr>
          <p:cNvPr id="7" name="Text 5"/>
          <p:cNvSpPr/>
          <p:nvPr/>
        </p:nvSpPr>
        <p:spPr>
          <a:xfrm>
            <a:off x="914400" y="2286000"/>
            <a:ext cx="4846320" cy="457200"/>
          </a:xfrm>
          <a:prstGeom prst="rect">
            <a:avLst/>
          </a:prstGeom>
          <a:noFill/>
          <a:ln/>
        </p:spPr>
        <p:txBody>
          <a:bodyPr wrap="square" rtlCol="0" anchor="ctr"/>
          <a:lstStyle/>
          <a:p>
            <a:pPr indent="0" marL="0">
              <a:buNone/>
            </a:pPr>
            <a:r>
              <a:rPr lang="en-US" sz="1800" b="1" dirty="0">
                <a:solidFill>
                  <a:srgbClr val="F2C200"/>
                </a:solidFill>
                <a:latin typeface="Cambria" pitchFamily="34" charset="0"/>
                <a:ea typeface="Cambria" pitchFamily="34" charset="-122"/>
                <a:cs typeface="Cambria" pitchFamily="34" charset="-120"/>
              </a:rPr>
              <a:t>Bilan</a:t>
            </a:r>
            <a:endParaRPr lang="en-US" sz="1800" dirty="0"/>
          </a:p>
        </p:txBody>
      </p:sp>
      <p:sp>
        <p:nvSpPr>
          <p:cNvPr id="8" name="Shape 6"/>
          <p:cNvSpPr/>
          <p:nvPr/>
        </p:nvSpPr>
        <p:spPr>
          <a:xfrm>
            <a:off x="914400" y="2953512"/>
            <a:ext cx="146304" cy="146304"/>
          </a:xfrm>
          <a:prstGeom prst="ellipse">
            <a:avLst/>
          </a:prstGeom>
          <a:solidFill>
            <a:srgbClr val="F2C200"/>
          </a:solidFill>
          <a:ln/>
        </p:spPr>
      </p:sp>
      <p:sp>
        <p:nvSpPr>
          <p:cNvPr id="9" name="Text 7"/>
          <p:cNvSpPr/>
          <p:nvPr/>
        </p:nvSpPr>
        <p:spPr>
          <a:xfrm>
            <a:off x="1188720" y="2880360"/>
            <a:ext cx="46634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Parcours complet du colis, du dépôt à la livraison</a:t>
            </a:r>
            <a:endParaRPr lang="en-US" sz="1350" dirty="0"/>
          </a:p>
        </p:txBody>
      </p:sp>
      <p:sp>
        <p:nvSpPr>
          <p:cNvPr id="10" name="Shape 8"/>
          <p:cNvSpPr/>
          <p:nvPr/>
        </p:nvSpPr>
        <p:spPr>
          <a:xfrm>
            <a:off x="914400" y="3520440"/>
            <a:ext cx="146304" cy="146304"/>
          </a:xfrm>
          <a:prstGeom prst="ellipse">
            <a:avLst/>
          </a:prstGeom>
          <a:solidFill>
            <a:srgbClr val="F2C200"/>
          </a:solidFill>
          <a:ln/>
        </p:spPr>
      </p:sp>
      <p:sp>
        <p:nvSpPr>
          <p:cNvPr id="11" name="Text 9"/>
          <p:cNvSpPr/>
          <p:nvPr/>
        </p:nvSpPr>
        <p:spPr>
          <a:xfrm>
            <a:off x="1188720" y="3447288"/>
            <a:ext cx="46634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Vérification e-mail et 2FA</a:t>
            </a:r>
            <a:endParaRPr lang="en-US" sz="1350" dirty="0"/>
          </a:p>
        </p:txBody>
      </p:sp>
      <p:sp>
        <p:nvSpPr>
          <p:cNvPr id="12" name="Shape 10"/>
          <p:cNvSpPr/>
          <p:nvPr/>
        </p:nvSpPr>
        <p:spPr>
          <a:xfrm>
            <a:off x="914400" y="4087368"/>
            <a:ext cx="146304" cy="146304"/>
          </a:xfrm>
          <a:prstGeom prst="ellipse">
            <a:avLst/>
          </a:prstGeom>
          <a:solidFill>
            <a:srgbClr val="F2C200"/>
          </a:solidFill>
          <a:ln/>
        </p:spPr>
      </p:sp>
      <p:sp>
        <p:nvSpPr>
          <p:cNvPr id="13" name="Text 11"/>
          <p:cNvSpPr/>
          <p:nvPr/>
        </p:nvSpPr>
        <p:spPr>
          <a:xfrm>
            <a:off x="1188720" y="4014216"/>
            <a:ext cx="46634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Calcul automatique des frais</a:t>
            </a:r>
            <a:endParaRPr lang="en-US" sz="1350" dirty="0"/>
          </a:p>
        </p:txBody>
      </p:sp>
      <p:sp>
        <p:nvSpPr>
          <p:cNvPr id="14" name="Shape 12"/>
          <p:cNvSpPr/>
          <p:nvPr/>
        </p:nvSpPr>
        <p:spPr>
          <a:xfrm>
            <a:off x="914400" y="4654296"/>
            <a:ext cx="146304" cy="146304"/>
          </a:xfrm>
          <a:prstGeom prst="ellipse">
            <a:avLst/>
          </a:prstGeom>
          <a:solidFill>
            <a:srgbClr val="F2C200"/>
          </a:solidFill>
          <a:ln/>
        </p:spPr>
      </p:sp>
      <p:sp>
        <p:nvSpPr>
          <p:cNvPr id="15" name="Text 13"/>
          <p:cNvSpPr/>
          <p:nvPr/>
        </p:nvSpPr>
        <p:spPr>
          <a:xfrm>
            <a:off x="1188720" y="4581144"/>
            <a:ext cx="46634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Notifications en temps réel</a:t>
            </a:r>
            <a:endParaRPr lang="en-US" sz="1350" dirty="0"/>
          </a:p>
        </p:txBody>
      </p:sp>
      <p:sp>
        <p:nvSpPr>
          <p:cNvPr id="16" name="Shape 14"/>
          <p:cNvSpPr/>
          <p:nvPr/>
        </p:nvSpPr>
        <p:spPr>
          <a:xfrm>
            <a:off x="6309360" y="2103120"/>
            <a:ext cx="5212080" cy="3200400"/>
          </a:xfrm>
          <a:prstGeom prst="rect">
            <a:avLst/>
          </a:prstGeom>
          <a:solidFill>
            <a:srgbClr val="1B2D6B"/>
          </a:solidFill>
          <a:ln w="25400">
            <a:solidFill>
              <a:srgbClr val="FFFFFF"/>
            </a:solidFill>
            <a:prstDash val="solid"/>
          </a:ln>
          <a:effectLst>
            <a:outerShdw sx="100000" sy="100000" kx="0" ky="0" algn="bl" rotWithShape="0" blurRad="101600" dist="76200" dir="2700000">
              <a:srgbClr val="2C44A0">
                <a:alpha val="100000"/>
              </a:srgbClr>
            </a:outerShdw>
          </a:effectLst>
        </p:spPr>
      </p:sp>
      <p:sp>
        <p:nvSpPr>
          <p:cNvPr id="17" name="Text 15"/>
          <p:cNvSpPr/>
          <p:nvPr/>
        </p:nvSpPr>
        <p:spPr>
          <a:xfrm>
            <a:off x="6583680" y="2286000"/>
            <a:ext cx="4663440" cy="457200"/>
          </a:xfrm>
          <a:prstGeom prst="rect">
            <a:avLst/>
          </a:prstGeom>
          <a:noFill/>
          <a:ln/>
        </p:spPr>
        <p:txBody>
          <a:bodyPr wrap="square" rtlCol="0" anchor="ctr"/>
          <a:lstStyle/>
          <a:p>
            <a:pPr indent="0" marL="0">
              <a:buNone/>
            </a:pPr>
            <a:r>
              <a:rPr lang="en-US" sz="1800" b="1" dirty="0">
                <a:solidFill>
                  <a:srgbClr val="F2C200"/>
                </a:solidFill>
                <a:latin typeface="Cambria" pitchFamily="34" charset="0"/>
                <a:ea typeface="Cambria" pitchFamily="34" charset="-122"/>
                <a:cs typeface="Cambria" pitchFamily="34" charset="-120"/>
              </a:rPr>
              <a:t>Perspectives</a:t>
            </a:r>
            <a:endParaRPr lang="en-US" sz="1800" dirty="0"/>
          </a:p>
        </p:txBody>
      </p:sp>
      <p:sp>
        <p:nvSpPr>
          <p:cNvPr id="18" name="Shape 16"/>
          <p:cNvSpPr/>
          <p:nvPr/>
        </p:nvSpPr>
        <p:spPr>
          <a:xfrm>
            <a:off x="6583680" y="2953512"/>
            <a:ext cx="146304" cy="146304"/>
          </a:xfrm>
          <a:prstGeom prst="ellipse">
            <a:avLst/>
          </a:prstGeom>
          <a:solidFill>
            <a:srgbClr val="FFFFFF"/>
          </a:solidFill>
          <a:ln/>
        </p:spPr>
      </p:sp>
      <p:sp>
        <p:nvSpPr>
          <p:cNvPr id="19" name="Text 17"/>
          <p:cNvSpPr/>
          <p:nvPr/>
        </p:nvSpPr>
        <p:spPr>
          <a:xfrm>
            <a:off x="6858000" y="2880360"/>
            <a:ext cx="448056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Application mobile</a:t>
            </a:r>
            <a:endParaRPr lang="en-US" sz="1350" dirty="0"/>
          </a:p>
        </p:txBody>
      </p:sp>
      <p:sp>
        <p:nvSpPr>
          <p:cNvPr id="20" name="Shape 18"/>
          <p:cNvSpPr/>
          <p:nvPr/>
        </p:nvSpPr>
        <p:spPr>
          <a:xfrm>
            <a:off x="6583680" y="3520440"/>
            <a:ext cx="146304" cy="146304"/>
          </a:xfrm>
          <a:prstGeom prst="ellipse">
            <a:avLst/>
          </a:prstGeom>
          <a:solidFill>
            <a:srgbClr val="FFFFFF"/>
          </a:solidFill>
          <a:ln/>
        </p:spPr>
      </p:sp>
      <p:sp>
        <p:nvSpPr>
          <p:cNvPr id="21" name="Text 19"/>
          <p:cNvSpPr/>
          <p:nvPr/>
        </p:nvSpPr>
        <p:spPr>
          <a:xfrm>
            <a:off x="6858000" y="3447288"/>
            <a:ext cx="448056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Intégration réelle du paiement e-Dinar</a:t>
            </a:r>
            <a:endParaRPr lang="en-US" sz="1350" dirty="0"/>
          </a:p>
        </p:txBody>
      </p:sp>
      <p:sp>
        <p:nvSpPr>
          <p:cNvPr id="22" name="Shape 20"/>
          <p:cNvSpPr/>
          <p:nvPr/>
        </p:nvSpPr>
        <p:spPr>
          <a:xfrm>
            <a:off x="6583680" y="4087368"/>
            <a:ext cx="146304" cy="146304"/>
          </a:xfrm>
          <a:prstGeom prst="ellipse">
            <a:avLst/>
          </a:prstGeom>
          <a:solidFill>
            <a:srgbClr val="FFFFFF"/>
          </a:solidFill>
          <a:ln/>
        </p:spPr>
      </p:sp>
      <p:sp>
        <p:nvSpPr>
          <p:cNvPr id="23" name="Text 21"/>
          <p:cNvSpPr/>
          <p:nvPr/>
        </p:nvSpPr>
        <p:spPr>
          <a:xfrm>
            <a:off x="6858000" y="4014216"/>
            <a:ext cx="448056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Tableau de bord statistique</a:t>
            </a:r>
            <a:endParaRPr lang="en-US" sz="1350" dirty="0"/>
          </a:p>
        </p:txBody>
      </p:sp>
      <p:sp>
        <p:nvSpPr>
          <p:cNvPr id="24" name="Shape 22"/>
          <p:cNvSpPr/>
          <p:nvPr/>
        </p:nvSpPr>
        <p:spPr>
          <a:xfrm>
            <a:off x="6583680" y="4654296"/>
            <a:ext cx="146304" cy="146304"/>
          </a:xfrm>
          <a:prstGeom prst="ellipse">
            <a:avLst/>
          </a:prstGeom>
          <a:solidFill>
            <a:srgbClr val="FFFFFF"/>
          </a:solidFill>
          <a:ln/>
        </p:spPr>
      </p:sp>
      <p:sp>
        <p:nvSpPr>
          <p:cNvPr id="25" name="Text 23"/>
          <p:cNvSpPr/>
          <p:nvPr/>
        </p:nvSpPr>
        <p:spPr>
          <a:xfrm>
            <a:off x="6858000" y="4581144"/>
            <a:ext cx="448056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Chatbot d'assistance client</a:t>
            </a:r>
            <a:endParaRPr lang="en-US" sz="1350" dirty="0"/>
          </a:p>
        </p:txBody>
      </p:sp>
      <p:sp>
        <p:nvSpPr>
          <p:cNvPr id="26" name="Text 24"/>
          <p:cNvSpPr/>
          <p:nvPr/>
        </p:nvSpPr>
        <p:spPr>
          <a:xfrm>
            <a:off x="640080" y="5623560"/>
            <a:ext cx="10972800" cy="640080"/>
          </a:xfrm>
          <a:prstGeom prst="rect">
            <a:avLst/>
          </a:prstGeom>
          <a:noFill/>
          <a:ln/>
        </p:spPr>
        <p:txBody>
          <a:bodyPr wrap="square" rtlCol="0" anchor="ctr"/>
          <a:lstStyle/>
          <a:p>
            <a:pPr algn="ctr" indent="0" marL="0">
              <a:buNone/>
            </a:pPr>
            <a:r>
              <a:rPr lang="en-US" sz="2400" b="1" dirty="0">
                <a:solidFill>
                  <a:srgbClr val="F2C200"/>
                </a:solidFill>
                <a:latin typeface="Cambria" pitchFamily="34" charset="0"/>
                <a:ea typeface="Cambria" pitchFamily="34" charset="-122"/>
                <a:cs typeface="Cambria" pitchFamily="34" charset="-120"/>
              </a:rPr>
              <a:t>Merci de votre attention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2026-07-21T21:31:29Z</dcterms:created>
  <dcterms:modified xsi:type="dcterms:W3CDTF">2026-07-21T21:31:29Z</dcterms:modified>
</cp:coreProperties>
</file>