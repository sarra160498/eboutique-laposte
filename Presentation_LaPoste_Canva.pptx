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</p:sldIdLst>
  <p:sldSz cx="12192000" cy="6858000" type="screen16x9"/>
  <p:notesSz cx="6858000" cy="9144000"/>
</p:presentation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slide" Target="slides/slide15.xml"/><Relationship Id="rId18" Type="http://schemas.openxmlformats.org/officeDocument/2006/relationships/slide" Target="slides/slide16.xml"/></Relationship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er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A"/>
        </a:solidFill>
        <a:effectLst/>
      </p:bgPr>
    </p:bg>
    <p:spTree>
      <p:sp>
        <p:nvSpPr>
          <p:cNvPr id="2" name="s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C2A5E"/>
          </a:solidFill>
          <a:ln>
            <a:noFill/>
          </a:ln>
        </p:spPr>
        <p:txBody>
          <a:bodyPr/>
          <a:lstStyle/>
          <a:p>
            <a:endParaRPr lang="fr-FR"/>
          </a:p>
        </p:txBody>
      </p:sp>
      <p:sp>
        <p:nvSpPr>
          <p:cNvPr id="3" name="s3"/>
          <p:cNvSpPr/>
          <p:nvPr/>
        </p:nvSpPr>
        <p:spPr>
          <a:xfrm>
            <a:off x="0" y="0"/>
            <a:ext cx="130000" cy="6858000"/>
          </a:xfrm>
          <a:prstGeom prst="rect">
            <a:avLst/>
          </a:prstGeom>
          <a:solidFill>
            <a:srgbClr val="F4C400"/>
          </a:solidFill>
          <a:ln>
            <a:noFill/>
          </a:ln>
        </p:spPr>
        <p:txBody>
          <a:bodyPr/>
          <a:lstStyle/>
          <a:p>
            <a:endParaRPr lang="fr-FR"/>
          </a:p>
        </p:txBody>
      </p:sp>
      <p:sp>
        <p:nvSpPr>
          <p:cNvPr id="4" name="s4"/>
          <p:cNvSpPr/>
          <p:nvPr/>
        </p:nvSpPr>
        <p:spPr>
          <a:xfrm>
            <a:off x="640080" y="620000"/>
            <a:ext cx="1150000" cy="1150000"/>
          </a:xfrm>
          <a:prstGeom prst="roundRect">
            <a:avLst>
              <a:gd name="adj" fmla="val 18000"/>
            </a:avLst>
          </a:prstGeom>
          <a:solidFill>
            <a:srgbClr val="1C2A5E"/>
          </a:solidFill>
          <a:ln>
            <a:noFill/>
          </a:ln>
        </p:spPr>
        <p:txBody>
          <a:bodyPr/>
          <a:lstStyle/>
          <a:p>
            <a:endParaRPr lang="fr-FR"/>
          </a:p>
        </p:txBody>
      </p:sp>
      <p:sp>
        <p:nvSpPr>
          <p:cNvPr id="5" name="s5"/>
          <p:cNvSpPr/>
          <p:nvPr/>
        </p:nvSpPr>
        <p:spPr>
          <a:xfrm>
            <a:off x="778080" y="781000"/>
            <a:ext cx="874000" cy="391000"/>
          </a:xfrm>
          <a:prstGeom prst="roundRect">
            <a:avLst>
              <a:gd name="adj" fmla="val 25000"/>
            </a:avLst>
          </a:prstGeom>
          <a:solidFill>
            <a:srgbClr val="F4C400"/>
          </a:solidFill>
          <a:ln>
            <a:noFill/>
          </a:ln>
        </p:spPr>
        <p:txBody>
          <a:bodyPr wrap="square" lIns="91440" tIns="0" rIns="91440" bIns="0" anchor="ctr">
            <a:normAutofit/>
          </a:bodyPr>
          <a:lstStyle/>
          <a:p>
            <a:pPr algn="ctr">
              <a:buNone/>
            </a:pPr>
            <a:r>
              <a:rPr lang="fr-FR" sz="1277" b="1" i="0">
                <a:solidFill>
                  <a:srgbClr val="1C2A5E"/>
                </a:solidFill>
                <a:latin typeface="Arial"/>
              </a:rPr>
              <a:t>POSTE</a:t>
            </a:r>
          </a:p>
        </p:txBody>
      </p:sp>
      <p:sp>
        <p:nvSpPr>
          <p:cNvPr id="6" name="s6"/>
          <p:cNvSpPr/>
          <p:nvPr/>
        </p:nvSpPr>
        <p:spPr>
          <a:xfrm>
            <a:off x="640080" y="1149000"/>
            <a:ext cx="1150000" cy="575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0" rIns="91440" bIns="0" anchor="ctr">
            <a:normAutofit/>
          </a:bodyPr>
          <a:lstStyle/>
          <a:p>
            <a:pPr algn="ctr">
              <a:buNone/>
            </a:pPr>
            <a:r>
              <a:rPr lang="fr-FR" sz="2674" b="1" i="0">
                <a:solidFill>
                  <a:srgbClr val="FFFFFF"/>
                </a:solidFill>
                <a:latin typeface="Arial"/>
              </a:rPr>
              <a:t>TN</a:t>
            </a:r>
          </a:p>
        </p:txBody>
      </p:sp>
      <p:sp>
        <p:nvSpPr>
          <p:cNvPr id="7" name="s7"/>
          <p:cNvSpPr/>
          <p:nvPr/>
        </p:nvSpPr>
        <p:spPr>
          <a:xfrm>
            <a:off x="640080" y="2050000"/>
            <a:ext cx="10200000" cy="56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>
            <a:normAutofit/>
          </a:bodyPr>
          <a:lstStyle/>
          <a:p>
            <a:pPr algn="l">
              <a:buNone/>
            </a:pPr>
            <a:r>
              <a:rPr lang="fr-FR" sz="2000" b="1" i="0">
                <a:solidFill>
                  <a:srgbClr val="F4C400"/>
                </a:solidFill>
                <a:latin typeface="Arial"/>
              </a:rPr>
              <a:t>e-BOUTIQUE</a:t>
            </a:r>
          </a:p>
        </p:txBody>
      </p:sp>
      <p:sp>
        <p:nvSpPr>
          <p:cNvPr id="8" name="s8"/>
          <p:cNvSpPr/>
          <p:nvPr/>
        </p:nvSpPr>
        <p:spPr>
          <a:xfrm>
            <a:off x="640080" y="2560000"/>
            <a:ext cx="10400000" cy="150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>
            <a:normAutofit/>
          </a:bodyPr>
          <a:lstStyle/>
          <a:p>
            <a:pPr algn="l">
              <a:buNone/>
            </a:pPr>
            <a:r>
              <a:rPr lang="fr-FR" sz="3600" b="1" i="0">
                <a:solidFill>
                  <a:srgbClr val="FFFFFF"/>
                </a:solidFill>
                <a:latin typeface="Arial"/>
              </a:rPr>
              <a:t>Conception et réalisation d'une plateforme</a:t>
            </a:r>
          </a:p>
          <a:p>
            <a:pPr algn="l">
              <a:spcBef>
                <a:spcPts val="400"/>
              </a:spcBef>
              <a:buNone/>
            </a:pPr>
            <a:r>
              <a:rPr lang="fr-FR" sz="3600" b="1" i="0">
                <a:solidFill>
                  <a:srgbClr val="FFFFFF"/>
                </a:solidFill>
                <a:latin typeface="Arial"/>
              </a:rPr>
              <a:t>e-commerce pour La Poste Tunisienne</a:t>
            </a:r>
          </a:p>
        </p:txBody>
      </p:sp>
      <p:sp>
        <p:nvSpPr>
          <p:cNvPr id="9" name="s9"/>
          <p:cNvSpPr/>
          <p:nvPr/>
        </p:nvSpPr>
        <p:spPr>
          <a:xfrm>
            <a:off x="640080" y="4160000"/>
            <a:ext cx="10400000" cy="50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>
            <a:normAutofit/>
          </a:bodyPr>
          <a:lstStyle/>
          <a:p>
            <a:pPr algn="l">
              <a:buNone/>
            </a:pPr>
            <a:r>
              <a:rPr lang="fr-FR" sz="1400" b="0" i="1">
                <a:solidFill>
                  <a:srgbClr val="C9D2E6"/>
                </a:solidFill>
                <a:latin typeface="Arial"/>
              </a:rPr>
              <a:t>Boutique en ligne · dépôt et suivi de colis · paiement e-Dinar · espace professionnel</a:t>
            </a:r>
          </a:p>
        </p:txBody>
      </p:sp>
      <p:sp>
        <p:nvSpPr>
          <p:cNvPr id="10" name="s10"/>
          <p:cNvSpPr/>
          <p:nvPr/>
        </p:nvSpPr>
        <p:spPr>
          <a:xfrm>
            <a:off x="640080" y="5050000"/>
            <a:ext cx="5000000" cy="90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>
            <a:normAutofit/>
          </a:bodyPr>
          <a:lstStyle/>
          <a:p>
            <a:pPr algn="l">
              <a:buNone/>
            </a:pPr>
            <a:r>
              <a:rPr lang="fr-FR" sz="1300" b="1" i="0">
                <a:solidFill>
                  <a:srgbClr val="F4C400"/>
                </a:solidFill>
                <a:latin typeface="Arial"/>
              </a:rPr>
              <a:t>Réalisé par : </a:t>
            </a:r>
            <a:r>
              <a:rPr lang="fr-FR" sz="1300" b="0" i="0">
                <a:solidFill>
                  <a:srgbClr val="FFFFFF"/>
                </a:solidFill>
                <a:latin typeface="Arial"/>
              </a:rPr>
              <a:t>Sarra</a:t>
            </a:r>
          </a:p>
          <a:p>
            <a:pPr algn="l">
              <a:spcBef>
                <a:spcPts val="300"/>
              </a:spcBef>
              <a:buNone/>
            </a:pPr>
            <a:r>
              <a:rPr lang="fr-FR" sz="1300" b="1" i="0">
                <a:solidFill>
                  <a:srgbClr val="F4C400"/>
                </a:solidFill>
                <a:latin typeface="Arial"/>
              </a:rPr>
              <a:t>Encadré par : </a:t>
            </a:r>
            <a:r>
              <a:rPr lang="fr-FR" sz="1300" b="0" i="0">
                <a:solidFill>
                  <a:srgbClr val="FFFFFF"/>
                </a:solidFill>
                <a:latin typeface="Arial"/>
              </a:rPr>
              <a:t>……………………</a:t>
            </a:r>
          </a:p>
          <a:p>
            <a:pPr algn="l">
              <a:spcBef>
                <a:spcPts val="300"/>
              </a:spcBef>
              <a:buNone/>
            </a:pPr>
            <a:r>
              <a:rPr lang="fr-FR" sz="1300" b="1" i="0">
                <a:solidFill>
                  <a:srgbClr val="F4C400"/>
                </a:solidFill>
                <a:latin typeface="Arial"/>
              </a:rPr>
              <a:t>Année universitaire : </a:t>
            </a:r>
            <a:r>
              <a:rPr lang="fr-FR" sz="1300" b="0" i="0">
                <a:solidFill>
                  <a:srgbClr val="FFFFFF"/>
                </a:solidFill>
                <a:latin typeface="Arial"/>
              </a:rPr>
              <a:t>2025 – 2026</a:t>
            </a:r>
          </a:p>
        </p:txBody>
      </p:sp>
      <p:sp>
        <p:nvSpPr>
          <p:cNvPr id="11" name="s11"/>
          <p:cNvSpPr/>
          <p:nvPr/>
        </p:nvSpPr>
        <p:spPr>
          <a:xfrm>
            <a:off x="8592000" y="5350000"/>
            <a:ext cx="3000000" cy="500000"/>
          </a:xfrm>
          <a:prstGeom prst="roundRect">
            <a:avLst>
              <a:gd name="adj" fmla="val 30000"/>
            </a:avLst>
          </a:prstGeom>
          <a:solidFill>
            <a:srgbClr val="F4C400"/>
          </a:solidFill>
          <a:ln>
            <a:noFill/>
          </a:ln>
        </p:spPr>
        <p:txBody>
          <a:bodyPr wrap="square" lIns="91440" tIns="45720" rIns="91440" bIns="45720" anchor="ctr">
            <a:normAutofit/>
          </a:bodyPr>
          <a:lstStyle/>
          <a:p>
            <a:pPr algn="ctr">
              <a:buNone/>
            </a:pPr>
            <a:r>
              <a:rPr lang="fr-FR" sz="1300" b="1" i="0">
                <a:solidFill>
                  <a:srgbClr val="1C2A5E"/>
                </a:solidFill>
                <a:latin typeface="Arial"/>
              </a:rPr>
              <a:t>Projet de Fin d'Études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A"/>
        </a:solidFill>
        <a:effectLst/>
      </p:bgPr>
    </p:bg>
    <p:spTree>
      <p:sp>
        <p:nvSpPr>
          <p:cNvPr id="2" name="s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txBody>
          <a:bodyPr/>
          <a:lstStyle/>
          <a:p>
            <a:endParaRPr lang="fr-FR"/>
          </a:p>
        </p:txBody>
      </p:sp>
      <p:sp>
        <p:nvSpPr>
          <p:cNvPr id="3" name="s3"/>
          <p:cNvSpPr/>
          <p:nvPr/>
        </p:nvSpPr>
        <p:spPr>
          <a:xfrm>
            <a:off x="640080" y="470000"/>
            <a:ext cx="10911840" cy="30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>
            <a:normAutofit/>
          </a:bodyPr>
          <a:lstStyle/>
          <a:p>
            <a:pPr algn="l">
              <a:buNone/>
            </a:pPr>
            <a:r>
              <a:rPr lang="fr-FR" sz="1200" b="1" i="0">
                <a:solidFill>
                  <a:srgbClr val="9A7B12"/>
                </a:solidFill>
                <a:latin typeface="Arial"/>
              </a:rPr>
              <a:t>PLAN DE LA PRÉSENTATION</a:t>
            </a:r>
          </a:p>
        </p:txBody>
      </p:sp>
      <p:sp>
        <p:nvSpPr>
          <p:cNvPr id="4" name="s4"/>
          <p:cNvSpPr/>
          <p:nvPr/>
        </p:nvSpPr>
        <p:spPr>
          <a:xfrm>
            <a:off x="630080" y="720000"/>
            <a:ext cx="10911840" cy="90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>
            <a:normAutofit/>
          </a:bodyPr>
          <a:lstStyle/>
          <a:p>
            <a:pPr algn="l">
              <a:buNone/>
            </a:pPr>
            <a:r>
              <a:rPr lang="fr-FR" sz="3200" b="1" i="0">
                <a:solidFill>
                  <a:srgbClr val="1C2A5E"/>
                </a:solidFill>
                <a:latin typeface="Arial"/>
              </a:rPr>
              <a:t>Sommaire</a:t>
            </a:r>
          </a:p>
        </p:txBody>
      </p:sp>
      <p:sp>
        <p:nvSpPr>
          <p:cNvPr id="5" name="s5"/>
          <p:cNvSpPr/>
          <p:nvPr/>
        </p:nvSpPr>
        <p:spPr>
          <a:xfrm>
            <a:off x="640080" y="1640000"/>
            <a:ext cx="1500000" cy="90000"/>
          </a:xfrm>
          <a:prstGeom prst="rect">
            <a:avLst/>
          </a:prstGeom>
          <a:solidFill>
            <a:srgbClr val="F4C400"/>
          </a:solidFill>
          <a:ln>
            <a:noFill/>
          </a:ln>
        </p:spPr>
        <p:txBody>
          <a:bodyPr/>
          <a:lstStyle/>
          <a:p>
            <a:endParaRPr lang="fr-FR"/>
          </a:p>
        </p:txBody>
      </p:sp>
      <p:sp>
        <p:nvSpPr>
          <p:cNvPr id="6" name="s6"/>
          <p:cNvSpPr/>
          <p:nvPr/>
        </p:nvSpPr>
        <p:spPr>
          <a:xfrm>
            <a:off x="640080" y="6380000"/>
            <a:ext cx="8000000" cy="30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rmAutofit/>
          </a:bodyPr>
          <a:lstStyle/>
          <a:p>
            <a:pPr algn="l">
              <a:buNone/>
            </a:pPr>
            <a:r>
              <a:rPr lang="fr-FR" sz="1000" b="0" i="0">
                <a:solidFill>
                  <a:srgbClr val="8A90A0"/>
                </a:solidFill>
                <a:latin typeface="Arial"/>
              </a:rPr>
              <a:t>e-Boutique — La Poste Tunisienne</a:t>
            </a:r>
          </a:p>
        </p:txBody>
      </p:sp>
      <p:sp>
        <p:nvSpPr>
          <p:cNvPr id="7" name="s7"/>
          <p:cNvSpPr/>
          <p:nvPr/>
        </p:nvSpPr>
        <p:spPr>
          <a:xfrm>
            <a:off x="10992000" y="6360000"/>
            <a:ext cx="560000" cy="340000"/>
          </a:xfrm>
          <a:prstGeom prst="roundRect">
            <a:avLst>
              <a:gd name="adj" fmla="val 25000"/>
            </a:avLst>
          </a:prstGeom>
          <a:solidFill>
            <a:srgbClr val="1C2A5E"/>
          </a:solidFill>
          <a:ln>
            <a:noFill/>
          </a:ln>
        </p:spPr>
        <p:txBody>
          <a:bodyPr wrap="square" lIns="91440" tIns="0" rIns="91440" bIns="0" anchor="ctr">
            <a:normAutofit/>
          </a:bodyPr>
          <a:lstStyle/>
          <a:p>
            <a:pPr algn="ctr">
              <a:buNone/>
            </a:pPr>
            <a:r>
              <a:rPr lang="fr-FR" sz="11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8" name="s8"/>
          <p:cNvSpPr/>
          <p:nvPr/>
        </p:nvSpPr>
        <p:spPr>
          <a:xfrm>
            <a:off x="640080" y="2050000"/>
            <a:ext cx="470000" cy="470000"/>
          </a:xfrm>
          <a:prstGeom prst="roundRect">
            <a:avLst>
              <a:gd name="adj" fmla="val 30000"/>
            </a:avLst>
          </a:prstGeom>
          <a:solidFill>
            <a:srgbClr val="F4C400"/>
          </a:solidFill>
          <a:ln>
            <a:noFill/>
          </a:ln>
        </p:spPr>
        <p:txBody>
          <a:bodyPr wrap="square" lIns="91440" tIns="0" rIns="91440" bIns="0" anchor="ctr">
            <a:normAutofit/>
          </a:bodyPr>
          <a:lstStyle/>
          <a:p>
            <a:pPr algn="ctr">
              <a:buNone/>
            </a:pPr>
            <a:r>
              <a:rPr lang="fr-FR" sz="1400" b="1" i="0">
                <a:solidFill>
                  <a:srgbClr val="1C2A5E"/>
                </a:solidFill>
                <a:latin typeface="Arial"/>
              </a:rPr>
              <a:t>1</a:t>
            </a:r>
          </a:p>
        </p:txBody>
      </p:sp>
      <p:sp>
        <p:nvSpPr>
          <p:cNvPr id="9" name="s9"/>
          <p:cNvSpPr/>
          <p:nvPr/>
        </p:nvSpPr>
        <p:spPr>
          <a:xfrm>
            <a:off x="1200080" y="2050000"/>
            <a:ext cx="4835920" cy="47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rmAutofit/>
          </a:bodyPr>
          <a:lstStyle/>
          <a:p>
            <a:pPr algn="l">
              <a:buNone/>
            </a:pPr>
            <a:r>
              <a:rPr lang="fr-FR" sz="1400" b="1" i="0">
                <a:solidFill>
                  <a:srgbClr val="1C2A5E"/>
                </a:solidFill>
                <a:latin typeface="Arial"/>
              </a:rPr>
              <a:t>Présentation de l'organisme d'accueil</a:t>
            </a:r>
          </a:p>
        </p:txBody>
      </p:sp>
      <p:sp>
        <p:nvSpPr>
          <p:cNvPr id="10" name="s10"/>
          <p:cNvSpPr/>
          <p:nvPr/>
        </p:nvSpPr>
        <p:spPr>
          <a:xfrm>
            <a:off x="640080" y="2540000"/>
            <a:ext cx="470000" cy="470000"/>
          </a:xfrm>
          <a:prstGeom prst="roundRect">
            <a:avLst>
              <a:gd name="adj" fmla="val 30000"/>
            </a:avLst>
          </a:prstGeom>
          <a:solidFill>
            <a:srgbClr val="F4C400"/>
          </a:solidFill>
          <a:ln>
            <a:noFill/>
          </a:ln>
        </p:spPr>
        <p:txBody>
          <a:bodyPr wrap="square" lIns="91440" tIns="0" rIns="91440" bIns="0" anchor="ctr">
            <a:normAutofit/>
          </a:bodyPr>
          <a:lstStyle/>
          <a:p>
            <a:pPr algn="ctr">
              <a:buNone/>
            </a:pPr>
            <a:r>
              <a:rPr lang="fr-FR" sz="1400" b="1" i="0">
                <a:solidFill>
                  <a:srgbClr val="1C2A5E"/>
                </a:solidFill>
                <a:latin typeface="Arial"/>
              </a:rPr>
              <a:t>2</a:t>
            </a:r>
          </a:p>
        </p:txBody>
      </p:sp>
      <p:sp>
        <p:nvSpPr>
          <p:cNvPr id="11" name="s11"/>
          <p:cNvSpPr/>
          <p:nvPr/>
        </p:nvSpPr>
        <p:spPr>
          <a:xfrm>
            <a:off x="1200080" y="2540000"/>
            <a:ext cx="4835920" cy="47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rmAutofit/>
          </a:bodyPr>
          <a:lstStyle/>
          <a:p>
            <a:pPr algn="l">
              <a:buNone/>
            </a:pPr>
            <a:r>
              <a:rPr lang="fr-FR" sz="1400" b="1" i="0">
                <a:solidFill>
                  <a:srgbClr val="1C2A5E"/>
                </a:solidFill>
                <a:latin typeface="Arial"/>
              </a:rPr>
              <a:t>Contexte du projet</a:t>
            </a:r>
          </a:p>
        </p:txBody>
      </p:sp>
      <p:sp>
        <p:nvSpPr>
          <p:cNvPr id="12" name="s12"/>
          <p:cNvSpPr/>
          <p:nvPr/>
        </p:nvSpPr>
        <p:spPr>
          <a:xfrm>
            <a:off x="640080" y="3030000"/>
            <a:ext cx="470000" cy="470000"/>
          </a:xfrm>
          <a:prstGeom prst="roundRect">
            <a:avLst>
              <a:gd name="adj" fmla="val 30000"/>
            </a:avLst>
          </a:prstGeom>
          <a:solidFill>
            <a:srgbClr val="F4C400"/>
          </a:solidFill>
          <a:ln>
            <a:noFill/>
          </a:ln>
        </p:spPr>
        <p:txBody>
          <a:bodyPr wrap="square" lIns="91440" tIns="0" rIns="91440" bIns="0" anchor="ctr">
            <a:normAutofit/>
          </a:bodyPr>
          <a:lstStyle/>
          <a:p>
            <a:pPr algn="ctr">
              <a:buNone/>
            </a:pPr>
            <a:r>
              <a:rPr lang="fr-FR" sz="1400" b="1" i="0">
                <a:solidFill>
                  <a:srgbClr val="1C2A5E"/>
                </a:solidFill>
                <a:latin typeface="Arial"/>
              </a:rPr>
              <a:t>3</a:t>
            </a:r>
          </a:p>
        </p:txBody>
      </p:sp>
      <p:sp>
        <p:nvSpPr>
          <p:cNvPr id="13" name="s13"/>
          <p:cNvSpPr/>
          <p:nvPr/>
        </p:nvSpPr>
        <p:spPr>
          <a:xfrm>
            <a:off x="1200080" y="3030000"/>
            <a:ext cx="4835920" cy="47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rmAutofit/>
          </a:bodyPr>
          <a:lstStyle/>
          <a:p>
            <a:pPr algn="l">
              <a:buNone/>
            </a:pPr>
            <a:r>
              <a:rPr lang="fr-FR" sz="1400" b="1" i="0">
                <a:solidFill>
                  <a:srgbClr val="1C2A5E"/>
                </a:solidFill>
                <a:latin typeface="Arial"/>
              </a:rPr>
              <a:t>Problématique</a:t>
            </a:r>
          </a:p>
        </p:txBody>
      </p:sp>
      <p:sp>
        <p:nvSpPr>
          <p:cNvPr id="14" name="s14"/>
          <p:cNvSpPr/>
          <p:nvPr/>
        </p:nvSpPr>
        <p:spPr>
          <a:xfrm>
            <a:off x="640080" y="3520000"/>
            <a:ext cx="470000" cy="470000"/>
          </a:xfrm>
          <a:prstGeom prst="roundRect">
            <a:avLst>
              <a:gd name="adj" fmla="val 30000"/>
            </a:avLst>
          </a:prstGeom>
          <a:solidFill>
            <a:srgbClr val="F4C400"/>
          </a:solidFill>
          <a:ln>
            <a:noFill/>
          </a:ln>
        </p:spPr>
        <p:txBody>
          <a:bodyPr wrap="square" lIns="91440" tIns="0" rIns="91440" bIns="0" anchor="ctr">
            <a:normAutofit/>
          </a:bodyPr>
          <a:lstStyle/>
          <a:p>
            <a:pPr algn="ctr">
              <a:buNone/>
            </a:pPr>
            <a:r>
              <a:rPr lang="fr-FR" sz="1400" b="1" i="0">
                <a:solidFill>
                  <a:srgbClr val="1C2A5E"/>
                </a:solidFill>
                <a:latin typeface="Arial"/>
              </a:rPr>
              <a:t>4</a:t>
            </a:r>
          </a:p>
        </p:txBody>
      </p:sp>
      <p:sp>
        <p:nvSpPr>
          <p:cNvPr id="15" name="s15"/>
          <p:cNvSpPr/>
          <p:nvPr/>
        </p:nvSpPr>
        <p:spPr>
          <a:xfrm>
            <a:off x="1200080" y="3520000"/>
            <a:ext cx="4835920" cy="47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rmAutofit/>
          </a:bodyPr>
          <a:lstStyle/>
          <a:p>
            <a:pPr algn="l">
              <a:buNone/>
            </a:pPr>
            <a:r>
              <a:rPr lang="fr-FR" sz="1400" b="1" i="0">
                <a:solidFill>
                  <a:srgbClr val="1C2A5E"/>
                </a:solidFill>
                <a:latin typeface="Arial"/>
              </a:rPr>
              <a:t>Étude de l'existant et critique</a:t>
            </a:r>
          </a:p>
        </p:txBody>
      </p:sp>
      <p:sp>
        <p:nvSpPr>
          <p:cNvPr id="16" name="s16"/>
          <p:cNvSpPr/>
          <p:nvPr/>
        </p:nvSpPr>
        <p:spPr>
          <a:xfrm>
            <a:off x="640080" y="4010000"/>
            <a:ext cx="470000" cy="470000"/>
          </a:xfrm>
          <a:prstGeom prst="roundRect">
            <a:avLst>
              <a:gd name="adj" fmla="val 30000"/>
            </a:avLst>
          </a:prstGeom>
          <a:solidFill>
            <a:srgbClr val="F4C400"/>
          </a:solidFill>
          <a:ln>
            <a:noFill/>
          </a:ln>
        </p:spPr>
        <p:txBody>
          <a:bodyPr wrap="square" lIns="91440" tIns="0" rIns="91440" bIns="0" anchor="ctr">
            <a:normAutofit/>
          </a:bodyPr>
          <a:lstStyle/>
          <a:p>
            <a:pPr algn="ctr">
              <a:buNone/>
            </a:pPr>
            <a:r>
              <a:rPr lang="fr-FR" sz="1400" b="1" i="0">
                <a:solidFill>
                  <a:srgbClr val="1C2A5E"/>
                </a:solidFill>
                <a:latin typeface="Arial"/>
              </a:rPr>
              <a:t>5</a:t>
            </a:r>
          </a:p>
        </p:txBody>
      </p:sp>
      <p:sp>
        <p:nvSpPr>
          <p:cNvPr id="17" name="s17"/>
          <p:cNvSpPr/>
          <p:nvPr/>
        </p:nvSpPr>
        <p:spPr>
          <a:xfrm>
            <a:off x="1200080" y="4010000"/>
            <a:ext cx="4835920" cy="47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rmAutofit/>
          </a:bodyPr>
          <a:lstStyle/>
          <a:p>
            <a:pPr algn="l">
              <a:buNone/>
            </a:pPr>
            <a:r>
              <a:rPr lang="fr-FR" sz="1400" b="1" i="0">
                <a:solidFill>
                  <a:srgbClr val="1C2A5E"/>
                </a:solidFill>
                <a:latin typeface="Arial"/>
              </a:rPr>
              <a:t>Solution proposée</a:t>
            </a:r>
          </a:p>
        </p:txBody>
      </p:sp>
      <p:sp>
        <p:nvSpPr>
          <p:cNvPr id="18" name="s18"/>
          <p:cNvSpPr/>
          <p:nvPr/>
        </p:nvSpPr>
        <p:spPr>
          <a:xfrm>
            <a:off x="6096000" y="2050000"/>
            <a:ext cx="470000" cy="470000"/>
          </a:xfrm>
          <a:prstGeom prst="roundRect">
            <a:avLst>
              <a:gd name="adj" fmla="val 30000"/>
            </a:avLst>
          </a:prstGeom>
          <a:solidFill>
            <a:srgbClr val="F4C400"/>
          </a:solidFill>
          <a:ln>
            <a:noFill/>
          </a:ln>
        </p:spPr>
        <p:txBody>
          <a:bodyPr wrap="square" lIns="91440" tIns="0" rIns="91440" bIns="0" anchor="ctr">
            <a:normAutofit/>
          </a:bodyPr>
          <a:lstStyle/>
          <a:p>
            <a:pPr algn="ctr">
              <a:buNone/>
            </a:pPr>
            <a:r>
              <a:rPr lang="fr-FR" sz="1400" b="1" i="0">
                <a:solidFill>
                  <a:srgbClr val="1C2A5E"/>
                </a:solidFill>
                <a:latin typeface="Arial"/>
              </a:rPr>
              <a:t>6</a:t>
            </a:r>
          </a:p>
        </p:txBody>
      </p:sp>
      <p:sp>
        <p:nvSpPr>
          <p:cNvPr id="19" name="s19"/>
          <p:cNvSpPr/>
          <p:nvPr/>
        </p:nvSpPr>
        <p:spPr>
          <a:xfrm>
            <a:off x="6656000" y="2050000"/>
            <a:ext cx="4835920" cy="47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rmAutofit/>
          </a:bodyPr>
          <a:lstStyle/>
          <a:p>
            <a:pPr algn="l">
              <a:buNone/>
            </a:pPr>
            <a:r>
              <a:rPr lang="fr-FR" sz="1400" b="1" i="0">
                <a:solidFill>
                  <a:srgbClr val="1C2A5E"/>
                </a:solidFill>
                <a:latin typeface="Arial"/>
              </a:rPr>
              <a:t>Méthodologie de travail</a:t>
            </a:r>
          </a:p>
        </p:txBody>
      </p:sp>
      <p:sp>
        <p:nvSpPr>
          <p:cNvPr id="20" name="s20"/>
          <p:cNvSpPr/>
          <p:nvPr/>
        </p:nvSpPr>
        <p:spPr>
          <a:xfrm>
            <a:off x="6096000" y="2540000"/>
            <a:ext cx="470000" cy="470000"/>
          </a:xfrm>
          <a:prstGeom prst="roundRect">
            <a:avLst>
              <a:gd name="adj" fmla="val 30000"/>
            </a:avLst>
          </a:prstGeom>
          <a:solidFill>
            <a:srgbClr val="F4C400"/>
          </a:solidFill>
          <a:ln>
            <a:noFill/>
          </a:ln>
        </p:spPr>
        <p:txBody>
          <a:bodyPr wrap="square" lIns="91440" tIns="0" rIns="91440" bIns="0" anchor="ctr">
            <a:normAutofit/>
          </a:bodyPr>
          <a:lstStyle/>
          <a:p>
            <a:pPr algn="ctr">
              <a:buNone/>
            </a:pPr>
            <a:r>
              <a:rPr lang="fr-FR" sz="1400" b="1" i="0">
                <a:solidFill>
                  <a:srgbClr val="1C2A5E"/>
                </a:solidFill>
                <a:latin typeface="Arial"/>
              </a:rPr>
              <a:t>7</a:t>
            </a:r>
          </a:p>
        </p:txBody>
      </p:sp>
      <p:sp>
        <p:nvSpPr>
          <p:cNvPr id="21" name="s21"/>
          <p:cNvSpPr/>
          <p:nvPr/>
        </p:nvSpPr>
        <p:spPr>
          <a:xfrm>
            <a:off x="6656000" y="2540000"/>
            <a:ext cx="4835920" cy="47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rmAutofit/>
          </a:bodyPr>
          <a:lstStyle/>
          <a:p>
            <a:pPr algn="l">
              <a:buNone/>
            </a:pPr>
            <a:r>
              <a:rPr lang="fr-FR" sz="1400" b="1" i="0">
                <a:solidFill>
                  <a:srgbClr val="1C2A5E"/>
                </a:solidFill>
                <a:latin typeface="Arial"/>
              </a:rPr>
              <a:t>Besoins fonctionnels et non fonctionnels</a:t>
            </a:r>
          </a:p>
        </p:txBody>
      </p:sp>
      <p:sp>
        <p:nvSpPr>
          <p:cNvPr id="22" name="s22"/>
          <p:cNvSpPr/>
          <p:nvPr/>
        </p:nvSpPr>
        <p:spPr>
          <a:xfrm>
            <a:off x="6096000" y="3030000"/>
            <a:ext cx="470000" cy="470000"/>
          </a:xfrm>
          <a:prstGeom prst="roundRect">
            <a:avLst>
              <a:gd name="adj" fmla="val 30000"/>
            </a:avLst>
          </a:prstGeom>
          <a:solidFill>
            <a:srgbClr val="F4C400"/>
          </a:solidFill>
          <a:ln>
            <a:noFill/>
          </a:ln>
        </p:spPr>
        <p:txBody>
          <a:bodyPr wrap="square" lIns="91440" tIns="0" rIns="91440" bIns="0" anchor="ctr">
            <a:normAutofit/>
          </a:bodyPr>
          <a:lstStyle/>
          <a:p>
            <a:pPr algn="ctr">
              <a:buNone/>
            </a:pPr>
            <a:r>
              <a:rPr lang="fr-FR" sz="1400" b="1" i="0">
                <a:solidFill>
                  <a:srgbClr val="1C2A5E"/>
                </a:solidFill>
                <a:latin typeface="Arial"/>
              </a:rPr>
              <a:t>8</a:t>
            </a:r>
          </a:p>
        </p:txBody>
      </p:sp>
      <p:sp>
        <p:nvSpPr>
          <p:cNvPr id="23" name="s23"/>
          <p:cNvSpPr/>
          <p:nvPr/>
        </p:nvSpPr>
        <p:spPr>
          <a:xfrm>
            <a:off x="6656000" y="3030000"/>
            <a:ext cx="4835920" cy="47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rmAutofit/>
          </a:bodyPr>
          <a:lstStyle/>
          <a:p>
            <a:pPr algn="l">
              <a:buNone/>
            </a:pPr>
            <a:r>
              <a:rPr lang="fr-FR" sz="1400" b="1" i="0">
                <a:solidFill>
                  <a:srgbClr val="1C2A5E"/>
                </a:solidFill>
                <a:latin typeface="Arial"/>
              </a:rPr>
              <a:t>Diagramme de cas d'utilisation</a:t>
            </a:r>
          </a:p>
        </p:txBody>
      </p:sp>
      <p:sp>
        <p:nvSpPr>
          <p:cNvPr id="24" name="s24"/>
          <p:cNvSpPr/>
          <p:nvPr/>
        </p:nvSpPr>
        <p:spPr>
          <a:xfrm>
            <a:off x="6096000" y="3520000"/>
            <a:ext cx="470000" cy="470000"/>
          </a:xfrm>
          <a:prstGeom prst="roundRect">
            <a:avLst>
              <a:gd name="adj" fmla="val 30000"/>
            </a:avLst>
          </a:prstGeom>
          <a:solidFill>
            <a:srgbClr val="F4C400"/>
          </a:solidFill>
          <a:ln>
            <a:noFill/>
          </a:ln>
        </p:spPr>
        <p:txBody>
          <a:bodyPr wrap="square" lIns="91440" tIns="0" rIns="91440" bIns="0" anchor="ctr">
            <a:normAutofit/>
          </a:bodyPr>
          <a:lstStyle/>
          <a:p>
            <a:pPr algn="ctr">
              <a:buNone/>
            </a:pPr>
            <a:r>
              <a:rPr lang="fr-FR" sz="1400" b="1" i="0">
                <a:solidFill>
                  <a:srgbClr val="1C2A5E"/>
                </a:solidFill>
                <a:latin typeface="Arial"/>
              </a:rPr>
              <a:t>9</a:t>
            </a:r>
          </a:p>
        </p:txBody>
      </p:sp>
      <p:sp>
        <p:nvSpPr>
          <p:cNvPr id="25" name="s25"/>
          <p:cNvSpPr/>
          <p:nvPr/>
        </p:nvSpPr>
        <p:spPr>
          <a:xfrm>
            <a:off x="6656000" y="3520000"/>
            <a:ext cx="4835920" cy="47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rmAutofit/>
          </a:bodyPr>
          <a:lstStyle/>
          <a:p>
            <a:pPr algn="l">
              <a:buNone/>
            </a:pPr>
            <a:r>
              <a:rPr lang="fr-FR" sz="1400" b="1" i="0">
                <a:solidFill>
                  <a:srgbClr val="1C2A5E"/>
                </a:solidFill>
                <a:latin typeface="Arial"/>
              </a:rPr>
              <a:t>Diagramme de classes d'analyse</a:t>
            </a:r>
          </a:p>
        </p:txBody>
      </p:sp>
      <p:sp>
        <p:nvSpPr>
          <p:cNvPr id="26" name="s26"/>
          <p:cNvSpPr/>
          <p:nvPr/>
        </p:nvSpPr>
        <p:spPr>
          <a:xfrm>
            <a:off x="6096000" y="4010000"/>
            <a:ext cx="470000" cy="470000"/>
          </a:xfrm>
          <a:prstGeom prst="roundRect">
            <a:avLst>
              <a:gd name="adj" fmla="val 30000"/>
            </a:avLst>
          </a:prstGeom>
          <a:solidFill>
            <a:srgbClr val="F4C400"/>
          </a:solidFill>
          <a:ln>
            <a:noFill/>
          </a:ln>
        </p:spPr>
        <p:txBody>
          <a:bodyPr wrap="square" lIns="91440" tIns="0" rIns="91440" bIns="0" anchor="ctr">
            <a:normAutofit/>
          </a:bodyPr>
          <a:lstStyle/>
          <a:p>
            <a:pPr algn="ctr">
              <a:buNone/>
            </a:pPr>
            <a:r>
              <a:rPr lang="fr-FR" sz="1400" b="1" i="0">
                <a:solidFill>
                  <a:srgbClr val="1C2A5E"/>
                </a:solidFill>
                <a:latin typeface="Arial"/>
              </a:rPr>
              <a:t>10</a:t>
            </a:r>
          </a:p>
        </p:txBody>
      </p:sp>
      <p:sp>
        <p:nvSpPr>
          <p:cNvPr id="27" name="s27"/>
          <p:cNvSpPr/>
          <p:nvPr/>
        </p:nvSpPr>
        <p:spPr>
          <a:xfrm>
            <a:off x="6656000" y="4010000"/>
            <a:ext cx="4835920" cy="47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rmAutofit/>
          </a:bodyPr>
          <a:lstStyle/>
          <a:p>
            <a:pPr algn="l">
              <a:buNone/>
            </a:pPr>
            <a:r>
              <a:rPr lang="fr-FR" sz="1400" b="1" i="0">
                <a:solidFill>
                  <a:srgbClr val="1C2A5E"/>
                </a:solidFill>
                <a:latin typeface="Arial"/>
              </a:rPr>
              <a:t>Outils et technologies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A"/>
        </a:solidFill>
        <a:effectLst/>
      </p:bgPr>
    </p:bg>
    <p:spTree>
      <p:sp>
        <p:nvSpPr>
          <p:cNvPr id="2" name="s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txBody>
          <a:bodyPr/>
          <a:lstStyle/>
          <a:p>
            <a:endParaRPr lang="fr-FR"/>
          </a:p>
        </p:txBody>
      </p:sp>
      <p:sp>
        <p:nvSpPr>
          <p:cNvPr id="3" name="s3"/>
          <p:cNvSpPr/>
          <p:nvPr/>
        </p:nvSpPr>
        <p:spPr>
          <a:xfrm>
            <a:off x="640080" y="470000"/>
            <a:ext cx="10911840" cy="30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>
            <a:normAutofit/>
          </a:bodyPr>
          <a:lstStyle/>
          <a:p>
            <a:pPr algn="l">
              <a:buNone/>
            </a:pPr>
            <a:r>
              <a:rPr lang="fr-FR" sz="1200" b="1" i="0">
                <a:solidFill>
                  <a:srgbClr val="9A7B12"/>
                </a:solidFill>
                <a:latin typeface="Arial"/>
              </a:rPr>
              <a:t>01 · ORGANISME D'ACCUEIL</a:t>
            </a:r>
          </a:p>
        </p:txBody>
      </p:sp>
      <p:sp>
        <p:nvSpPr>
          <p:cNvPr id="4" name="s4"/>
          <p:cNvSpPr/>
          <p:nvPr/>
        </p:nvSpPr>
        <p:spPr>
          <a:xfrm>
            <a:off x="630080" y="720000"/>
            <a:ext cx="10911840" cy="90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>
            <a:normAutofit/>
          </a:bodyPr>
          <a:lstStyle/>
          <a:p>
            <a:pPr algn="l">
              <a:buNone/>
            </a:pPr>
            <a:r>
              <a:rPr lang="fr-FR" sz="3200" b="1" i="0">
                <a:solidFill>
                  <a:srgbClr val="1C2A5E"/>
                </a:solidFill>
                <a:latin typeface="Arial"/>
              </a:rPr>
              <a:t>La Poste Tunisienne</a:t>
            </a:r>
          </a:p>
        </p:txBody>
      </p:sp>
      <p:sp>
        <p:nvSpPr>
          <p:cNvPr id="5" name="s5"/>
          <p:cNvSpPr/>
          <p:nvPr/>
        </p:nvSpPr>
        <p:spPr>
          <a:xfrm>
            <a:off x="640080" y="1640000"/>
            <a:ext cx="1500000" cy="90000"/>
          </a:xfrm>
          <a:prstGeom prst="rect">
            <a:avLst/>
          </a:prstGeom>
          <a:solidFill>
            <a:srgbClr val="F4C400"/>
          </a:solidFill>
          <a:ln>
            <a:noFill/>
          </a:ln>
        </p:spPr>
        <p:txBody>
          <a:bodyPr/>
          <a:lstStyle/>
          <a:p>
            <a:endParaRPr lang="fr-FR"/>
          </a:p>
        </p:txBody>
      </p:sp>
      <p:sp>
        <p:nvSpPr>
          <p:cNvPr id="6" name="s6"/>
          <p:cNvSpPr/>
          <p:nvPr/>
        </p:nvSpPr>
        <p:spPr>
          <a:xfrm>
            <a:off x="640080" y="6380000"/>
            <a:ext cx="8000000" cy="30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rmAutofit/>
          </a:bodyPr>
          <a:lstStyle/>
          <a:p>
            <a:pPr algn="l">
              <a:buNone/>
            </a:pPr>
            <a:r>
              <a:rPr lang="fr-FR" sz="1000" b="0" i="0">
                <a:solidFill>
                  <a:srgbClr val="8A90A0"/>
                </a:solidFill>
                <a:latin typeface="Arial"/>
              </a:rPr>
              <a:t>e-Boutique — La Poste Tunisienne</a:t>
            </a:r>
          </a:p>
        </p:txBody>
      </p:sp>
      <p:sp>
        <p:nvSpPr>
          <p:cNvPr id="7" name="s7"/>
          <p:cNvSpPr/>
          <p:nvPr/>
        </p:nvSpPr>
        <p:spPr>
          <a:xfrm>
            <a:off x="10992000" y="6360000"/>
            <a:ext cx="560000" cy="340000"/>
          </a:xfrm>
          <a:prstGeom prst="roundRect">
            <a:avLst>
              <a:gd name="adj" fmla="val 25000"/>
            </a:avLst>
          </a:prstGeom>
          <a:solidFill>
            <a:srgbClr val="1C2A5E"/>
          </a:solidFill>
          <a:ln>
            <a:noFill/>
          </a:ln>
        </p:spPr>
        <p:txBody>
          <a:bodyPr wrap="square" lIns="91440" tIns="0" rIns="91440" bIns="0" anchor="ctr">
            <a:normAutofit/>
          </a:bodyPr>
          <a:lstStyle/>
          <a:p>
            <a:pPr algn="ctr">
              <a:buNone/>
            </a:pPr>
            <a:r>
              <a:rPr lang="fr-FR" sz="110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8" name="s8"/>
          <p:cNvSpPr/>
          <p:nvPr/>
        </p:nvSpPr>
        <p:spPr>
          <a:xfrm>
            <a:off x="640080" y="1830000"/>
            <a:ext cx="10911840" cy="56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>
            <a:normAutofit/>
          </a:bodyPr>
          <a:lstStyle/>
          <a:p>
            <a:pPr algn="l">
              <a:buNone/>
            </a:pPr>
            <a:r>
              <a:rPr lang="fr-FR" sz="1400" b="0" i="0">
                <a:solidFill>
                  <a:srgbClr val="44495A"/>
                </a:solidFill>
                <a:latin typeface="Arial"/>
              </a:rPr>
              <a:t>Établissement public à caractère industriel et commercial — un réseau dense de bureaux couvrant tout le territoire national, au service de proximité des citoyens et des entreprises.</a:t>
            </a:r>
          </a:p>
        </p:txBody>
      </p:sp>
      <p:sp>
        <p:nvSpPr>
          <p:cNvPr id="9" name="s9"/>
          <p:cNvSpPr/>
          <p:nvPr/>
        </p:nvSpPr>
        <p:spPr>
          <a:xfrm>
            <a:off x="640080" y="2550000"/>
            <a:ext cx="3477280" cy="345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8DEE9"/>
            </a:solidFill>
          </a:ln>
          <a:effectLst>
            <a:outerShdw blurRad="90000" dist="38100" dir="5400000" rotWithShape="0">
              <a:srgbClr val="1C2A5E">
                <a:alpha val="1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0" name="s10"/>
          <p:cNvSpPr/>
          <p:nvPr/>
        </p:nvSpPr>
        <p:spPr>
          <a:xfrm>
            <a:off x="640080" y="2550000"/>
            <a:ext cx="3477280" cy="560000"/>
          </a:xfrm>
          <a:prstGeom prst="roundRect">
            <a:avLst>
              <a:gd name="adj" fmla="val 6000"/>
            </a:avLst>
          </a:prstGeom>
          <a:solidFill>
            <a:srgbClr val="1C2A5E"/>
          </a:solidFill>
          <a:ln>
            <a:noFill/>
          </a:ln>
        </p:spPr>
        <p:txBody>
          <a:bodyPr wrap="square" lIns="91440" tIns="45720" rIns="91440" bIns="45720" anchor="ctr">
            <a:normAutofit/>
          </a:bodyPr>
          <a:lstStyle/>
          <a:p>
            <a:pPr algn="l">
              <a:buNone/>
            </a:pPr>
            <a:r>
              <a:rPr lang="fr-FR" sz="1400" b="1" i="0">
                <a:solidFill>
                  <a:srgbClr val="FFFFFF"/>
                </a:solidFill>
                <a:latin typeface="Arial"/>
              </a:rPr>
              <a:t>1 · Services postaux</a:t>
            </a:r>
          </a:p>
        </p:txBody>
      </p:sp>
      <p:sp>
        <p:nvSpPr>
          <p:cNvPr id="11" name="s11"/>
          <p:cNvSpPr/>
          <p:nvPr/>
        </p:nvSpPr>
        <p:spPr>
          <a:xfrm>
            <a:off x="640080" y="2850000"/>
            <a:ext cx="3477280" cy="260000"/>
          </a:xfrm>
          <a:prstGeom prst="rect">
            <a:avLst/>
          </a:prstGeom>
          <a:solidFill>
            <a:srgbClr val="1C2A5E"/>
          </a:solidFill>
          <a:ln>
            <a:noFill/>
          </a:ln>
        </p:spPr>
        <p:txBody>
          <a:bodyPr wrap="square" lIns="91440" tIns="45720" rIns="91440" bIns="45720" anchor="t">
            <a:normAutofit/>
          </a:bodyPr>
          <a:lstStyle/>
          <a:p>
            <a:pPr algn="l">
              <a:buNone/>
            </a:pPr>
            <a:r>
              <a:rPr lang="fr-FR" sz="100" b="0" i="0">
                <a:solidFill>
                  <a:srgbClr val="FFFFFF"/>
                </a:solidFill>
                <a:latin typeface="Arial"/>
              </a:rPr>
              <a:t/>
            </a:r>
          </a:p>
        </p:txBody>
      </p:sp>
      <p:sp>
        <p:nvSpPr>
          <p:cNvPr id="12" name="s12"/>
          <p:cNvSpPr/>
          <p:nvPr/>
        </p:nvSpPr>
        <p:spPr>
          <a:xfrm>
            <a:off x="640080" y="3190000"/>
            <a:ext cx="3477280" cy="2770000"/>
          </a:xfrm>
          <a:prstGeom prst="rect">
            <a:avLst/>
          </a:prstGeom>
          <a:noFill/>
          <a:ln>
            <a:noFill/>
          </a:ln>
        </p:spPr>
        <p:txBody>
          <a:bodyPr wrap="square" lIns="140000" tIns="45720" rIns="140000" bIns="45720" anchor="t">
            <a:normAutofit/>
          </a:bodyPr>
          <a:lstStyle/>
          <a:p>
            <a:pPr algn="l">
              <a:buNone/>
            </a:pPr>
            <a:r>
              <a:rPr lang="fr-FR" sz="1200" b="0" i="0">
                <a:solidFill>
                  <a:srgbClr val="44495A"/>
                </a:solidFill>
                <a:latin typeface="Arial"/>
              </a:rPr>
              <a:t>• Courrier</a:t>
            </a:r>
          </a:p>
          <a:p>
            <a:pPr algn="l">
              <a:spcBef>
                <a:spcPts val="600"/>
              </a:spcBef>
              <a:buNone/>
            </a:pPr>
            <a:r>
              <a:rPr lang="fr-FR" sz="1200" b="0" i="0">
                <a:solidFill>
                  <a:srgbClr val="44495A"/>
                </a:solidFill>
                <a:latin typeface="Arial"/>
              </a:rPr>
              <a:t>• Colis</a:t>
            </a:r>
          </a:p>
          <a:p>
            <a:pPr algn="l">
              <a:spcBef>
                <a:spcPts val="600"/>
              </a:spcBef>
              <a:buNone/>
            </a:pPr>
            <a:r>
              <a:rPr lang="fr-FR" sz="1200" b="0" i="0">
                <a:solidFill>
                  <a:srgbClr val="44495A"/>
                </a:solidFill>
                <a:latin typeface="Arial"/>
              </a:rPr>
              <a:t>• Rapid-Poste</a:t>
            </a:r>
          </a:p>
        </p:txBody>
      </p:sp>
      <p:sp>
        <p:nvSpPr>
          <p:cNvPr id="13" name="s13"/>
          <p:cNvSpPr/>
          <p:nvPr/>
        </p:nvSpPr>
        <p:spPr>
          <a:xfrm>
            <a:off x="4357360" y="2550000"/>
            <a:ext cx="3477280" cy="345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8DEE9"/>
            </a:solidFill>
          </a:ln>
          <a:effectLst>
            <a:outerShdw blurRad="90000" dist="38100" dir="5400000" rotWithShape="0">
              <a:srgbClr val="1C2A5E">
                <a:alpha val="1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4" name="s14"/>
          <p:cNvSpPr/>
          <p:nvPr/>
        </p:nvSpPr>
        <p:spPr>
          <a:xfrm>
            <a:off x="4357360" y="2550000"/>
            <a:ext cx="3477280" cy="560000"/>
          </a:xfrm>
          <a:prstGeom prst="roundRect">
            <a:avLst>
              <a:gd name="adj" fmla="val 6000"/>
            </a:avLst>
          </a:prstGeom>
          <a:solidFill>
            <a:srgbClr val="1C2A5E"/>
          </a:solidFill>
          <a:ln>
            <a:noFill/>
          </a:ln>
        </p:spPr>
        <p:txBody>
          <a:bodyPr wrap="square" lIns="91440" tIns="45720" rIns="91440" bIns="45720" anchor="ctr">
            <a:normAutofit/>
          </a:bodyPr>
          <a:lstStyle/>
          <a:p>
            <a:pPr algn="l">
              <a:buNone/>
            </a:pPr>
            <a:r>
              <a:rPr lang="fr-FR" sz="1400" b="1" i="0">
                <a:solidFill>
                  <a:srgbClr val="FFFFFF"/>
                </a:solidFill>
                <a:latin typeface="Arial"/>
              </a:rPr>
              <a:t>2 · Services financiers</a:t>
            </a:r>
          </a:p>
        </p:txBody>
      </p:sp>
      <p:sp>
        <p:nvSpPr>
          <p:cNvPr id="15" name="s15"/>
          <p:cNvSpPr/>
          <p:nvPr/>
        </p:nvSpPr>
        <p:spPr>
          <a:xfrm>
            <a:off x="4357360" y="2850000"/>
            <a:ext cx="3477280" cy="260000"/>
          </a:xfrm>
          <a:prstGeom prst="rect">
            <a:avLst/>
          </a:prstGeom>
          <a:solidFill>
            <a:srgbClr val="1C2A5E"/>
          </a:solidFill>
          <a:ln>
            <a:noFill/>
          </a:ln>
        </p:spPr>
        <p:txBody>
          <a:bodyPr wrap="square" lIns="91440" tIns="45720" rIns="91440" bIns="45720" anchor="t">
            <a:normAutofit/>
          </a:bodyPr>
          <a:lstStyle/>
          <a:p>
            <a:pPr algn="l">
              <a:buNone/>
            </a:pPr>
            <a:r>
              <a:rPr lang="fr-FR" sz="100" b="0" i="0">
                <a:solidFill>
                  <a:srgbClr val="FFFFFF"/>
                </a:solidFill>
                <a:latin typeface="Arial"/>
              </a:rPr>
              <a:t/>
            </a:r>
          </a:p>
        </p:txBody>
      </p:sp>
      <p:sp>
        <p:nvSpPr>
          <p:cNvPr id="16" name="s16"/>
          <p:cNvSpPr/>
          <p:nvPr/>
        </p:nvSpPr>
        <p:spPr>
          <a:xfrm>
            <a:off x="4357360" y="3190000"/>
            <a:ext cx="3477280" cy="2770000"/>
          </a:xfrm>
          <a:prstGeom prst="rect">
            <a:avLst/>
          </a:prstGeom>
          <a:noFill/>
          <a:ln>
            <a:noFill/>
          </a:ln>
        </p:spPr>
        <p:txBody>
          <a:bodyPr wrap="square" lIns="140000" tIns="45720" rIns="140000" bIns="45720" anchor="t">
            <a:normAutofit/>
          </a:bodyPr>
          <a:lstStyle/>
          <a:p>
            <a:pPr algn="l">
              <a:buNone/>
            </a:pPr>
            <a:r>
              <a:rPr lang="fr-FR" sz="1200" b="0" i="0">
                <a:solidFill>
                  <a:srgbClr val="44495A"/>
                </a:solidFill>
                <a:latin typeface="Arial"/>
              </a:rPr>
              <a:t>• CCP</a:t>
            </a:r>
          </a:p>
          <a:p>
            <a:pPr algn="l">
              <a:spcBef>
                <a:spcPts val="600"/>
              </a:spcBef>
              <a:buNone/>
            </a:pPr>
            <a:r>
              <a:rPr lang="fr-FR" sz="1200" b="0" i="0">
                <a:solidFill>
                  <a:srgbClr val="44495A"/>
                </a:solidFill>
                <a:latin typeface="Arial"/>
              </a:rPr>
              <a:t>• Mandats</a:t>
            </a:r>
          </a:p>
          <a:p>
            <a:pPr algn="l">
              <a:spcBef>
                <a:spcPts val="600"/>
              </a:spcBef>
              <a:buNone/>
            </a:pPr>
            <a:r>
              <a:rPr lang="fr-FR" sz="1200" b="0" i="0">
                <a:solidFill>
                  <a:srgbClr val="44495A"/>
                </a:solidFill>
                <a:latin typeface="Arial"/>
              </a:rPr>
              <a:t>• Épargne</a:t>
            </a:r>
          </a:p>
        </p:txBody>
      </p:sp>
      <p:sp>
        <p:nvSpPr>
          <p:cNvPr id="17" name="s17"/>
          <p:cNvSpPr/>
          <p:nvPr/>
        </p:nvSpPr>
        <p:spPr>
          <a:xfrm>
            <a:off x="8074640" y="2550000"/>
            <a:ext cx="3477280" cy="345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8DEE9"/>
            </a:solidFill>
          </a:ln>
          <a:effectLst>
            <a:outerShdw blurRad="90000" dist="38100" dir="5400000" rotWithShape="0">
              <a:srgbClr val="1C2A5E">
                <a:alpha val="1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8" name="s18"/>
          <p:cNvSpPr/>
          <p:nvPr/>
        </p:nvSpPr>
        <p:spPr>
          <a:xfrm>
            <a:off x="8074640" y="2550000"/>
            <a:ext cx="3477280" cy="560000"/>
          </a:xfrm>
          <a:prstGeom prst="roundRect">
            <a:avLst>
              <a:gd name="adj" fmla="val 6000"/>
            </a:avLst>
          </a:prstGeom>
          <a:solidFill>
            <a:srgbClr val="1C2A5E"/>
          </a:solidFill>
          <a:ln>
            <a:noFill/>
          </a:ln>
        </p:spPr>
        <p:txBody>
          <a:bodyPr wrap="square" lIns="91440" tIns="45720" rIns="91440" bIns="45720" anchor="ctr">
            <a:normAutofit/>
          </a:bodyPr>
          <a:lstStyle/>
          <a:p>
            <a:pPr algn="l">
              <a:buNone/>
            </a:pPr>
            <a:r>
              <a:rPr lang="fr-FR" sz="1400" b="1" i="0">
                <a:solidFill>
                  <a:srgbClr val="FFFFFF"/>
                </a:solidFill>
                <a:latin typeface="Arial"/>
              </a:rPr>
              <a:t>3 · Services numériques</a:t>
            </a:r>
          </a:p>
        </p:txBody>
      </p:sp>
      <p:sp>
        <p:nvSpPr>
          <p:cNvPr id="19" name="s19"/>
          <p:cNvSpPr/>
          <p:nvPr/>
        </p:nvSpPr>
        <p:spPr>
          <a:xfrm>
            <a:off x="8074640" y="2850000"/>
            <a:ext cx="3477280" cy="260000"/>
          </a:xfrm>
          <a:prstGeom prst="rect">
            <a:avLst/>
          </a:prstGeom>
          <a:solidFill>
            <a:srgbClr val="1C2A5E"/>
          </a:solidFill>
          <a:ln>
            <a:noFill/>
          </a:ln>
        </p:spPr>
        <p:txBody>
          <a:bodyPr wrap="square" lIns="91440" tIns="45720" rIns="91440" bIns="45720" anchor="t">
            <a:normAutofit/>
          </a:bodyPr>
          <a:lstStyle/>
          <a:p>
            <a:pPr algn="l">
              <a:buNone/>
            </a:pPr>
            <a:r>
              <a:rPr lang="fr-FR" sz="100" b="0" i="0">
                <a:solidFill>
                  <a:srgbClr val="FFFFFF"/>
                </a:solidFill>
                <a:latin typeface="Arial"/>
              </a:rPr>
              <a:t/>
            </a:r>
          </a:p>
        </p:txBody>
      </p:sp>
      <p:sp>
        <p:nvSpPr>
          <p:cNvPr id="20" name="s20"/>
          <p:cNvSpPr/>
          <p:nvPr/>
        </p:nvSpPr>
        <p:spPr>
          <a:xfrm>
            <a:off x="8074640" y="3190000"/>
            <a:ext cx="3477280" cy="2770000"/>
          </a:xfrm>
          <a:prstGeom prst="rect">
            <a:avLst/>
          </a:prstGeom>
          <a:noFill/>
          <a:ln>
            <a:noFill/>
          </a:ln>
        </p:spPr>
        <p:txBody>
          <a:bodyPr wrap="square" lIns="140000" tIns="45720" rIns="140000" bIns="45720" anchor="t">
            <a:normAutofit/>
          </a:bodyPr>
          <a:lstStyle/>
          <a:p>
            <a:pPr algn="l">
              <a:buNone/>
            </a:pPr>
            <a:r>
              <a:rPr lang="fr-FR" sz="1200" b="0" i="0">
                <a:solidFill>
                  <a:srgbClr val="44495A"/>
                </a:solidFill>
                <a:latin typeface="Arial"/>
              </a:rPr>
              <a:t>• e-Dinar</a:t>
            </a:r>
          </a:p>
          <a:p>
            <a:pPr algn="l">
              <a:spcBef>
                <a:spcPts val="600"/>
              </a:spcBef>
              <a:buNone/>
            </a:pPr>
            <a:r>
              <a:rPr lang="fr-FR" sz="1200" b="0" i="0">
                <a:solidFill>
                  <a:srgbClr val="44495A"/>
                </a:solidFill>
                <a:latin typeface="Arial"/>
              </a:rPr>
              <a:t>• Paiement en ligne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A"/>
        </a:solidFill>
        <a:effectLst/>
      </p:bgPr>
    </p:bg>
    <p:spTree>
      <p:sp>
        <p:nvSpPr>
          <p:cNvPr id="2" name="s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txBody>
          <a:bodyPr/>
          <a:lstStyle/>
          <a:p>
            <a:endParaRPr lang="fr-FR"/>
          </a:p>
        </p:txBody>
      </p:sp>
      <p:sp>
        <p:nvSpPr>
          <p:cNvPr id="3" name="s3"/>
          <p:cNvSpPr/>
          <p:nvPr/>
        </p:nvSpPr>
        <p:spPr>
          <a:xfrm>
            <a:off x="640080" y="470000"/>
            <a:ext cx="10911840" cy="30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>
            <a:normAutofit/>
          </a:bodyPr>
          <a:lstStyle/>
          <a:p>
            <a:pPr algn="l">
              <a:buNone/>
            </a:pPr>
            <a:r>
              <a:rPr lang="fr-FR" sz="1200" b="1" i="0">
                <a:solidFill>
                  <a:srgbClr val="9A7B12"/>
                </a:solidFill>
                <a:latin typeface="Arial"/>
              </a:rPr>
              <a:t>02 · CONTEXTE DU PROJET</a:t>
            </a:r>
          </a:p>
        </p:txBody>
      </p:sp>
      <p:sp>
        <p:nvSpPr>
          <p:cNvPr id="4" name="s4"/>
          <p:cNvSpPr/>
          <p:nvPr/>
        </p:nvSpPr>
        <p:spPr>
          <a:xfrm>
            <a:off x="630080" y="720000"/>
            <a:ext cx="10911840" cy="90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>
            <a:normAutofit/>
          </a:bodyPr>
          <a:lstStyle/>
          <a:p>
            <a:pPr algn="l">
              <a:buNone/>
            </a:pPr>
            <a:r>
              <a:rPr lang="fr-FR" sz="3200" b="1" i="0">
                <a:solidFill>
                  <a:srgbClr val="1C2A5E"/>
                </a:solidFill>
                <a:latin typeface="Arial"/>
              </a:rPr>
              <a:t>Une transformation numérique nécessaire</a:t>
            </a:r>
          </a:p>
        </p:txBody>
      </p:sp>
      <p:sp>
        <p:nvSpPr>
          <p:cNvPr id="5" name="s5"/>
          <p:cNvSpPr/>
          <p:nvPr/>
        </p:nvSpPr>
        <p:spPr>
          <a:xfrm>
            <a:off x="640080" y="1640000"/>
            <a:ext cx="1500000" cy="90000"/>
          </a:xfrm>
          <a:prstGeom prst="rect">
            <a:avLst/>
          </a:prstGeom>
          <a:solidFill>
            <a:srgbClr val="F4C400"/>
          </a:solidFill>
          <a:ln>
            <a:noFill/>
          </a:ln>
        </p:spPr>
        <p:txBody>
          <a:bodyPr/>
          <a:lstStyle/>
          <a:p>
            <a:endParaRPr lang="fr-FR"/>
          </a:p>
        </p:txBody>
      </p:sp>
      <p:sp>
        <p:nvSpPr>
          <p:cNvPr id="6" name="s6"/>
          <p:cNvSpPr/>
          <p:nvPr/>
        </p:nvSpPr>
        <p:spPr>
          <a:xfrm>
            <a:off x="640080" y="6380000"/>
            <a:ext cx="8000000" cy="30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rmAutofit/>
          </a:bodyPr>
          <a:lstStyle/>
          <a:p>
            <a:pPr algn="l">
              <a:buNone/>
            </a:pPr>
            <a:r>
              <a:rPr lang="fr-FR" sz="1000" b="0" i="0">
                <a:solidFill>
                  <a:srgbClr val="8A90A0"/>
                </a:solidFill>
                <a:latin typeface="Arial"/>
              </a:rPr>
              <a:t>e-Boutique — La Poste Tunisienne</a:t>
            </a:r>
          </a:p>
        </p:txBody>
      </p:sp>
      <p:sp>
        <p:nvSpPr>
          <p:cNvPr id="7" name="s7"/>
          <p:cNvSpPr/>
          <p:nvPr/>
        </p:nvSpPr>
        <p:spPr>
          <a:xfrm>
            <a:off x="10992000" y="6360000"/>
            <a:ext cx="560000" cy="340000"/>
          </a:xfrm>
          <a:prstGeom prst="roundRect">
            <a:avLst>
              <a:gd name="adj" fmla="val 25000"/>
            </a:avLst>
          </a:prstGeom>
          <a:solidFill>
            <a:srgbClr val="1C2A5E"/>
          </a:solidFill>
          <a:ln>
            <a:noFill/>
          </a:ln>
        </p:spPr>
        <p:txBody>
          <a:bodyPr wrap="square" lIns="91440" tIns="0" rIns="91440" bIns="0" anchor="ctr">
            <a:normAutofit/>
          </a:bodyPr>
          <a:lstStyle/>
          <a:p>
            <a:pPr algn="ctr">
              <a:buNone/>
            </a:pPr>
            <a:r>
              <a:rPr lang="fr-FR" sz="1100" b="1" i="0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8" name="s8"/>
          <p:cNvSpPr/>
          <p:nvPr/>
        </p:nvSpPr>
        <p:spPr>
          <a:xfrm>
            <a:off x="640080" y="2050000"/>
            <a:ext cx="3477280" cy="390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8DEE9"/>
            </a:solidFill>
          </a:ln>
          <a:effectLst>
            <a:outerShdw blurRad="90000" dist="38100" dir="5400000" rotWithShape="0">
              <a:srgbClr val="1C2A5E">
                <a:alpha val="1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9" name="s9"/>
          <p:cNvSpPr/>
          <p:nvPr/>
        </p:nvSpPr>
        <p:spPr>
          <a:xfrm>
            <a:off x="640080" y="2050000"/>
            <a:ext cx="3477280" cy="560000"/>
          </a:xfrm>
          <a:prstGeom prst="roundRect">
            <a:avLst>
              <a:gd name="adj" fmla="val 6000"/>
            </a:avLst>
          </a:prstGeom>
          <a:solidFill>
            <a:srgbClr val="1C2A5E"/>
          </a:solidFill>
          <a:ln>
            <a:noFill/>
          </a:ln>
        </p:spPr>
        <p:txBody>
          <a:bodyPr wrap="square" lIns="91440" tIns="45720" rIns="91440" bIns="45720" anchor="ctr">
            <a:normAutofit/>
          </a:bodyPr>
          <a:lstStyle/>
          <a:p>
            <a:pPr algn="l">
              <a:buNone/>
            </a:pPr>
            <a:r>
              <a:rPr lang="fr-FR" sz="1400" b="1" i="0">
                <a:solidFill>
                  <a:srgbClr val="FFFFFF"/>
                </a:solidFill>
                <a:latin typeface="Arial"/>
              </a:rPr>
              <a:t>1 · Croissance du e-commerce</a:t>
            </a:r>
          </a:p>
        </p:txBody>
      </p:sp>
      <p:sp>
        <p:nvSpPr>
          <p:cNvPr id="10" name="s10"/>
          <p:cNvSpPr/>
          <p:nvPr/>
        </p:nvSpPr>
        <p:spPr>
          <a:xfrm>
            <a:off x="640080" y="2350000"/>
            <a:ext cx="3477280" cy="260000"/>
          </a:xfrm>
          <a:prstGeom prst="rect">
            <a:avLst/>
          </a:prstGeom>
          <a:solidFill>
            <a:srgbClr val="1C2A5E"/>
          </a:solidFill>
          <a:ln>
            <a:noFill/>
          </a:ln>
        </p:spPr>
        <p:txBody>
          <a:bodyPr wrap="square" lIns="91440" tIns="45720" rIns="91440" bIns="45720" anchor="t">
            <a:normAutofit/>
          </a:bodyPr>
          <a:lstStyle/>
          <a:p>
            <a:pPr algn="l">
              <a:buNone/>
            </a:pPr>
            <a:r>
              <a:rPr lang="fr-FR" sz="100" b="0" i="0">
                <a:solidFill>
                  <a:srgbClr val="FFFFFF"/>
                </a:solidFill>
                <a:latin typeface="Arial"/>
              </a:rPr>
              <a:t/>
            </a:r>
          </a:p>
        </p:txBody>
      </p:sp>
      <p:sp>
        <p:nvSpPr>
          <p:cNvPr id="11" name="s11"/>
          <p:cNvSpPr/>
          <p:nvPr/>
        </p:nvSpPr>
        <p:spPr>
          <a:xfrm>
            <a:off x="640080" y="2690000"/>
            <a:ext cx="3477280" cy="3220000"/>
          </a:xfrm>
          <a:prstGeom prst="rect">
            <a:avLst/>
          </a:prstGeom>
          <a:noFill/>
          <a:ln>
            <a:noFill/>
          </a:ln>
        </p:spPr>
        <p:txBody>
          <a:bodyPr wrap="square" lIns="140000" tIns="45720" rIns="140000" bIns="45720" anchor="t">
            <a:normAutofit/>
          </a:bodyPr>
          <a:lstStyle/>
          <a:p>
            <a:pPr algn="l">
              <a:buNone/>
            </a:pPr>
            <a:r>
              <a:rPr lang="fr-FR" sz="1200" b="0" i="0">
                <a:solidFill>
                  <a:srgbClr val="44495A"/>
                </a:solidFill>
                <a:latin typeface="Arial"/>
              </a:rPr>
              <a:t>• Les usagers attendent des services rapides et en ligne.</a:t>
            </a:r>
          </a:p>
        </p:txBody>
      </p:sp>
      <p:sp>
        <p:nvSpPr>
          <p:cNvPr id="12" name="s12"/>
          <p:cNvSpPr/>
          <p:nvPr/>
        </p:nvSpPr>
        <p:spPr>
          <a:xfrm>
            <a:off x="4357360" y="2050000"/>
            <a:ext cx="3477280" cy="390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8DEE9"/>
            </a:solidFill>
          </a:ln>
          <a:effectLst>
            <a:outerShdw blurRad="90000" dist="38100" dir="5400000" rotWithShape="0">
              <a:srgbClr val="1C2A5E">
                <a:alpha val="1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3" name="s13"/>
          <p:cNvSpPr/>
          <p:nvPr/>
        </p:nvSpPr>
        <p:spPr>
          <a:xfrm>
            <a:off x="4357360" y="2050000"/>
            <a:ext cx="3477280" cy="560000"/>
          </a:xfrm>
          <a:prstGeom prst="roundRect">
            <a:avLst>
              <a:gd name="adj" fmla="val 6000"/>
            </a:avLst>
          </a:prstGeom>
          <a:solidFill>
            <a:srgbClr val="1C2A5E"/>
          </a:solidFill>
          <a:ln>
            <a:noFill/>
          </a:ln>
        </p:spPr>
        <p:txBody>
          <a:bodyPr wrap="square" lIns="91440" tIns="45720" rIns="91440" bIns="45720" anchor="ctr">
            <a:normAutofit/>
          </a:bodyPr>
          <a:lstStyle/>
          <a:p>
            <a:pPr algn="l">
              <a:buNone/>
            </a:pPr>
            <a:r>
              <a:rPr lang="fr-FR" sz="1400" b="1" i="0">
                <a:solidFill>
                  <a:srgbClr val="FFFFFF"/>
                </a:solidFill>
                <a:latin typeface="Arial"/>
              </a:rPr>
              <a:t>2 · Services encore physiques</a:t>
            </a:r>
          </a:p>
        </p:txBody>
      </p:sp>
      <p:sp>
        <p:nvSpPr>
          <p:cNvPr id="14" name="s14"/>
          <p:cNvSpPr/>
          <p:nvPr/>
        </p:nvSpPr>
        <p:spPr>
          <a:xfrm>
            <a:off x="4357360" y="2350000"/>
            <a:ext cx="3477280" cy="260000"/>
          </a:xfrm>
          <a:prstGeom prst="rect">
            <a:avLst/>
          </a:prstGeom>
          <a:solidFill>
            <a:srgbClr val="1C2A5E"/>
          </a:solidFill>
          <a:ln>
            <a:noFill/>
          </a:ln>
        </p:spPr>
        <p:txBody>
          <a:bodyPr wrap="square" lIns="91440" tIns="45720" rIns="91440" bIns="45720" anchor="t">
            <a:normAutofit/>
          </a:bodyPr>
          <a:lstStyle/>
          <a:p>
            <a:pPr algn="l">
              <a:buNone/>
            </a:pPr>
            <a:r>
              <a:rPr lang="fr-FR" sz="100" b="0" i="0">
                <a:solidFill>
                  <a:srgbClr val="FFFFFF"/>
                </a:solidFill>
                <a:latin typeface="Arial"/>
              </a:rPr>
              <a:t/>
            </a:r>
          </a:p>
        </p:txBody>
      </p:sp>
      <p:sp>
        <p:nvSpPr>
          <p:cNvPr id="15" name="s15"/>
          <p:cNvSpPr/>
          <p:nvPr/>
        </p:nvSpPr>
        <p:spPr>
          <a:xfrm>
            <a:off x="4357360" y="2690000"/>
            <a:ext cx="3477280" cy="3220000"/>
          </a:xfrm>
          <a:prstGeom prst="rect">
            <a:avLst/>
          </a:prstGeom>
          <a:noFill/>
          <a:ln>
            <a:noFill/>
          </a:ln>
        </p:spPr>
        <p:txBody>
          <a:bodyPr wrap="square" lIns="140000" tIns="45720" rIns="140000" bIns="45720" anchor="t">
            <a:normAutofit/>
          </a:bodyPr>
          <a:lstStyle/>
          <a:p>
            <a:pPr algn="l">
              <a:buNone/>
            </a:pPr>
            <a:r>
              <a:rPr lang="fr-FR" sz="1200" b="0" i="0">
                <a:solidFill>
                  <a:srgbClr val="44495A"/>
                </a:solidFill>
                <a:latin typeface="Arial"/>
              </a:rPr>
              <a:t>• La majorité des opérations se font au guichet.</a:t>
            </a:r>
          </a:p>
        </p:txBody>
      </p:sp>
      <p:sp>
        <p:nvSpPr>
          <p:cNvPr id="16" name="s16"/>
          <p:cNvSpPr/>
          <p:nvPr/>
        </p:nvSpPr>
        <p:spPr>
          <a:xfrm>
            <a:off x="8074640" y="2050000"/>
            <a:ext cx="3477280" cy="390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8DEE9"/>
            </a:solidFill>
          </a:ln>
          <a:effectLst>
            <a:outerShdw blurRad="90000" dist="38100" dir="5400000" rotWithShape="0">
              <a:srgbClr val="1C2A5E">
                <a:alpha val="1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7" name="s17"/>
          <p:cNvSpPr/>
          <p:nvPr/>
        </p:nvSpPr>
        <p:spPr>
          <a:xfrm>
            <a:off x="8074640" y="2050000"/>
            <a:ext cx="3477280" cy="560000"/>
          </a:xfrm>
          <a:prstGeom prst="roundRect">
            <a:avLst>
              <a:gd name="adj" fmla="val 6000"/>
            </a:avLst>
          </a:prstGeom>
          <a:solidFill>
            <a:srgbClr val="1C2A5E"/>
          </a:solidFill>
          <a:ln>
            <a:noFill/>
          </a:ln>
        </p:spPr>
        <p:txBody>
          <a:bodyPr wrap="square" lIns="91440" tIns="45720" rIns="91440" bIns="45720" anchor="ctr">
            <a:normAutofit/>
          </a:bodyPr>
          <a:lstStyle/>
          <a:p>
            <a:pPr algn="l">
              <a:buNone/>
            </a:pPr>
            <a:r>
              <a:rPr lang="fr-FR" sz="1400" b="1" i="0">
                <a:solidFill>
                  <a:srgbClr val="FFFFFF"/>
                </a:solidFill>
                <a:latin typeface="Arial"/>
              </a:rPr>
              <a:t>3 · Enjeu pour le service public</a:t>
            </a:r>
          </a:p>
        </p:txBody>
      </p:sp>
      <p:sp>
        <p:nvSpPr>
          <p:cNvPr id="18" name="s18"/>
          <p:cNvSpPr/>
          <p:nvPr/>
        </p:nvSpPr>
        <p:spPr>
          <a:xfrm>
            <a:off x="8074640" y="2350000"/>
            <a:ext cx="3477280" cy="260000"/>
          </a:xfrm>
          <a:prstGeom prst="rect">
            <a:avLst/>
          </a:prstGeom>
          <a:solidFill>
            <a:srgbClr val="1C2A5E"/>
          </a:solidFill>
          <a:ln>
            <a:noFill/>
          </a:ln>
        </p:spPr>
        <p:txBody>
          <a:bodyPr wrap="square" lIns="91440" tIns="45720" rIns="91440" bIns="45720" anchor="t">
            <a:normAutofit/>
          </a:bodyPr>
          <a:lstStyle/>
          <a:p>
            <a:pPr algn="l">
              <a:buNone/>
            </a:pPr>
            <a:r>
              <a:rPr lang="fr-FR" sz="100" b="0" i="0">
                <a:solidFill>
                  <a:srgbClr val="FFFFFF"/>
                </a:solidFill>
                <a:latin typeface="Arial"/>
              </a:rPr>
              <a:t/>
            </a:r>
          </a:p>
        </p:txBody>
      </p:sp>
      <p:sp>
        <p:nvSpPr>
          <p:cNvPr id="19" name="s19"/>
          <p:cNvSpPr/>
          <p:nvPr/>
        </p:nvSpPr>
        <p:spPr>
          <a:xfrm>
            <a:off x="8074640" y="2690000"/>
            <a:ext cx="3477280" cy="3220000"/>
          </a:xfrm>
          <a:prstGeom prst="rect">
            <a:avLst/>
          </a:prstGeom>
          <a:noFill/>
          <a:ln>
            <a:noFill/>
          </a:ln>
        </p:spPr>
        <p:txBody>
          <a:bodyPr wrap="square" lIns="140000" tIns="45720" rIns="140000" bIns="45720" anchor="t">
            <a:normAutofit/>
          </a:bodyPr>
          <a:lstStyle/>
          <a:p>
            <a:pPr algn="l">
              <a:buNone/>
            </a:pPr>
            <a:r>
              <a:rPr lang="fr-FR" sz="1200" b="0" i="0">
                <a:solidFill>
                  <a:srgbClr val="44495A"/>
                </a:solidFill>
                <a:latin typeface="Arial"/>
              </a:rPr>
              <a:t>• Moderniser l'offre et gagner en efficacité.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A"/>
        </a:solidFill>
        <a:effectLst/>
      </p:bgPr>
    </p:bg>
    <p:spTree>
      <p:sp>
        <p:nvSpPr>
          <p:cNvPr id="2" name="s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txBody>
          <a:bodyPr/>
          <a:lstStyle/>
          <a:p>
            <a:endParaRPr lang="fr-FR"/>
          </a:p>
        </p:txBody>
      </p:sp>
      <p:sp>
        <p:nvSpPr>
          <p:cNvPr id="3" name="s3"/>
          <p:cNvSpPr/>
          <p:nvPr/>
        </p:nvSpPr>
        <p:spPr>
          <a:xfrm>
            <a:off x="640080" y="470000"/>
            <a:ext cx="10911840" cy="30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>
            <a:normAutofit/>
          </a:bodyPr>
          <a:lstStyle/>
          <a:p>
            <a:pPr algn="l">
              <a:buNone/>
            </a:pPr>
            <a:r>
              <a:rPr lang="fr-FR" sz="1200" b="1" i="0">
                <a:solidFill>
                  <a:srgbClr val="9A7B12"/>
                </a:solidFill>
                <a:latin typeface="Arial"/>
              </a:rPr>
              <a:t>03 · PROBLÉMATIQUE</a:t>
            </a:r>
          </a:p>
        </p:txBody>
      </p:sp>
      <p:sp>
        <p:nvSpPr>
          <p:cNvPr id="4" name="s4"/>
          <p:cNvSpPr/>
          <p:nvPr/>
        </p:nvSpPr>
        <p:spPr>
          <a:xfrm>
            <a:off x="630080" y="720000"/>
            <a:ext cx="10911840" cy="90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>
            <a:normAutofit/>
          </a:bodyPr>
          <a:lstStyle/>
          <a:p>
            <a:pPr algn="l">
              <a:buNone/>
            </a:pPr>
            <a:r>
              <a:rPr lang="fr-FR" sz="3200" b="1" i="0">
                <a:solidFill>
                  <a:srgbClr val="1C2A5E"/>
                </a:solidFill>
                <a:latin typeface="Arial"/>
              </a:rPr>
              <a:t>Le problème posé</a:t>
            </a:r>
          </a:p>
        </p:txBody>
      </p:sp>
      <p:sp>
        <p:nvSpPr>
          <p:cNvPr id="5" name="s5"/>
          <p:cNvSpPr/>
          <p:nvPr/>
        </p:nvSpPr>
        <p:spPr>
          <a:xfrm>
            <a:off x="640080" y="1640000"/>
            <a:ext cx="1500000" cy="90000"/>
          </a:xfrm>
          <a:prstGeom prst="rect">
            <a:avLst/>
          </a:prstGeom>
          <a:solidFill>
            <a:srgbClr val="F4C400"/>
          </a:solidFill>
          <a:ln>
            <a:noFill/>
          </a:ln>
        </p:spPr>
        <p:txBody>
          <a:bodyPr/>
          <a:lstStyle/>
          <a:p>
            <a:endParaRPr lang="fr-FR"/>
          </a:p>
        </p:txBody>
      </p:sp>
      <p:sp>
        <p:nvSpPr>
          <p:cNvPr id="6" name="s6"/>
          <p:cNvSpPr/>
          <p:nvPr/>
        </p:nvSpPr>
        <p:spPr>
          <a:xfrm>
            <a:off x="640080" y="6380000"/>
            <a:ext cx="8000000" cy="30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rmAutofit/>
          </a:bodyPr>
          <a:lstStyle/>
          <a:p>
            <a:pPr algn="l">
              <a:buNone/>
            </a:pPr>
            <a:r>
              <a:rPr lang="fr-FR" sz="1000" b="0" i="0">
                <a:solidFill>
                  <a:srgbClr val="8A90A0"/>
                </a:solidFill>
                <a:latin typeface="Arial"/>
              </a:rPr>
              <a:t>e-Boutique — La Poste Tunisienne</a:t>
            </a:r>
          </a:p>
        </p:txBody>
      </p:sp>
      <p:sp>
        <p:nvSpPr>
          <p:cNvPr id="7" name="s7"/>
          <p:cNvSpPr/>
          <p:nvPr/>
        </p:nvSpPr>
        <p:spPr>
          <a:xfrm>
            <a:off x="10992000" y="6360000"/>
            <a:ext cx="560000" cy="340000"/>
          </a:xfrm>
          <a:prstGeom prst="roundRect">
            <a:avLst>
              <a:gd name="adj" fmla="val 25000"/>
            </a:avLst>
          </a:prstGeom>
          <a:solidFill>
            <a:srgbClr val="1C2A5E"/>
          </a:solidFill>
          <a:ln>
            <a:noFill/>
          </a:ln>
        </p:spPr>
        <p:txBody>
          <a:bodyPr wrap="square" lIns="91440" tIns="0" rIns="91440" bIns="0" anchor="ctr">
            <a:normAutofit/>
          </a:bodyPr>
          <a:lstStyle/>
          <a:p>
            <a:pPr algn="ctr">
              <a:buNone/>
            </a:pPr>
            <a:r>
              <a:rPr lang="fr-FR" sz="1100" b="1" i="0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8" name="s8"/>
          <p:cNvSpPr/>
          <p:nvPr/>
        </p:nvSpPr>
        <p:spPr>
          <a:xfrm>
            <a:off x="640080" y="2050000"/>
            <a:ext cx="10911840" cy="1800000"/>
          </a:xfrm>
          <a:prstGeom prst="roundRect">
            <a:avLst>
              <a:gd name="adj" fmla="val 6000"/>
            </a:avLst>
          </a:prstGeom>
          <a:solidFill>
            <a:srgbClr val="1C2A5E"/>
          </a:solidFill>
          <a:ln>
            <a:noFill/>
          </a:ln>
          <a:effectLst>
            <a:outerShdw blurRad="90000" dist="38100" dir="5400000" rotWithShape="0">
              <a:srgbClr val="1C2A5E">
                <a:alpha val="18000"/>
              </a:srgbClr>
            </a:outerShdw>
          </a:effectLst>
        </p:spPr>
        <p:txBody>
          <a:bodyPr wrap="square" lIns="500000" tIns="45720" rIns="500000" bIns="45720" anchor="ctr">
            <a:normAutofit/>
          </a:bodyPr>
          <a:lstStyle/>
          <a:p>
            <a:pPr algn="ctr">
              <a:buNone/>
            </a:pPr>
            <a:r>
              <a:rPr lang="fr-FR" sz="2000" b="1" i="0">
                <a:solidFill>
                  <a:srgbClr val="FFFFFF"/>
                </a:solidFill>
                <a:latin typeface="Arial"/>
              </a:rPr>
              <a:t>« Comment digitaliser et unifier les services de La Poste Tunisienne au sein d'une plateforme unique, simple et sécurisée — accessible à distance pour le citoyen et efficace pour le personnel ? »</a:t>
            </a:r>
          </a:p>
        </p:txBody>
      </p:sp>
      <p:sp>
        <p:nvSpPr>
          <p:cNvPr id="9" name="s9"/>
          <p:cNvSpPr/>
          <p:nvPr/>
        </p:nvSpPr>
        <p:spPr>
          <a:xfrm>
            <a:off x="640080" y="4250000"/>
            <a:ext cx="3477280" cy="620000"/>
          </a:xfrm>
          <a:prstGeom prst="roundRect">
            <a:avLst>
              <a:gd name="adj" fmla="val 25000"/>
            </a:avLst>
          </a:prstGeom>
          <a:solidFill>
            <a:srgbClr val="F4C400"/>
          </a:solidFill>
          <a:ln>
            <a:noFill/>
          </a:ln>
        </p:spPr>
        <p:txBody>
          <a:bodyPr wrap="square" lIns="91440" tIns="45720" rIns="91440" bIns="45720" anchor="ctr">
            <a:normAutofit/>
          </a:bodyPr>
          <a:lstStyle/>
          <a:p>
            <a:pPr algn="ctr">
              <a:buNone/>
            </a:pPr>
            <a:r>
              <a:rPr lang="fr-FR" sz="1300" b="1" i="0">
                <a:solidFill>
                  <a:srgbClr val="1C2A5E"/>
                </a:solidFill>
                <a:latin typeface="Arial"/>
              </a:rPr>
              <a:t>Files d'attente au guichet</a:t>
            </a:r>
          </a:p>
        </p:txBody>
      </p:sp>
      <p:sp>
        <p:nvSpPr>
          <p:cNvPr id="10" name="s10"/>
          <p:cNvSpPr/>
          <p:nvPr/>
        </p:nvSpPr>
        <p:spPr>
          <a:xfrm>
            <a:off x="4357360" y="4250000"/>
            <a:ext cx="3477280" cy="620000"/>
          </a:xfrm>
          <a:prstGeom prst="roundRect">
            <a:avLst>
              <a:gd name="adj" fmla="val 25000"/>
            </a:avLst>
          </a:prstGeom>
          <a:solidFill>
            <a:srgbClr val="F4C400"/>
          </a:solidFill>
          <a:ln>
            <a:noFill/>
          </a:ln>
        </p:spPr>
        <p:txBody>
          <a:bodyPr wrap="square" lIns="91440" tIns="45720" rIns="91440" bIns="45720" anchor="ctr">
            <a:normAutofit/>
          </a:bodyPr>
          <a:lstStyle/>
          <a:p>
            <a:pPr algn="ctr">
              <a:buNone/>
            </a:pPr>
            <a:r>
              <a:rPr lang="fr-FR" sz="1300" b="1" i="0">
                <a:solidFill>
                  <a:srgbClr val="1C2A5E"/>
                </a:solidFill>
                <a:latin typeface="Arial"/>
              </a:rPr>
              <a:t>Perte de temps pour le citoyen</a:t>
            </a:r>
          </a:p>
        </p:txBody>
      </p:sp>
      <p:sp>
        <p:nvSpPr>
          <p:cNvPr id="11" name="s11"/>
          <p:cNvSpPr/>
          <p:nvPr/>
        </p:nvSpPr>
        <p:spPr>
          <a:xfrm>
            <a:off x="8074640" y="4250000"/>
            <a:ext cx="3477280" cy="620000"/>
          </a:xfrm>
          <a:prstGeom prst="roundRect">
            <a:avLst>
              <a:gd name="adj" fmla="val 25000"/>
            </a:avLst>
          </a:prstGeom>
          <a:solidFill>
            <a:srgbClr val="F4C400"/>
          </a:solidFill>
          <a:ln>
            <a:noFill/>
          </a:ln>
        </p:spPr>
        <p:txBody>
          <a:bodyPr wrap="square" lIns="91440" tIns="45720" rIns="91440" bIns="45720" anchor="ctr">
            <a:normAutofit/>
          </a:bodyPr>
          <a:lstStyle/>
          <a:p>
            <a:pPr algn="ctr">
              <a:buNone/>
            </a:pPr>
            <a:r>
              <a:rPr lang="fr-FR" sz="1300" b="1" i="0">
                <a:solidFill>
                  <a:srgbClr val="1C2A5E"/>
                </a:solidFill>
                <a:latin typeface="Arial"/>
              </a:rPr>
              <a:t>Offre en ligne fragmentée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A"/>
        </a:solidFill>
        <a:effectLst/>
      </p:bgPr>
    </p:bg>
    <p:spTree>
      <p:sp>
        <p:nvSpPr>
          <p:cNvPr id="2" name="s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txBody>
          <a:bodyPr/>
          <a:lstStyle/>
          <a:p>
            <a:endParaRPr lang="fr-FR"/>
          </a:p>
        </p:txBody>
      </p:sp>
      <p:sp>
        <p:nvSpPr>
          <p:cNvPr id="3" name="s3"/>
          <p:cNvSpPr/>
          <p:nvPr/>
        </p:nvSpPr>
        <p:spPr>
          <a:xfrm>
            <a:off x="640080" y="470000"/>
            <a:ext cx="10911840" cy="30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>
            <a:normAutofit/>
          </a:bodyPr>
          <a:lstStyle/>
          <a:p>
            <a:pPr algn="l">
              <a:buNone/>
            </a:pPr>
            <a:r>
              <a:rPr lang="fr-FR" sz="1200" b="1" i="0">
                <a:solidFill>
                  <a:srgbClr val="9A7B12"/>
                </a:solidFill>
                <a:latin typeface="Arial"/>
              </a:rPr>
              <a:t>04 · ÉTUDE DE L'EXISTANT</a:t>
            </a:r>
          </a:p>
        </p:txBody>
      </p:sp>
      <p:sp>
        <p:nvSpPr>
          <p:cNvPr id="4" name="s4"/>
          <p:cNvSpPr/>
          <p:nvPr/>
        </p:nvSpPr>
        <p:spPr>
          <a:xfrm>
            <a:off x="630080" y="720000"/>
            <a:ext cx="10911840" cy="90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>
            <a:normAutofit/>
          </a:bodyPr>
          <a:lstStyle/>
          <a:p>
            <a:pPr algn="l">
              <a:buNone/>
            </a:pPr>
            <a:r>
              <a:rPr lang="fr-FR" sz="3200" b="1" i="0">
                <a:solidFill>
                  <a:srgbClr val="1C2A5E"/>
                </a:solidFill>
                <a:latin typeface="Arial"/>
              </a:rPr>
              <a:t>Existant et critique</a:t>
            </a:r>
          </a:p>
        </p:txBody>
      </p:sp>
      <p:sp>
        <p:nvSpPr>
          <p:cNvPr id="5" name="s5"/>
          <p:cNvSpPr/>
          <p:nvPr/>
        </p:nvSpPr>
        <p:spPr>
          <a:xfrm>
            <a:off x="640080" y="1640000"/>
            <a:ext cx="1500000" cy="90000"/>
          </a:xfrm>
          <a:prstGeom prst="rect">
            <a:avLst/>
          </a:prstGeom>
          <a:solidFill>
            <a:srgbClr val="F4C400"/>
          </a:solidFill>
          <a:ln>
            <a:noFill/>
          </a:ln>
        </p:spPr>
        <p:txBody>
          <a:bodyPr/>
          <a:lstStyle/>
          <a:p>
            <a:endParaRPr lang="fr-FR"/>
          </a:p>
        </p:txBody>
      </p:sp>
      <p:sp>
        <p:nvSpPr>
          <p:cNvPr id="6" name="s6"/>
          <p:cNvSpPr/>
          <p:nvPr/>
        </p:nvSpPr>
        <p:spPr>
          <a:xfrm>
            <a:off x="640080" y="6380000"/>
            <a:ext cx="8000000" cy="30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rmAutofit/>
          </a:bodyPr>
          <a:lstStyle/>
          <a:p>
            <a:pPr algn="l">
              <a:buNone/>
            </a:pPr>
            <a:r>
              <a:rPr lang="fr-FR" sz="1000" b="0" i="0">
                <a:solidFill>
                  <a:srgbClr val="8A90A0"/>
                </a:solidFill>
                <a:latin typeface="Arial"/>
              </a:rPr>
              <a:t>e-Boutique — La Poste Tunisienne</a:t>
            </a:r>
          </a:p>
        </p:txBody>
      </p:sp>
      <p:sp>
        <p:nvSpPr>
          <p:cNvPr id="7" name="s7"/>
          <p:cNvSpPr/>
          <p:nvPr/>
        </p:nvSpPr>
        <p:spPr>
          <a:xfrm>
            <a:off x="10992000" y="6360000"/>
            <a:ext cx="560000" cy="340000"/>
          </a:xfrm>
          <a:prstGeom prst="roundRect">
            <a:avLst>
              <a:gd name="adj" fmla="val 25000"/>
            </a:avLst>
          </a:prstGeom>
          <a:solidFill>
            <a:srgbClr val="1C2A5E"/>
          </a:solidFill>
          <a:ln>
            <a:noFill/>
          </a:ln>
        </p:spPr>
        <p:txBody>
          <a:bodyPr wrap="square" lIns="91440" tIns="0" rIns="91440" bIns="0" anchor="ctr">
            <a:normAutofit/>
          </a:bodyPr>
          <a:lstStyle/>
          <a:p>
            <a:pPr algn="ctr">
              <a:buNone/>
            </a:pPr>
            <a:r>
              <a:rPr lang="fr-FR" sz="1100" b="1" i="0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8" name="s8"/>
          <p:cNvSpPr/>
          <p:nvPr/>
        </p:nvSpPr>
        <p:spPr>
          <a:xfrm>
            <a:off x="640080" y="2050000"/>
            <a:ext cx="5335920" cy="390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8DEE9"/>
            </a:solidFill>
          </a:ln>
          <a:effectLst>
            <a:outerShdw blurRad="90000" dist="38100" dir="5400000" rotWithShape="0">
              <a:srgbClr val="1C2A5E">
                <a:alpha val="1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9" name="s9"/>
          <p:cNvSpPr/>
          <p:nvPr/>
        </p:nvSpPr>
        <p:spPr>
          <a:xfrm>
            <a:off x="640080" y="2050000"/>
            <a:ext cx="5335920" cy="560000"/>
          </a:xfrm>
          <a:prstGeom prst="roundRect">
            <a:avLst>
              <a:gd name="adj" fmla="val 6000"/>
            </a:avLst>
          </a:prstGeom>
          <a:solidFill>
            <a:srgbClr val="1C2A5E"/>
          </a:solidFill>
          <a:ln>
            <a:noFill/>
          </a:ln>
        </p:spPr>
        <p:txBody>
          <a:bodyPr wrap="square" lIns="91440" tIns="45720" rIns="91440" bIns="45720" anchor="ctr">
            <a:normAutofit/>
          </a:bodyPr>
          <a:lstStyle/>
          <a:p>
            <a:pPr algn="l">
              <a:buNone/>
            </a:pPr>
            <a:r>
              <a:rPr lang="fr-FR" sz="1400" b="1" i="0">
                <a:solidFill>
                  <a:srgbClr val="FFFFFF"/>
                </a:solidFill>
                <a:latin typeface="Arial"/>
              </a:rPr>
              <a:t>Situation actuelle</a:t>
            </a:r>
          </a:p>
        </p:txBody>
      </p:sp>
      <p:sp>
        <p:nvSpPr>
          <p:cNvPr id="10" name="s10"/>
          <p:cNvSpPr/>
          <p:nvPr/>
        </p:nvSpPr>
        <p:spPr>
          <a:xfrm>
            <a:off x="640080" y="2350000"/>
            <a:ext cx="5335920" cy="260000"/>
          </a:xfrm>
          <a:prstGeom prst="rect">
            <a:avLst/>
          </a:prstGeom>
          <a:solidFill>
            <a:srgbClr val="1C2A5E"/>
          </a:solidFill>
          <a:ln>
            <a:noFill/>
          </a:ln>
        </p:spPr>
        <p:txBody>
          <a:bodyPr wrap="square" lIns="91440" tIns="45720" rIns="91440" bIns="45720" anchor="t">
            <a:normAutofit/>
          </a:bodyPr>
          <a:lstStyle/>
          <a:p>
            <a:pPr algn="l">
              <a:buNone/>
            </a:pPr>
            <a:r>
              <a:rPr lang="fr-FR" sz="100" b="0" i="0">
                <a:solidFill>
                  <a:srgbClr val="FFFFFF"/>
                </a:solidFill>
                <a:latin typeface="Arial"/>
              </a:rPr>
              <a:t/>
            </a:r>
          </a:p>
        </p:txBody>
      </p:sp>
      <p:sp>
        <p:nvSpPr>
          <p:cNvPr id="11" name="s11"/>
          <p:cNvSpPr/>
          <p:nvPr/>
        </p:nvSpPr>
        <p:spPr>
          <a:xfrm>
            <a:off x="640080" y="2690000"/>
            <a:ext cx="5335920" cy="3220000"/>
          </a:xfrm>
          <a:prstGeom prst="rect">
            <a:avLst/>
          </a:prstGeom>
          <a:noFill/>
          <a:ln>
            <a:noFill/>
          </a:ln>
        </p:spPr>
        <p:txBody>
          <a:bodyPr wrap="square" lIns="140000" tIns="45720" rIns="140000" bIns="45720" anchor="t">
            <a:normAutofit/>
          </a:bodyPr>
          <a:lstStyle/>
          <a:p>
            <a:pPr algn="l">
              <a:buNone/>
            </a:pPr>
            <a:r>
              <a:rPr lang="fr-FR" sz="1200" b="0" i="0">
                <a:solidFill>
                  <a:srgbClr val="44495A"/>
                </a:solidFill>
                <a:latin typeface="Arial"/>
              </a:rPr>
              <a:t>• Achat — au bureau uniquement</a:t>
            </a:r>
          </a:p>
          <a:p>
            <a:pPr algn="l">
              <a:spcBef>
                <a:spcPts val="600"/>
              </a:spcBef>
              <a:buNone/>
            </a:pPr>
            <a:r>
              <a:rPr lang="fr-FR" sz="1200" b="0" i="0">
                <a:solidFill>
                  <a:srgbClr val="44495A"/>
                </a:solidFill>
                <a:latin typeface="Arial"/>
              </a:rPr>
              <a:t>• Dépôt de colis — au guichet</a:t>
            </a:r>
          </a:p>
          <a:p>
            <a:pPr algn="l">
              <a:spcBef>
                <a:spcPts val="600"/>
              </a:spcBef>
              <a:buNone/>
            </a:pPr>
            <a:r>
              <a:rPr lang="fr-FR" sz="1200" b="0" i="0">
                <a:solidFill>
                  <a:srgbClr val="44495A"/>
                </a:solidFill>
                <a:latin typeface="Arial"/>
              </a:rPr>
              <a:t>• Suivi — non unifié</a:t>
            </a:r>
          </a:p>
          <a:p>
            <a:pPr algn="l">
              <a:spcBef>
                <a:spcPts val="600"/>
              </a:spcBef>
              <a:buNone/>
            </a:pPr>
            <a:r>
              <a:rPr lang="fr-FR" sz="1200" b="0" i="0">
                <a:solidFill>
                  <a:srgbClr val="44495A"/>
                </a:solidFill>
                <a:latin typeface="Arial"/>
              </a:rPr>
              <a:t>• Paiement — en espèces sur place</a:t>
            </a:r>
          </a:p>
        </p:txBody>
      </p:sp>
      <p:sp>
        <p:nvSpPr>
          <p:cNvPr id="12" name="s12"/>
          <p:cNvSpPr/>
          <p:nvPr/>
        </p:nvSpPr>
        <p:spPr>
          <a:xfrm>
            <a:off x="6216000" y="2050000"/>
            <a:ext cx="5335920" cy="390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8DEE9"/>
            </a:solidFill>
          </a:ln>
          <a:effectLst>
            <a:outerShdw blurRad="90000" dist="38100" dir="5400000" rotWithShape="0">
              <a:srgbClr val="1C2A5E">
                <a:alpha val="1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3" name="s13"/>
          <p:cNvSpPr/>
          <p:nvPr/>
        </p:nvSpPr>
        <p:spPr>
          <a:xfrm>
            <a:off x="6216000" y="2050000"/>
            <a:ext cx="5335920" cy="560000"/>
          </a:xfrm>
          <a:prstGeom prst="roundRect">
            <a:avLst>
              <a:gd name="adj" fmla="val 6000"/>
            </a:avLst>
          </a:prstGeom>
          <a:solidFill>
            <a:srgbClr val="1C2A5E"/>
          </a:solidFill>
          <a:ln>
            <a:noFill/>
          </a:ln>
        </p:spPr>
        <p:txBody>
          <a:bodyPr wrap="square" lIns="91440" tIns="45720" rIns="91440" bIns="45720" anchor="ctr">
            <a:normAutofit/>
          </a:bodyPr>
          <a:lstStyle/>
          <a:p>
            <a:pPr algn="l">
              <a:buNone/>
            </a:pPr>
            <a:r>
              <a:rPr lang="fr-FR" sz="1400" b="1" i="0">
                <a:solidFill>
                  <a:srgbClr val="FFFFFF"/>
                </a:solidFill>
                <a:latin typeface="Arial"/>
              </a:rPr>
              <a:t>Limites constatées</a:t>
            </a:r>
          </a:p>
        </p:txBody>
      </p:sp>
      <p:sp>
        <p:nvSpPr>
          <p:cNvPr id="14" name="s14"/>
          <p:cNvSpPr/>
          <p:nvPr/>
        </p:nvSpPr>
        <p:spPr>
          <a:xfrm>
            <a:off x="6216000" y="2350000"/>
            <a:ext cx="5335920" cy="260000"/>
          </a:xfrm>
          <a:prstGeom prst="rect">
            <a:avLst/>
          </a:prstGeom>
          <a:solidFill>
            <a:srgbClr val="1C2A5E"/>
          </a:solidFill>
          <a:ln>
            <a:noFill/>
          </a:ln>
        </p:spPr>
        <p:txBody>
          <a:bodyPr wrap="square" lIns="91440" tIns="45720" rIns="91440" bIns="45720" anchor="t">
            <a:normAutofit/>
          </a:bodyPr>
          <a:lstStyle/>
          <a:p>
            <a:pPr algn="l">
              <a:buNone/>
            </a:pPr>
            <a:r>
              <a:rPr lang="fr-FR" sz="100" b="0" i="0">
                <a:solidFill>
                  <a:srgbClr val="FFFFFF"/>
                </a:solidFill>
                <a:latin typeface="Arial"/>
              </a:rPr>
              <a:t/>
            </a:r>
          </a:p>
        </p:txBody>
      </p:sp>
      <p:sp>
        <p:nvSpPr>
          <p:cNvPr id="15" name="s15"/>
          <p:cNvSpPr/>
          <p:nvPr/>
        </p:nvSpPr>
        <p:spPr>
          <a:xfrm>
            <a:off x="6216000" y="2690000"/>
            <a:ext cx="5335920" cy="3220000"/>
          </a:xfrm>
          <a:prstGeom prst="rect">
            <a:avLst/>
          </a:prstGeom>
          <a:noFill/>
          <a:ln>
            <a:noFill/>
          </a:ln>
        </p:spPr>
        <p:txBody>
          <a:bodyPr wrap="square" lIns="140000" tIns="45720" rIns="140000" bIns="45720" anchor="t">
            <a:normAutofit/>
          </a:bodyPr>
          <a:lstStyle/>
          <a:p>
            <a:pPr algn="l">
              <a:buNone/>
            </a:pPr>
            <a:r>
              <a:rPr lang="fr-FR" sz="1200" b="0" i="0">
                <a:solidFill>
                  <a:srgbClr val="44495A"/>
                </a:solidFill>
                <a:latin typeface="Arial"/>
              </a:rPr>
              <a:t>• Déplacement obligatoire</a:t>
            </a:r>
          </a:p>
          <a:p>
            <a:pPr algn="l">
              <a:spcBef>
                <a:spcPts val="600"/>
              </a:spcBef>
              <a:buNone/>
            </a:pPr>
            <a:r>
              <a:rPr lang="fr-FR" sz="1200" b="0" i="0">
                <a:solidFill>
                  <a:srgbClr val="44495A"/>
                </a:solidFill>
                <a:latin typeface="Arial"/>
              </a:rPr>
              <a:t>• Files d'attente et perte de temps</a:t>
            </a:r>
          </a:p>
          <a:p>
            <a:pPr algn="l">
              <a:spcBef>
                <a:spcPts val="600"/>
              </a:spcBef>
              <a:buNone/>
            </a:pPr>
            <a:r>
              <a:rPr lang="fr-FR" sz="1200" b="0" i="0">
                <a:solidFill>
                  <a:srgbClr val="44495A"/>
                </a:solidFill>
                <a:latin typeface="Arial"/>
              </a:rPr>
              <a:t>• Charge de travail des agents</a:t>
            </a:r>
          </a:p>
          <a:p>
            <a:pPr algn="l">
              <a:spcBef>
                <a:spcPts val="600"/>
              </a:spcBef>
              <a:buNone/>
            </a:pPr>
            <a:r>
              <a:rPr lang="fr-FR" sz="1200" b="0" i="0">
                <a:solidFill>
                  <a:srgbClr val="44495A"/>
                </a:solidFill>
                <a:latin typeface="Arial"/>
              </a:rPr>
              <a:t>• Pas de suivi en temps réel</a:t>
            </a:r>
          </a:p>
          <a:p>
            <a:pPr algn="l">
              <a:spcBef>
                <a:spcPts val="600"/>
              </a:spcBef>
              <a:buNone/>
            </a:pPr>
            <a:r>
              <a:rPr lang="fr-FR" sz="1200" b="0" i="0">
                <a:solidFill>
                  <a:srgbClr val="44495A"/>
                </a:solidFill>
                <a:latin typeface="Arial"/>
              </a:rPr>
              <a:t>• Offre en ligne incomplète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A"/>
        </a:solidFill>
        <a:effectLst/>
      </p:bgPr>
    </p:bg>
    <p:spTree>
      <p:sp>
        <p:nvSpPr>
          <p:cNvPr id="2" name="s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txBody>
          <a:bodyPr/>
          <a:lstStyle/>
          <a:p>
            <a:endParaRPr lang="fr-FR"/>
          </a:p>
        </p:txBody>
      </p:sp>
      <p:sp>
        <p:nvSpPr>
          <p:cNvPr id="3" name="s3"/>
          <p:cNvSpPr/>
          <p:nvPr/>
        </p:nvSpPr>
        <p:spPr>
          <a:xfrm>
            <a:off x="640080" y="470000"/>
            <a:ext cx="10911840" cy="30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>
            <a:normAutofit/>
          </a:bodyPr>
          <a:lstStyle/>
          <a:p>
            <a:pPr algn="l">
              <a:buNone/>
            </a:pPr>
            <a:r>
              <a:rPr lang="fr-FR" sz="1200" b="1" i="0">
                <a:solidFill>
                  <a:srgbClr val="9A7B12"/>
                </a:solidFill>
                <a:latin typeface="Arial"/>
              </a:rPr>
              <a:t>05 · SOLUTION PROPOSÉE</a:t>
            </a:r>
          </a:p>
        </p:txBody>
      </p:sp>
      <p:sp>
        <p:nvSpPr>
          <p:cNvPr id="4" name="s4"/>
          <p:cNvSpPr/>
          <p:nvPr/>
        </p:nvSpPr>
        <p:spPr>
          <a:xfrm>
            <a:off x="630080" y="720000"/>
            <a:ext cx="10911840" cy="90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>
            <a:normAutofit/>
          </a:bodyPr>
          <a:lstStyle/>
          <a:p>
            <a:pPr algn="l">
              <a:buNone/>
            </a:pPr>
            <a:r>
              <a:rPr lang="fr-FR" sz="3200" b="1" i="0">
                <a:solidFill>
                  <a:srgbClr val="1C2A5E"/>
                </a:solidFill>
                <a:latin typeface="Arial"/>
              </a:rPr>
              <a:t>La plateforme e-Boutique</a:t>
            </a:r>
          </a:p>
        </p:txBody>
      </p:sp>
      <p:sp>
        <p:nvSpPr>
          <p:cNvPr id="5" name="s5"/>
          <p:cNvSpPr/>
          <p:nvPr/>
        </p:nvSpPr>
        <p:spPr>
          <a:xfrm>
            <a:off x="640080" y="1640000"/>
            <a:ext cx="1500000" cy="90000"/>
          </a:xfrm>
          <a:prstGeom prst="rect">
            <a:avLst/>
          </a:prstGeom>
          <a:solidFill>
            <a:srgbClr val="F4C400"/>
          </a:solidFill>
          <a:ln>
            <a:noFill/>
          </a:ln>
        </p:spPr>
        <p:txBody>
          <a:bodyPr/>
          <a:lstStyle/>
          <a:p>
            <a:endParaRPr lang="fr-FR"/>
          </a:p>
        </p:txBody>
      </p:sp>
      <p:sp>
        <p:nvSpPr>
          <p:cNvPr id="6" name="s6"/>
          <p:cNvSpPr/>
          <p:nvPr/>
        </p:nvSpPr>
        <p:spPr>
          <a:xfrm>
            <a:off x="640080" y="6380000"/>
            <a:ext cx="8000000" cy="30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rmAutofit/>
          </a:bodyPr>
          <a:lstStyle/>
          <a:p>
            <a:pPr algn="l">
              <a:buNone/>
            </a:pPr>
            <a:r>
              <a:rPr lang="fr-FR" sz="1000" b="0" i="0">
                <a:solidFill>
                  <a:srgbClr val="8A90A0"/>
                </a:solidFill>
                <a:latin typeface="Arial"/>
              </a:rPr>
              <a:t>e-Boutique — La Poste Tunisienne</a:t>
            </a:r>
          </a:p>
        </p:txBody>
      </p:sp>
      <p:sp>
        <p:nvSpPr>
          <p:cNvPr id="7" name="s7"/>
          <p:cNvSpPr/>
          <p:nvPr/>
        </p:nvSpPr>
        <p:spPr>
          <a:xfrm>
            <a:off x="10992000" y="6360000"/>
            <a:ext cx="560000" cy="340000"/>
          </a:xfrm>
          <a:prstGeom prst="roundRect">
            <a:avLst>
              <a:gd name="adj" fmla="val 25000"/>
            </a:avLst>
          </a:prstGeom>
          <a:solidFill>
            <a:srgbClr val="1C2A5E"/>
          </a:solidFill>
          <a:ln>
            <a:noFill/>
          </a:ln>
        </p:spPr>
        <p:txBody>
          <a:bodyPr wrap="square" lIns="91440" tIns="0" rIns="91440" bIns="0" anchor="ctr">
            <a:normAutofit/>
          </a:bodyPr>
          <a:lstStyle/>
          <a:p>
            <a:pPr algn="ctr">
              <a:buNone/>
            </a:pPr>
            <a:r>
              <a:rPr lang="fr-FR" sz="1100" b="1" i="0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8" name="s8"/>
          <p:cNvSpPr/>
          <p:nvPr/>
        </p:nvSpPr>
        <p:spPr>
          <a:xfrm>
            <a:off x="640080" y="2050000"/>
            <a:ext cx="2547960" cy="390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8DEE9"/>
            </a:solidFill>
          </a:ln>
          <a:effectLst>
            <a:outerShdw blurRad="90000" dist="38100" dir="5400000" rotWithShape="0">
              <a:srgbClr val="1C2A5E">
                <a:alpha val="1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9" name="s9"/>
          <p:cNvSpPr/>
          <p:nvPr/>
        </p:nvSpPr>
        <p:spPr>
          <a:xfrm>
            <a:off x="640080" y="2050000"/>
            <a:ext cx="2547960" cy="560000"/>
          </a:xfrm>
          <a:prstGeom prst="roundRect">
            <a:avLst>
              <a:gd name="adj" fmla="val 6000"/>
            </a:avLst>
          </a:prstGeom>
          <a:solidFill>
            <a:srgbClr val="1C2A5E"/>
          </a:solidFill>
          <a:ln>
            <a:noFill/>
          </a:ln>
        </p:spPr>
        <p:txBody>
          <a:bodyPr wrap="square" lIns="91440" tIns="45720" rIns="91440" bIns="45720" anchor="ctr">
            <a:normAutofit/>
          </a:bodyPr>
          <a:lstStyle/>
          <a:p>
            <a:pPr algn="l">
              <a:buNone/>
            </a:pPr>
            <a:r>
              <a:rPr lang="fr-FR" sz="1400" b="1" i="0">
                <a:solidFill>
                  <a:srgbClr val="FFFFFF"/>
                </a:solidFill>
                <a:latin typeface="Arial"/>
              </a:rPr>
              <a:t>Boutique &amp; Dépôt</a:t>
            </a:r>
          </a:p>
        </p:txBody>
      </p:sp>
      <p:sp>
        <p:nvSpPr>
          <p:cNvPr id="10" name="s10"/>
          <p:cNvSpPr/>
          <p:nvPr/>
        </p:nvSpPr>
        <p:spPr>
          <a:xfrm>
            <a:off x="640080" y="2350000"/>
            <a:ext cx="2547960" cy="260000"/>
          </a:xfrm>
          <a:prstGeom prst="rect">
            <a:avLst/>
          </a:prstGeom>
          <a:solidFill>
            <a:srgbClr val="1C2A5E"/>
          </a:solidFill>
          <a:ln>
            <a:noFill/>
          </a:ln>
        </p:spPr>
        <p:txBody>
          <a:bodyPr wrap="square" lIns="91440" tIns="45720" rIns="91440" bIns="45720" anchor="t">
            <a:normAutofit/>
          </a:bodyPr>
          <a:lstStyle/>
          <a:p>
            <a:pPr algn="l">
              <a:buNone/>
            </a:pPr>
            <a:r>
              <a:rPr lang="fr-FR" sz="100" b="0" i="0">
                <a:solidFill>
                  <a:srgbClr val="FFFFFF"/>
                </a:solidFill>
                <a:latin typeface="Arial"/>
              </a:rPr>
              <a:t/>
            </a:r>
          </a:p>
        </p:txBody>
      </p:sp>
      <p:sp>
        <p:nvSpPr>
          <p:cNvPr id="11" name="s11"/>
          <p:cNvSpPr/>
          <p:nvPr/>
        </p:nvSpPr>
        <p:spPr>
          <a:xfrm>
            <a:off x="640080" y="2690000"/>
            <a:ext cx="2547960" cy="3220000"/>
          </a:xfrm>
          <a:prstGeom prst="rect">
            <a:avLst/>
          </a:prstGeom>
          <a:noFill/>
          <a:ln>
            <a:noFill/>
          </a:ln>
        </p:spPr>
        <p:txBody>
          <a:bodyPr wrap="square" lIns="140000" tIns="45720" rIns="140000" bIns="45720" anchor="t">
            <a:normAutofit/>
          </a:bodyPr>
          <a:lstStyle/>
          <a:p>
            <a:pPr algn="l">
              <a:buNone/>
            </a:pPr>
            <a:r>
              <a:rPr lang="fr-FR" sz="1200" b="0" i="0">
                <a:solidFill>
                  <a:srgbClr val="44495A"/>
                </a:solidFill>
                <a:latin typeface="Arial"/>
              </a:rPr>
              <a:t>• Achat</a:t>
            </a:r>
          </a:p>
          <a:p>
            <a:pPr algn="l">
              <a:spcBef>
                <a:spcPts val="600"/>
              </a:spcBef>
              <a:buNone/>
            </a:pPr>
            <a:r>
              <a:rPr lang="fr-FR" sz="1200" b="0" i="0">
                <a:solidFill>
                  <a:srgbClr val="44495A"/>
                </a:solidFill>
                <a:latin typeface="Arial"/>
              </a:rPr>
              <a:t>• Colis</a:t>
            </a:r>
          </a:p>
          <a:p>
            <a:pPr algn="l">
              <a:spcBef>
                <a:spcPts val="600"/>
              </a:spcBef>
              <a:buNone/>
            </a:pPr>
            <a:r>
              <a:rPr lang="fr-FR" sz="1200" b="0" i="0">
                <a:solidFill>
                  <a:srgbClr val="44495A"/>
                </a:solidFill>
                <a:latin typeface="Arial"/>
              </a:rPr>
              <a:t>• Fleurs</a:t>
            </a:r>
          </a:p>
        </p:txBody>
      </p:sp>
      <p:sp>
        <p:nvSpPr>
          <p:cNvPr id="12" name="s12"/>
          <p:cNvSpPr/>
          <p:nvPr/>
        </p:nvSpPr>
        <p:spPr>
          <a:xfrm>
            <a:off x="3428040" y="2050000"/>
            <a:ext cx="2547960" cy="390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8DEE9"/>
            </a:solidFill>
          </a:ln>
          <a:effectLst>
            <a:outerShdw blurRad="90000" dist="38100" dir="5400000" rotWithShape="0">
              <a:srgbClr val="1C2A5E">
                <a:alpha val="1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3" name="s13"/>
          <p:cNvSpPr/>
          <p:nvPr/>
        </p:nvSpPr>
        <p:spPr>
          <a:xfrm>
            <a:off x="3428040" y="2050000"/>
            <a:ext cx="2547960" cy="560000"/>
          </a:xfrm>
          <a:prstGeom prst="roundRect">
            <a:avLst>
              <a:gd name="adj" fmla="val 6000"/>
            </a:avLst>
          </a:prstGeom>
          <a:solidFill>
            <a:srgbClr val="1C2A5E"/>
          </a:solidFill>
          <a:ln>
            <a:noFill/>
          </a:ln>
        </p:spPr>
        <p:txBody>
          <a:bodyPr wrap="square" lIns="91440" tIns="45720" rIns="91440" bIns="45720" anchor="ctr">
            <a:normAutofit/>
          </a:bodyPr>
          <a:lstStyle/>
          <a:p>
            <a:pPr algn="l">
              <a:buNone/>
            </a:pPr>
            <a:r>
              <a:rPr lang="fr-FR" sz="1400" b="1" i="0">
                <a:solidFill>
                  <a:srgbClr val="FFFFFF"/>
                </a:solidFill>
                <a:latin typeface="Arial"/>
              </a:rPr>
              <a:t>Suivi de colis</a:t>
            </a:r>
          </a:p>
        </p:txBody>
      </p:sp>
      <p:sp>
        <p:nvSpPr>
          <p:cNvPr id="14" name="s14"/>
          <p:cNvSpPr/>
          <p:nvPr/>
        </p:nvSpPr>
        <p:spPr>
          <a:xfrm>
            <a:off x="3428040" y="2350000"/>
            <a:ext cx="2547960" cy="260000"/>
          </a:xfrm>
          <a:prstGeom prst="rect">
            <a:avLst/>
          </a:prstGeom>
          <a:solidFill>
            <a:srgbClr val="1C2A5E"/>
          </a:solidFill>
          <a:ln>
            <a:noFill/>
          </a:ln>
        </p:spPr>
        <p:txBody>
          <a:bodyPr wrap="square" lIns="91440" tIns="45720" rIns="91440" bIns="45720" anchor="t">
            <a:normAutofit/>
          </a:bodyPr>
          <a:lstStyle/>
          <a:p>
            <a:pPr algn="l">
              <a:buNone/>
            </a:pPr>
            <a:r>
              <a:rPr lang="fr-FR" sz="100" b="0" i="0">
                <a:solidFill>
                  <a:srgbClr val="FFFFFF"/>
                </a:solidFill>
                <a:latin typeface="Arial"/>
              </a:rPr>
              <a:t/>
            </a:r>
          </a:p>
        </p:txBody>
      </p:sp>
      <p:sp>
        <p:nvSpPr>
          <p:cNvPr id="15" name="s15"/>
          <p:cNvSpPr/>
          <p:nvPr/>
        </p:nvSpPr>
        <p:spPr>
          <a:xfrm>
            <a:off x="3428040" y="2690000"/>
            <a:ext cx="2547960" cy="3220000"/>
          </a:xfrm>
          <a:prstGeom prst="rect">
            <a:avLst/>
          </a:prstGeom>
          <a:noFill/>
          <a:ln>
            <a:noFill/>
          </a:ln>
        </p:spPr>
        <p:txBody>
          <a:bodyPr wrap="square" lIns="140000" tIns="45720" rIns="140000" bIns="45720" anchor="t">
            <a:normAutofit/>
          </a:bodyPr>
          <a:lstStyle/>
          <a:p>
            <a:pPr algn="l">
              <a:buNone/>
            </a:pPr>
            <a:r>
              <a:rPr lang="fr-FR" sz="1200" b="0" i="0">
                <a:solidFill>
                  <a:srgbClr val="44495A"/>
                </a:solidFill>
                <a:latin typeface="Arial"/>
              </a:rPr>
              <a:t>• Traçabilité en temps réel</a:t>
            </a:r>
          </a:p>
        </p:txBody>
      </p:sp>
      <p:sp>
        <p:nvSpPr>
          <p:cNvPr id="16" name="s16"/>
          <p:cNvSpPr/>
          <p:nvPr/>
        </p:nvSpPr>
        <p:spPr>
          <a:xfrm>
            <a:off x="6216000" y="2050000"/>
            <a:ext cx="2547960" cy="390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8DEE9"/>
            </a:solidFill>
          </a:ln>
          <a:effectLst>
            <a:outerShdw blurRad="90000" dist="38100" dir="5400000" rotWithShape="0">
              <a:srgbClr val="1C2A5E">
                <a:alpha val="1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7" name="s17"/>
          <p:cNvSpPr/>
          <p:nvPr/>
        </p:nvSpPr>
        <p:spPr>
          <a:xfrm>
            <a:off x="6216000" y="2050000"/>
            <a:ext cx="2547960" cy="560000"/>
          </a:xfrm>
          <a:prstGeom prst="roundRect">
            <a:avLst>
              <a:gd name="adj" fmla="val 6000"/>
            </a:avLst>
          </a:prstGeom>
          <a:solidFill>
            <a:srgbClr val="1C2A5E"/>
          </a:solidFill>
          <a:ln>
            <a:noFill/>
          </a:ln>
        </p:spPr>
        <p:txBody>
          <a:bodyPr wrap="square" lIns="91440" tIns="45720" rIns="91440" bIns="45720" anchor="ctr">
            <a:normAutofit/>
          </a:bodyPr>
          <a:lstStyle/>
          <a:p>
            <a:pPr algn="l">
              <a:buNone/>
            </a:pPr>
            <a:r>
              <a:rPr lang="fr-FR" sz="1400" b="1" i="0">
                <a:solidFill>
                  <a:srgbClr val="FFFFFF"/>
                </a:solidFill>
                <a:latin typeface="Arial"/>
              </a:rPr>
              <a:t>Paiement e-Dinar</a:t>
            </a:r>
          </a:p>
        </p:txBody>
      </p:sp>
      <p:sp>
        <p:nvSpPr>
          <p:cNvPr id="18" name="s18"/>
          <p:cNvSpPr/>
          <p:nvPr/>
        </p:nvSpPr>
        <p:spPr>
          <a:xfrm>
            <a:off x="6216000" y="2350000"/>
            <a:ext cx="2547960" cy="260000"/>
          </a:xfrm>
          <a:prstGeom prst="rect">
            <a:avLst/>
          </a:prstGeom>
          <a:solidFill>
            <a:srgbClr val="1C2A5E"/>
          </a:solidFill>
          <a:ln>
            <a:noFill/>
          </a:ln>
        </p:spPr>
        <p:txBody>
          <a:bodyPr wrap="square" lIns="91440" tIns="45720" rIns="91440" bIns="45720" anchor="t">
            <a:normAutofit/>
          </a:bodyPr>
          <a:lstStyle/>
          <a:p>
            <a:pPr algn="l">
              <a:buNone/>
            </a:pPr>
            <a:r>
              <a:rPr lang="fr-FR" sz="100" b="0" i="0">
                <a:solidFill>
                  <a:srgbClr val="FFFFFF"/>
                </a:solidFill>
                <a:latin typeface="Arial"/>
              </a:rPr>
              <a:t/>
            </a:r>
          </a:p>
        </p:txBody>
      </p:sp>
      <p:sp>
        <p:nvSpPr>
          <p:cNvPr id="19" name="s19"/>
          <p:cNvSpPr/>
          <p:nvPr/>
        </p:nvSpPr>
        <p:spPr>
          <a:xfrm>
            <a:off x="6216000" y="2690000"/>
            <a:ext cx="2547960" cy="3220000"/>
          </a:xfrm>
          <a:prstGeom prst="rect">
            <a:avLst/>
          </a:prstGeom>
          <a:noFill/>
          <a:ln>
            <a:noFill/>
          </a:ln>
        </p:spPr>
        <p:txBody>
          <a:bodyPr wrap="square" lIns="140000" tIns="45720" rIns="140000" bIns="45720" anchor="t">
            <a:normAutofit/>
          </a:bodyPr>
          <a:lstStyle/>
          <a:p>
            <a:pPr algn="l">
              <a:buNone/>
            </a:pPr>
            <a:r>
              <a:rPr lang="fr-FR" sz="1200" b="0" i="0">
                <a:solidFill>
                  <a:srgbClr val="44495A"/>
                </a:solidFill>
                <a:latin typeface="Arial"/>
              </a:rPr>
              <a:t>• Règlement en ligne</a:t>
            </a:r>
          </a:p>
        </p:txBody>
      </p:sp>
      <p:sp>
        <p:nvSpPr>
          <p:cNvPr id="20" name="s20"/>
          <p:cNvSpPr/>
          <p:nvPr/>
        </p:nvSpPr>
        <p:spPr>
          <a:xfrm>
            <a:off x="9003960" y="2050000"/>
            <a:ext cx="2547960" cy="390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8DEE9"/>
            </a:solidFill>
          </a:ln>
          <a:effectLst>
            <a:outerShdw blurRad="90000" dist="38100" dir="5400000" rotWithShape="0">
              <a:srgbClr val="1C2A5E">
                <a:alpha val="1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1" name="s21"/>
          <p:cNvSpPr/>
          <p:nvPr/>
        </p:nvSpPr>
        <p:spPr>
          <a:xfrm>
            <a:off x="9003960" y="2050000"/>
            <a:ext cx="2547960" cy="560000"/>
          </a:xfrm>
          <a:prstGeom prst="roundRect">
            <a:avLst>
              <a:gd name="adj" fmla="val 6000"/>
            </a:avLst>
          </a:prstGeom>
          <a:solidFill>
            <a:srgbClr val="1C2A5E"/>
          </a:solidFill>
          <a:ln>
            <a:noFill/>
          </a:ln>
        </p:spPr>
        <p:txBody>
          <a:bodyPr wrap="square" lIns="91440" tIns="45720" rIns="91440" bIns="45720" anchor="ctr">
            <a:normAutofit/>
          </a:bodyPr>
          <a:lstStyle/>
          <a:p>
            <a:pPr algn="l">
              <a:buNone/>
            </a:pPr>
            <a:r>
              <a:rPr lang="fr-FR" sz="1400" b="1" i="0">
                <a:solidFill>
                  <a:srgbClr val="FFFFFF"/>
                </a:solidFill>
                <a:latin typeface="Arial"/>
              </a:rPr>
              <a:t>Sécurité</a:t>
            </a:r>
          </a:p>
        </p:txBody>
      </p:sp>
      <p:sp>
        <p:nvSpPr>
          <p:cNvPr id="22" name="s22"/>
          <p:cNvSpPr/>
          <p:nvPr/>
        </p:nvSpPr>
        <p:spPr>
          <a:xfrm>
            <a:off x="9003960" y="2350000"/>
            <a:ext cx="2547960" cy="260000"/>
          </a:xfrm>
          <a:prstGeom prst="rect">
            <a:avLst/>
          </a:prstGeom>
          <a:solidFill>
            <a:srgbClr val="1C2A5E"/>
          </a:solidFill>
          <a:ln>
            <a:noFill/>
          </a:ln>
        </p:spPr>
        <p:txBody>
          <a:bodyPr wrap="square" lIns="91440" tIns="45720" rIns="91440" bIns="45720" anchor="t">
            <a:normAutofit/>
          </a:bodyPr>
          <a:lstStyle/>
          <a:p>
            <a:pPr algn="l">
              <a:buNone/>
            </a:pPr>
            <a:r>
              <a:rPr lang="fr-FR" sz="100" b="0" i="0">
                <a:solidFill>
                  <a:srgbClr val="FFFFFF"/>
                </a:solidFill>
                <a:latin typeface="Arial"/>
              </a:rPr>
              <a:t/>
            </a:r>
          </a:p>
        </p:txBody>
      </p:sp>
      <p:sp>
        <p:nvSpPr>
          <p:cNvPr id="23" name="s23"/>
          <p:cNvSpPr/>
          <p:nvPr/>
        </p:nvSpPr>
        <p:spPr>
          <a:xfrm>
            <a:off x="9003960" y="2690000"/>
            <a:ext cx="2547960" cy="3220000"/>
          </a:xfrm>
          <a:prstGeom prst="rect">
            <a:avLst/>
          </a:prstGeom>
          <a:noFill/>
          <a:ln>
            <a:noFill/>
          </a:ln>
        </p:spPr>
        <p:txBody>
          <a:bodyPr wrap="square" lIns="140000" tIns="45720" rIns="140000" bIns="45720" anchor="t">
            <a:normAutofit/>
          </a:bodyPr>
          <a:lstStyle/>
          <a:p>
            <a:pPr algn="l">
              <a:buNone/>
            </a:pPr>
            <a:r>
              <a:rPr lang="fr-FR" sz="1200" b="0" i="0">
                <a:solidFill>
                  <a:srgbClr val="44495A"/>
                </a:solidFill>
                <a:latin typeface="Arial"/>
              </a:rPr>
              <a:t>• Vérification e-mail</a:t>
            </a:r>
          </a:p>
          <a:p>
            <a:pPr algn="l">
              <a:spcBef>
                <a:spcPts val="600"/>
              </a:spcBef>
              <a:buNone/>
            </a:pPr>
            <a:r>
              <a:rPr lang="fr-FR" sz="1200" b="0" i="0">
                <a:solidFill>
                  <a:srgbClr val="44495A"/>
                </a:solidFill>
                <a:latin typeface="Arial"/>
              </a:rPr>
              <a:t>• 2FA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A"/>
        </a:solidFill>
        <a:effectLst/>
      </p:bgPr>
    </p:bg>
    <p:spTree>
      <p:sp>
        <p:nvSpPr>
          <p:cNvPr id="2" name="s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txBody>
          <a:bodyPr/>
          <a:lstStyle/>
          <a:p>
            <a:endParaRPr lang="fr-FR"/>
          </a:p>
        </p:txBody>
      </p:sp>
      <p:sp>
        <p:nvSpPr>
          <p:cNvPr id="3" name="s3"/>
          <p:cNvSpPr/>
          <p:nvPr/>
        </p:nvSpPr>
        <p:spPr>
          <a:xfrm>
            <a:off x="640080" y="470000"/>
            <a:ext cx="10911840" cy="30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>
            <a:normAutofit/>
          </a:bodyPr>
          <a:lstStyle/>
          <a:p>
            <a:pPr algn="l">
              <a:buNone/>
            </a:pPr>
            <a:r>
              <a:rPr lang="fr-FR" sz="1200" b="1" i="0">
                <a:solidFill>
                  <a:srgbClr val="9A7B12"/>
                </a:solidFill>
                <a:latin typeface="Arial"/>
              </a:rPr>
              <a:t>06 · MÉTHODOLOGIE DE TRAVAIL</a:t>
            </a:r>
          </a:p>
        </p:txBody>
      </p:sp>
      <p:sp>
        <p:nvSpPr>
          <p:cNvPr id="4" name="s4"/>
          <p:cNvSpPr/>
          <p:nvPr/>
        </p:nvSpPr>
        <p:spPr>
          <a:xfrm>
            <a:off x="630080" y="720000"/>
            <a:ext cx="10911840" cy="90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>
            <a:normAutofit/>
          </a:bodyPr>
          <a:lstStyle/>
          <a:p>
            <a:pPr algn="l">
              <a:buNone/>
            </a:pPr>
            <a:r>
              <a:rPr lang="fr-FR" sz="3200" b="1" i="0">
                <a:solidFill>
                  <a:srgbClr val="1C2A5E"/>
                </a:solidFill>
                <a:latin typeface="Arial"/>
              </a:rPr>
              <a:t>Méthode agile Scrum</a:t>
            </a:r>
          </a:p>
        </p:txBody>
      </p:sp>
      <p:sp>
        <p:nvSpPr>
          <p:cNvPr id="5" name="s5"/>
          <p:cNvSpPr/>
          <p:nvPr/>
        </p:nvSpPr>
        <p:spPr>
          <a:xfrm>
            <a:off x="640080" y="1640000"/>
            <a:ext cx="1500000" cy="90000"/>
          </a:xfrm>
          <a:prstGeom prst="rect">
            <a:avLst/>
          </a:prstGeom>
          <a:solidFill>
            <a:srgbClr val="F4C400"/>
          </a:solidFill>
          <a:ln>
            <a:noFill/>
          </a:ln>
        </p:spPr>
        <p:txBody>
          <a:bodyPr/>
          <a:lstStyle/>
          <a:p>
            <a:endParaRPr lang="fr-FR"/>
          </a:p>
        </p:txBody>
      </p:sp>
      <p:sp>
        <p:nvSpPr>
          <p:cNvPr id="6" name="s6"/>
          <p:cNvSpPr/>
          <p:nvPr/>
        </p:nvSpPr>
        <p:spPr>
          <a:xfrm>
            <a:off x="640080" y="6380000"/>
            <a:ext cx="8000000" cy="30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rmAutofit/>
          </a:bodyPr>
          <a:lstStyle/>
          <a:p>
            <a:pPr algn="l">
              <a:buNone/>
            </a:pPr>
            <a:r>
              <a:rPr lang="fr-FR" sz="1000" b="0" i="0">
                <a:solidFill>
                  <a:srgbClr val="8A90A0"/>
                </a:solidFill>
                <a:latin typeface="Arial"/>
              </a:rPr>
              <a:t>e-Boutique — La Poste Tunisienne</a:t>
            </a:r>
          </a:p>
        </p:txBody>
      </p:sp>
      <p:sp>
        <p:nvSpPr>
          <p:cNvPr id="7" name="s7"/>
          <p:cNvSpPr/>
          <p:nvPr/>
        </p:nvSpPr>
        <p:spPr>
          <a:xfrm>
            <a:off x="10992000" y="6360000"/>
            <a:ext cx="560000" cy="340000"/>
          </a:xfrm>
          <a:prstGeom prst="roundRect">
            <a:avLst>
              <a:gd name="adj" fmla="val 25000"/>
            </a:avLst>
          </a:prstGeom>
          <a:solidFill>
            <a:srgbClr val="1C2A5E"/>
          </a:solidFill>
          <a:ln>
            <a:noFill/>
          </a:ln>
        </p:spPr>
        <p:txBody>
          <a:bodyPr wrap="square" lIns="91440" tIns="0" rIns="91440" bIns="0" anchor="ctr">
            <a:normAutofit/>
          </a:bodyPr>
          <a:lstStyle/>
          <a:p>
            <a:pPr algn="ctr">
              <a:buNone/>
            </a:pPr>
            <a:r>
              <a:rPr lang="fr-FR" sz="1100" b="1" i="0">
                <a:solidFill>
                  <a:srgbClr val="FFFFFF"/>
                </a:solidFill>
                <a:latin typeface="Arial"/>
              </a:rPr>
              <a:t>8</a:t>
            </a:r>
          </a:p>
        </p:txBody>
      </p:sp>
      <p:sp>
        <p:nvSpPr>
          <p:cNvPr id="8" name="s8"/>
          <p:cNvSpPr/>
          <p:nvPr/>
        </p:nvSpPr>
        <p:spPr>
          <a:xfrm>
            <a:off x="640080" y="1830000"/>
            <a:ext cx="10911840" cy="40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>
            <a:normAutofit/>
          </a:bodyPr>
          <a:lstStyle/>
          <a:p>
            <a:pPr algn="l">
              <a:buNone/>
            </a:pPr>
            <a:r>
              <a:rPr lang="fr-FR" sz="1300" b="0" i="0">
                <a:solidFill>
                  <a:srgbClr val="44495A"/>
                </a:solidFill>
                <a:latin typeface="Arial"/>
              </a:rPr>
              <a:t>Projet réalisé sur 6 mois, découpé en 8 sprints — chacun livrant une version fonctionnelle et testable.</a:t>
            </a:r>
          </a:p>
        </p:txBody>
      </p:sp>
      <p:sp>
        <p:nvSpPr>
          <p:cNvPr id="9" name="s9"/>
          <p:cNvSpPr/>
          <p:nvPr/>
        </p:nvSpPr>
        <p:spPr>
          <a:xfrm>
            <a:off x="640080" y="2320000"/>
            <a:ext cx="2577960" cy="160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8DEE9"/>
            </a:solidFill>
          </a:ln>
          <a:effectLst>
            <a:outerShdw blurRad="90000" dist="38100" dir="5400000" rotWithShape="0">
              <a:srgbClr val="1C2A5E">
                <a:alpha val="1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0" name="s10"/>
          <p:cNvSpPr/>
          <p:nvPr/>
        </p:nvSpPr>
        <p:spPr>
          <a:xfrm>
            <a:off x="640080" y="2320000"/>
            <a:ext cx="2577960" cy="560000"/>
          </a:xfrm>
          <a:prstGeom prst="roundRect">
            <a:avLst>
              <a:gd name="adj" fmla="val 6000"/>
            </a:avLst>
          </a:prstGeom>
          <a:solidFill>
            <a:srgbClr val="1C2A5E"/>
          </a:solidFill>
          <a:ln>
            <a:noFill/>
          </a:ln>
        </p:spPr>
        <p:txBody>
          <a:bodyPr wrap="square" lIns="91440" tIns="45720" rIns="91440" bIns="45720" anchor="ctr">
            <a:normAutofit/>
          </a:bodyPr>
          <a:lstStyle/>
          <a:p>
            <a:pPr algn="l">
              <a:buNone/>
            </a:pPr>
            <a:r>
              <a:rPr lang="fr-FR" sz="1400" b="1" i="0">
                <a:solidFill>
                  <a:srgbClr val="FFFFFF"/>
                </a:solidFill>
                <a:latin typeface="Arial"/>
              </a:rPr>
              <a:t>S0</a:t>
            </a:r>
          </a:p>
        </p:txBody>
      </p:sp>
      <p:sp>
        <p:nvSpPr>
          <p:cNvPr id="11" name="s11"/>
          <p:cNvSpPr/>
          <p:nvPr/>
        </p:nvSpPr>
        <p:spPr>
          <a:xfrm>
            <a:off x="640080" y="2620000"/>
            <a:ext cx="2577960" cy="260000"/>
          </a:xfrm>
          <a:prstGeom prst="rect">
            <a:avLst/>
          </a:prstGeom>
          <a:solidFill>
            <a:srgbClr val="1C2A5E"/>
          </a:solidFill>
          <a:ln>
            <a:noFill/>
          </a:ln>
        </p:spPr>
        <p:txBody>
          <a:bodyPr wrap="square" lIns="91440" tIns="45720" rIns="91440" bIns="45720" anchor="t">
            <a:normAutofit/>
          </a:bodyPr>
          <a:lstStyle/>
          <a:p>
            <a:pPr algn="l">
              <a:buNone/>
            </a:pPr>
            <a:r>
              <a:rPr lang="fr-FR" sz="100" b="0" i="0">
                <a:solidFill>
                  <a:srgbClr val="FFFFFF"/>
                </a:solidFill>
                <a:latin typeface="Arial"/>
              </a:rPr>
              <a:t/>
            </a:r>
          </a:p>
        </p:txBody>
      </p:sp>
      <p:sp>
        <p:nvSpPr>
          <p:cNvPr id="12" name="s12"/>
          <p:cNvSpPr/>
          <p:nvPr/>
        </p:nvSpPr>
        <p:spPr>
          <a:xfrm>
            <a:off x="640080" y="2960000"/>
            <a:ext cx="2577960" cy="920000"/>
          </a:xfrm>
          <a:prstGeom prst="rect">
            <a:avLst/>
          </a:prstGeom>
          <a:noFill/>
          <a:ln>
            <a:noFill/>
          </a:ln>
        </p:spPr>
        <p:txBody>
          <a:bodyPr wrap="square" lIns="140000" tIns="45720" rIns="140000" bIns="45720" anchor="t">
            <a:normAutofit/>
          </a:bodyPr>
          <a:lstStyle/>
          <a:p>
            <a:pPr algn="l">
              <a:buNone/>
            </a:pPr>
            <a:r>
              <a:rPr lang="fr-FR" sz="1200" b="0" i="0">
                <a:solidFill>
                  <a:srgbClr val="44495A"/>
                </a:solidFill>
                <a:latin typeface="Arial"/>
              </a:rPr>
              <a:t>• Conception</a:t>
            </a:r>
          </a:p>
          <a:p>
            <a:pPr algn="l">
              <a:spcBef>
                <a:spcPts val="600"/>
              </a:spcBef>
              <a:buNone/>
            </a:pPr>
            <a:r>
              <a:rPr lang="fr-FR" sz="1200" b="0" i="0">
                <a:solidFill>
                  <a:srgbClr val="44495A"/>
                </a:solidFill>
                <a:latin typeface="Arial"/>
              </a:rPr>
              <a:t>• 3 sem.</a:t>
            </a:r>
          </a:p>
        </p:txBody>
      </p:sp>
      <p:sp>
        <p:nvSpPr>
          <p:cNvPr id="13" name="s13"/>
          <p:cNvSpPr/>
          <p:nvPr/>
        </p:nvSpPr>
        <p:spPr>
          <a:xfrm>
            <a:off x="3418040" y="2320000"/>
            <a:ext cx="2577960" cy="160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8DEE9"/>
            </a:solidFill>
          </a:ln>
          <a:effectLst>
            <a:outerShdw blurRad="90000" dist="38100" dir="5400000" rotWithShape="0">
              <a:srgbClr val="1C2A5E">
                <a:alpha val="1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4" name="s14"/>
          <p:cNvSpPr/>
          <p:nvPr/>
        </p:nvSpPr>
        <p:spPr>
          <a:xfrm>
            <a:off x="3418040" y="2320000"/>
            <a:ext cx="2577960" cy="560000"/>
          </a:xfrm>
          <a:prstGeom prst="roundRect">
            <a:avLst>
              <a:gd name="adj" fmla="val 6000"/>
            </a:avLst>
          </a:prstGeom>
          <a:solidFill>
            <a:srgbClr val="1C2A5E"/>
          </a:solidFill>
          <a:ln>
            <a:noFill/>
          </a:ln>
        </p:spPr>
        <p:txBody>
          <a:bodyPr wrap="square" lIns="91440" tIns="45720" rIns="91440" bIns="45720" anchor="ctr">
            <a:normAutofit/>
          </a:bodyPr>
          <a:lstStyle/>
          <a:p>
            <a:pPr algn="l">
              <a:buNone/>
            </a:pPr>
            <a:r>
              <a:rPr lang="fr-FR" sz="1400" b="1" i="0">
                <a:solidFill>
                  <a:srgbClr val="FFFFFF"/>
                </a:solidFill>
                <a:latin typeface="Arial"/>
              </a:rPr>
              <a:t>S1</a:t>
            </a:r>
          </a:p>
        </p:txBody>
      </p:sp>
      <p:sp>
        <p:nvSpPr>
          <p:cNvPr id="15" name="s15"/>
          <p:cNvSpPr/>
          <p:nvPr/>
        </p:nvSpPr>
        <p:spPr>
          <a:xfrm>
            <a:off x="3418040" y="2620000"/>
            <a:ext cx="2577960" cy="260000"/>
          </a:xfrm>
          <a:prstGeom prst="rect">
            <a:avLst/>
          </a:prstGeom>
          <a:solidFill>
            <a:srgbClr val="1C2A5E"/>
          </a:solidFill>
          <a:ln>
            <a:noFill/>
          </a:ln>
        </p:spPr>
        <p:txBody>
          <a:bodyPr wrap="square" lIns="91440" tIns="45720" rIns="91440" bIns="45720" anchor="t">
            <a:normAutofit/>
          </a:bodyPr>
          <a:lstStyle/>
          <a:p>
            <a:pPr algn="l">
              <a:buNone/>
            </a:pPr>
            <a:r>
              <a:rPr lang="fr-FR" sz="100" b="0" i="0">
                <a:solidFill>
                  <a:srgbClr val="FFFFFF"/>
                </a:solidFill>
                <a:latin typeface="Arial"/>
              </a:rPr>
              <a:t/>
            </a:r>
          </a:p>
        </p:txBody>
      </p:sp>
      <p:sp>
        <p:nvSpPr>
          <p:cNvPr id="16" name="s16"/>
          <p:cNvSpPr/>
          <p:nvPr/>
        </p:nvSpPr>
        <p:spPr>
          <a:xfrm>
            <a:off x="3418040" y="2960000"/>
            <a:ext cx="2577960" cy="920000"/>
          </a:xfrm>
          <a:prstGeom prst="rect">
            <a:avLst/>
          </a:prstGeom>
          <a:noFill/>
          <a:ln>
            <a:noFill/>
          </a:ln>
        </p:spPr>
        <p:txBody>
          <a:bodyPr wrap="square" lIns="140000" tIns="45720" rIns="140000" bIns="45720" anchor="t">
            <a:normAutofit/>
          </a:bodyPr>
          <a:lstStyle/>
          <a:p>
            <a:pPr algn="l">
              <a:buNone/>
            </a:pPr>
            <a:r>
              <a:rPr lang="fr-FR" sz="1200" b="0" i="0">
                <a:solidFill>
                  <a:srgbClr val="44495A"/>
                </a:solidFill>
                <a:latin typeface="Arial"/>
              </a:rPr>
              <a:t>• Authentification</a:t>
            </a:r>
          </a:p>
          <a:p>
            <a:pPr algn="l">
              <a:spcBef>
                <a:spcPts val="600"/>
              </a:spcBef>
              <a:buNone/>
            </a:pPr>
            <a:r>
              <a:rPr lang="fr-FR" sz="1200" b="0" i="0">
                <a:solidFill>
                  <a:srgbClr val="44495A"/>
                </a:solidFill>
                <a:latin typeface="Arial"/>
              </a:rPr>
              <a:t>• 3 sem.</a:t>
            </a:r>
          </a:p>
        </p:txBody>
      </p:sp>
      <p:sp>
        <p:nvSpPr>
          <p:cNvPr id="17" name="s17"/>
          <p:cNvSpPr/>
          <p:nvPr/>
        </p:nvSpPr>
        <p:spPr>
          <a:xfrm>
            <a:off x="6196000" y="2320000"/>
            <a:ext cx="2577960" cy="160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8DEE9"/>
            </a:solidFill>
          </a:ln>
          <a:effectLst>
            <a:outerShdw blurRad="90000" dist="38100" dir="5400000" rotWithShape="0">
              <a:srgbClr val="1C2A5E">
                <a:alpha val="1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8" name="s18"/>
          <p:cNvSpPr/>
          <p:nvPr/>
        </p:nvSpPr>
        <p:spPr>
          <a:xfrm>
            <a:off x="6196000" y="2320000"/>
            <a:ext cx="2577960" cy="560000"/>
          </a:xfrm>
          <a:prstGeom prst="roundRect">
            <a:avLst>
              <a:gd name="adj" fmla="val 6000"/>
            </a:avLst>
          </a:prstGeom>
          <a:solidFill>
            <a:srgbClr val="1C2A5E"/>
          </a:solidFill>
          <a:ln>
            <a:noFill/>
          </a:ln>
        </p:spPr>
        <p:txBody>
          <a:bodyPr wrap="square" lIns="91440" tIns="45720" rIns="91440" bIns="45720" anchor="ctr">
            <a:normAutofit/>
          </a:bodyPr>
          <a:lstStyle/>
          <a:p>
            <a:pPr algn="l">
              <a:buNone/>
            </a:pPr>
            <a:r>
              <a:rPr lang="fr-FR" sz="1400" b="1" i="0">
                <a:solidFill>
                  <a:srgbClr val="FFFFFF"/>
                </a:solidFill>
                <a:latin typeface="Arial"/>
              </a:rPr>
              <a:t>S2</a:t>
            </a:r>
          </a:p>
        </p:txBody>
      </p:sp>
      <p:sp>
        <p:nvSpPr>
          <p:cNvPr id="19" name="s19"/>
          <p:cNvSpPr/>
          <p:nvPr/>
        </p:nvSpPr>
        <p:spPr>
          <a:xfrm>
            <a:off x="6196000" y="2620000"/>
            <a:ext cx="2577960" cy="260000"/>
          </a:xfrm>
          <a:prstGeom prst="rect">
            <a:avLst/>
          </a:prstGeom>
          <a:solidFill>
            <a:srgbClr val="1C2A5E"/>
          </a:solidFill>
          <a:ln>
            <a:noFill/>
          </a:ln>
        </p:spPr>
        <p:txBody>
          <a:bodyPr wrap="square" lIns="91440" tIns="45720" rIns="91440" bIns="45720" anchor="t">
            <a:normAutofit/>
          </a:bodyPr>
          <a:lstStyle/>
          <a:p>
            <a:pPr algn="l">
              <a:buNone/>
            </a:pPr>
            <a:r>
              <a:rPr lang="fr-FR" sz="100" b="0" i="0">
                <a:solidFill>
                  <a:srgbClr val="FFFFFF"/>
                </a:solidFill>
                <a:latin typeface="Arial"/>
              </a:rPr>
              <a:t/>
            </a:r>
          </a:p>
        </p:txBody>
      </p:sp>
      <p:sp>
        <p:nvSpPr>
          <p:cNvPr id="20" name="s20"/>
          <p:cNvSpPr/>
          <p:nvPr/>
        </p:nvSpPr>
        <p:spPr>
          <a:xfrm>
            <a:off x="6196000" y="2960000"/>
            <a:ext cx="2577960" cy="920000"/>
          </a:xfrm>
          <a:prstGeom prst="rect">
            <a:avLst/>
          </a:prstGeom>
          <a:noFill/>
          <a:ln>
            <a:noFill/>
          </a:ln>
        </p:spPr>
        <p:txBody>
          <a:bodyPr wrap="square" lIns="140000" tIns="45720" rIns="140000" bIns="45720" anchor="t">
            <a:normAutofit/>
          </a:bodyPr>
          <a:lstStyle/>
          <a:p>
            <a:pPr algn="l">
              <a:buNone/>
            </a:pPr>
            <a:r>
              <a:rPr lang="fr-FR" sz="1200" b="0" i="0">
                <a:solidFill>
                  <a:srgbClr val="44495A"/>
                </a:solidFill>
                <a:latin typeface="Arial"/>
              </a:rPr>
              <a:t>• Boutique</a:t>
            </a:r>
          </a:p>
          <a:p>
            <a:pPr algn="l">
              <a:spcBef>
                <a:spcPts val="600"/>
              </a:spcBef>
              <a:buNone/>
            </a:pPr>
            <a:r>
              <a:rPr lang="fr-FR" sz="1200" b="0" i="0">
                <a:solidFill>
                  <a:srgbClr val="44495A"/>
                </a:solidFill>
                <a:latin typeface="Arial"/>
              </a:rPr>
              <a:t>• 3 sem.</a:t>
            </a:r>
          </a:p>
        </p:txBody>
      </p:sp>
      <p:sp>
        <p:nvSpPr>
          <p:cNvPr id="21" name="s21"/>
          <p:cNvSpPr/>
          <p:nvPr/>
        </p:nvSpPr>
        <p:spPr>
          <a:xfrm>
            <a:off x="8973960" y="2320000"/>
            <a:ext cx="2577960" cy="160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8DEE9"/>
            </a:solidFill>
          </a:ln>
          <a:effectLst>
            <a:outerShdw blurRad="90000" dist="38100" dir="5400000" rotWithShape="0">
              <a:srgbClr val="1C2A5E">
                <a:alpha val="1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2" name="s22"/>
          <p:cNvSpPr/>
          <p:nvPr/>
        </p:nvSpPr>
        <p:spPr>
          <a:xfrm>
            <a:off x="8973960" y="2320000"/>
            <a:ext cx="2577960" cy="560000"/>
          </a:xfrm>
          <a:prstGeom prst="roundRect">
            <a:avLst>
              <a:gd name="adj" fmla="val 6000"/>
            </a:avLst>
          </a:prstGeom>
          <a:solidFill>
            <a:srgbClr val="1C2A5E"/>
          </a:solidFill>
          <a:ln>
            <a:noFill/>
          </a:ln>
        </p:spPr>
        <p:txBody>
          <a:bodyPr wrap="square" lIns="91440" tIns="45720" rIns="91440" bIns="45720" anchor="ctr">
            <a:normAutofit/>
          </a:bodyPr>
          <a:lstStyle/>
          <a:p>
            <a:pPr algn="l">
              <a:buNone/>
            </a:pPr>
            <a:r>
              <a:rPr lang="fr-FR" sz="1400" b="1" i="0">
                <a:solidFill>
                  <a:srgbClr val="FFFFFF"/>
                </a:solidFill>
                <a:latin typeface="Arial"/>
              </a:rPr>
              <a:t>S3</a:t>
            </a:r>
          </a:p>
        </p:txBody>
      </p:sp>
      <p:sp>
        <p:nvSpPr>
          <p:cNvPr id="23" name="s23"/>
          <p:cNvSpPr/>
          <p:nvPr/>
        </p:nvSpPr>
        <p:spPr>
          <a:xfrm>
            <a:off x="8973960" y="2620000"/>
            <a:ext cx="2577960" cy="260000"/>
          </a:xfrm>
          <a:prstGeom prst="rect">
            <a:avLst/>
          </a:prstGeom>
          <a:solidFill>
            <a:srgbClr val="1C2A5E"/>
          </a:solidFill>
          <a:ln>
            <a:noFill/>
          </a:ln>
        </p:spPr>
        <p:txBody>
          <a:bodyPr wrap="square" lIns="91440" tIns="45720" rIns="91440" bIns="45720" anchor="t">
            <a:normAutofit/>
          </a:bodyPr>
          <a:lstStyle/>
          <a:p>
            <a:pPr algn="l">
              <a:buNone/>
            </a:pPr>
            <a:r>
              <a:rPr lang="fr-FR" sz="100" b="0" i="0">
                <a:solidFill>
                  <a:srgbClr val="FFFFFF"/>
                </a:solidFill>
                <a:latin typeface="Arial"/>
              </a:rPr>
              <a:t/>
            </a:r>
          </a:p>
        </p:txBody>
      </p:sp>
      <p:sp>
        <p:nvSpPr>
          <p:cNvPr id="24" name="s24"/>
          <p:cNvSpPr/>
          <p:nvPr/>
        </p:nvSpPr>
        <p:spPr>
          <a:xfrm>
            <a:off x="8973960" y="2960000"/>
            <a:ext cx="2577960" cy="920000"/>
          </a:xfrm>
          <a:prstGeom prst="rect">
            <a:avLst/>
          </a:prstGeom>
          <a:noFill/>
          <a:ln>
            <a:noFill/>
          </a:ln>
        </p:spPr>
        <p:txBody>
          <a:bodyPr wrap="square" lIns="140000" tIns="45720" rIns="140000" bIns="45720" anchor="t">
            <a:normAutofit/>
          </a:bodyPr>
          <a:lstStyle/>
          <a:p>
            <a:pPr algn="l">
              <a:buNone/>
            </a:pPr>
            <a:r>
              <a:rPr lang="fr-FR" sz="1200" b="0" i="0">
                <a:solidFill>
                  <a:srgbClr val="44495A"/>
                </a:solidFill>
                <a:latin typeface="Arial"/>
              </a:rPr>
              <a:t>• Dépôt &amp; suivi</a:t>
            </a:r>
          </a:p>
          <a:p>
            <a:pPr algn="l">
              <a:spcBef>
                <a:spcPts val="600"/>
              </a:spcBef>
              <a:buNone/>
            </a:pPr>
            <a:r>
              <a:rPr lang="fr-FR" sz="1200" b="0" i="0">
                <a:solidFill>
                  <a:srgbClr val="44495A"/>
                </a:solidFill>
                <a:latin typeface="Arial"/>
              </a:rPr>
              <a:t>• 3 sem.</a:t>
            </a:r>
          </a:p>
        </p:txBody>
      </p:sp>
      <p:sp>
        <p:nvSpPr>
          <p:cNvPr id="25" name="s25"/>
          <p:cNvSpPr/>
          <p:nvPr/>
        </p:nvSpPr>
        <p:spPr>
          <a:xfrm>
            <a:off x="640080" y="4120000"/>
            <a:ext cx="2577960" cy="160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8DEE9"/>
            </a:solidFill>
          </a:ln>
          <a:effectLst>
            <a:outerShdw blurRad="90000" dist="38100" dir="5400000" rotWithShape="0">
              <a:srgbClr val="1C2A5E">
                <a:alpha val="1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6" name="s26"/>
          <p:cNvSpPr/>
          <p:nvPr/>
        </p:nvSpPr>
        <p:spPr>
          <a:xfrm>
            <a:off x="640080" y="4120000"/>
            <a:ext cx="2577960" cy="560000"/>
          </a:xfrm>
          <a:prstGeom prst="roundRect">
            <a:avLst>
              <a:gd name="adj" fmla="val 6000"/>
            </a:avLst>
          </a:prstGeom>
          <a:solidFill>
            <a:srgbClr val="1C2A5E"/>
          </a:solidFill>
          <a:ln>
            <a:noFill/>
          </a:ln>
        </p:spPr>
        <p:txBody>
          <a:bodyPr wrap="square" lIns="91440" tIns="45720" rIns="91440" bIns="45720" anchor="ctr">
            <a:normAutofit/>
          </a:bodyPr>
          <a:lstStyle/>
          <a:p>
            <a:pPr algn="l">
              <a:buNone/>
            </a:pPr>
            <a:r>
              <a:rPr lang="fr-FR" sz="1400" b="1" i="0">
                <a:solidFill>
                  <a:srgbClr val="FFFFFF"/>
                </a:solidFill>
                <a:latin typeface="Arial"/>
              </a:rPr>
              <a:t>S4</a:t>
            </a:r>
          </a:p>
        </p:txBody>
      </p:sp>
      <p:sp>
        <p:nvSpPr>
          <p:cNvPr id="27" name="s27"/>
          <p:cNvSpPr/>
          <p:nvPr/>
        </p:nvSpPr>
        <p:spPr>
          <a:xfrm>
            <a:off x="640080" y="4420000"/>
            <a:ext cx="2577960" cy="260000"/>
          </a:xfrm>
          <a:prstGeom prst="rect">
            <a:avLst/>
          </a:prstGeom>
          <a:solidFill>
            <a:srgbClr val="1C2A5E"/>
          </a:solidFill>
          <a:ln>
            <a:noFill/>
          </a:ln>
        </p:spPr>
        <p:txBody>
          <a:bodyPr wrap="square" lIns="91440" tIns="45720" rIns="91440" bIns="45720" anchor="t">
            <a:normAutofit/>
          </a:bodyPr>
          <a:lstStyle/>
          <a:p>
            <a:pPr algn="l">
              <a:buNone/>
            </a:pPr>
            <a:r>
              <a:rPr lang="fr-FR" sz="100" b="0" i="0">
                <a:solidFill>
                  <a:srgbClr val="FFFFFF"/>
                </a:solidFill>
                <a:latin typeface="Arial"/>
              </a:rPr>
              <a:t/>
            </a:r>
          </a:p>
        </p:txBody>
      </p:sp>
      <p:sp>
        <p:nvSpPr>
          <p:cNvPr id="28" name="s28"/>
          <p:cNvSpPr/>
          <p:nvPr/>
        </p:nvSpPr>
        <p:spPr>
          <a:xfrm>
            <a:off x="640080" y="4760000"/>
            <a:ext cx="2577960" cy="920000"/>
          </a:xfrm>
          <a:prstGeom prst="rect">
            <a:avLst/>
          </a:prstGeom>
          <a:noFill/>
          <a:ln>
            <a:noFill/>
          </a:ln>
        </p:spPr>
        <p:txBody>
          <a:bodyPr wrap="square" lIns="140000" tIns="45720" rIns="140000" bIns="45720" anchor="t">
            <a:normAutofit/>
          </a:bodyPr>
          <a:lstStyle/>
          <a:p>
            <a:pPr algn="l">
              <a:buNone/>
            </a:pPr>
            <a:r>
              <a:rPr lang="fr-FR" sz="1200" b="0" i="0">
                <a:solidFill>
                  <a:srgbClr val="44495A"/>
                </a:solidFill>
                <a:latin typeface="Arial"/>
              </a:rPr>
              <a:t>• Paiement</a:t>
            </a:r>
          </a:p>
          <a:p>
            <a:pPr algn="l">
              <a:spcBef>
                <a:spcPts val="600"/>
              </a:spcBef>
              <a:buNone/>
            </a:pPr>
            <a:r>
              <a:rPr lang="fr-FR" sz="1200" b="0" i="0">
                <a:solidFill>
                  <a:srgbClr val="44495A"/>
                </a:solidFill>
                <a:latin typeface="Arial"/>
              </a:rPr>
              <a:t>• 2 sem.</a:t>
            </a:r>
          </a:p>
        </p:txBody>
      </p:sp>
      <p:sp>
        <p:nvSpPr>
          <p:cNvPr id="29" name="s29"/>
          <p:cNvSpPr/>
          <p:nvPr/>
        </p:nvSpPr>
        <p:spPr>
          <a:xfrm>
            <a:off x="3418040" y="4120000"/>
            <a:ext cx="2577960" cy="160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8DEE9"/>
            </a:solidFill>
          </a:ln>
          <a:effectLst>
            <a:outerShdw blurRad="90000" dist="38100" dir="5400000" rotWithShape="0">
              <a:srgbClr val="1C2A5E">
                <a:alpha val="1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30" name="s30"/>
          <p:cNvSpPr/>
          <p:nvPr/>
        </p:nvSpPr>
        <p:spPr>
          <a:xfrm>
            <a:off x="3418040" y="4120000"/>
            <a:ext cx="2577960" cy="560000"/>
          </a:xfrm>
          <a:prstGeom prst="roundRect">
            <a:avLst>
              <a:gd name="adj" fmla="val 6000"/>
            </a:avLst>
          </a:prstGeom>
          <a:solidFill>
            <a:srgbClr val="1C2A5E"/>
          </a:solidFill>
          <a:ln>
            <a:noFill/>
          </a:ln>
        </p:spPr>
        <p:txBody>
          <a:bodyPr wrap="square" lIns="91440" tIns="45720" rIns="91440" bIns="45720" anchor="ctr">
            <a:normAutofit/>
          </a:bodyPr>
          <a:lstStyle/>
          <a:p>
            <a:pPr algn="l">
              <a:buNone/>
            </a:pPr>
            <a:r>
              <a:rPr lang="fr-FR" sz="1400" b="1" i="0">
                <a:solidFill>
                  <a:srgbClr val="FFFFFF"/>
                </a:solidFill>
                <a:latin typeface="Arial"/>
              </a:rPr>
              <a:t>S5</a:t>
            </a:r>
          </a:p>
        </p:txBody>
      </p:sp>
      <p:sp>
        <p:nvSpPr>
          <p:cNvPr id="31" name="s31"/>
          <p:cNvSpPr/>
          <p:nvPr/>
        </p:nvSpPr>
        <p:spPr>
          <a:xfrm>
            <a:off x="3418040" y="4420000"/>
            <a:ext cx="2577960" cy="260000"/>
          </a:xfrm>
          <a:prstGeom prst="rect">
            <a:avLst/>
          </a:prstGeom>
          <a:solidFill>
            <a:srgbClr val="1C2A5E"/>
          </a:solidFill>
          <a:ln>
            <a:noFill/>
          </a:ln>
        </p:spPr>
        <p:txBody>
          <a:bodyPr wrap="square" lIns="91440" tIns="45720" rIns="91440" bIns="45720" anchor="t">
            <a:normAutofit/>
          </a:bodyPr>
          <a:lstStyle/>
          <a:p>
            <a:pPr algn="l">
              <a:buNone/>
            </a:pPr>
            <a:r>
              <a:rPr lang="fr-FR" sz="100" b="0" i="0">
                <a:solidFill>
                  <a:srgbClr val="FFFFFF"/>
                </a:solidFill>
                <a:latin typeface="Arial"/>
              </a:rPr>
              <a:t/>
            </a:r>
          </a:p>
        </p:txBody>
      </p:sp>
      <p:sp>
        <p:nvSpPr>
          <p:cNvPr id="32" name="s32"/>
          <p:cNvSpPr/>
          <p:nvPr/>
        </p:nvSpPr>
        <p:spPr>
          <a:xfrm>
            <a:off x="3418040" y="4760000"/>
            <a:ext cx="2577960" cy="920000"/>
          </a:xfrm>
          <a:prstGeom prst="rect">
            <a:avLst/>
          </a:prstGeom>
          <a:noFill/>
          <a:ln>
            <a:noFill/>
          </a:ln>
        </p:spPr>
        <p:txBody>
          <a:bodyPr wrap="square" lIns="140000" tIns="45720" rIns="140000" bIns="45720" anchor="t">
            <a:normAutofit/>
          </a:bodyPr>
          <a:lstStyle/>
          <a:p>
            <a:pPr algn="l">
              <a:buNone/>
            </a:pPr>
            <a:r>
              <a:rPr lang="fr-FR" sz="1200" b="0" i="0">
                <a:solidFill>
                  <a:srgbClr val="44495A"/>
                </a:solidFill>
                <a:latin typeface="Arial"/>
              </a:rPr>
              <a:t>• Espace pro &amp; chat</a:t>
            </a:r>
          </a:p>
          <a:p>
            <a:pPr algn="l">
              <a:spcBef>
                <a:spcPts val="600"/>
              </a:spcBef>
              <a:buNone/>
            </a:pPr>
            <a:r>
              <a:rPr lang="fr-FR" sz="1200" b="0" i="0">
                <a:solidFill>
                  <a:srgbClr val="44495A"/>
                </a:solidFill>
                <a:latin typeface="Arial"/>
              </a:rPr>
              <a:t>• 3 sem.</a:t>
            </a:r>
          </a:p>
        </p:txBody>
      </p:sp>
      <p:sp>
        <p:nvSpPr>
          <p:cNvPr id="33" name="s33"/>
          <p:cNvSpPr/>
          <p:nvPr/>
        </p:nvSpPr>
        <p:spPr>
          <a:xfrm>
            <a:off x="6196000" y="4120000"/>
            <a:ext cx="2577960" cy="160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8DEE9"/>
            </a:solidFill>
          </a:ln>
          <a:effectLst>
            <a:outerShdw blurRad="90000" dist="38100" dir="5400000" rotWithShape="0">
              <a:srgbClr val="1C2A5E">
                <a:alpha val="1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34" name="s34"/>
          <p:cNvSpPr/>
          <p:nvPr/>
        </p:nvSpPr>
        <p:spPr>
          <a:xfrm>
            <a:off x="6196000" y="4120000"/>
            <a:ext cx="2577960" cy="560000"/>
          </a:xfrm>
          <a:prstGeom prst="roundRect">
            <a:avLst>
              <a:gd name="adj" fmla="val 6000"/>
            </a:avLst>
          </a:prstGeom>
          <a:solidFill>
            <a:srgbClr val="1C2A5E"/>
          </a:solidFill>
          <a:ln>
            <a:noFill/>
          </a:ln>
        </p:spPr>
        <p:txBody>
          <a:bodyPr wrap="square" lIns="91440" tIns="45720" rIns="91440" bIns="45720" anchor="ctr">
            <a:normAutofit/>
          </a:bodyPr>
          <a:lstStyle/>
          <a:p>
            <a:pPr algn="l">
              <a:buNone/>
            </a:pPr>
            <a:r>
              <a:rPr lang="fr-FR" sz="1400" b="1" i="0">
                <a:solidFill>
                  <a:srgbClr val="FFFFFF"/>
                </a:solidFill>
                <a:latin typeface="Arial"/>
              </a:rPr>
              <a:t>S6</a:t>
            </a:r>
          </a:p>
        </p:txBody>
      </p:sp>
      <p:sp>
        <p:nvSpPr>
          <p:cNvPr id="35" name="s35"/>
          <p:cNvSpPr/>
          <p:nvPr/>
        </p:nvSpPr>
        <p:spPr>
          <a:xfrm>
            <a:off x="6196000" y="4420000"/>
            <a:ext cx="2577960" cy="260000"/>
          </a:xfrm>
          <a:prstGeom prst="rect">
            <a:avLst/>
          </a:prstGeom>
          <a:solidFill>
            <a:srgbClr val="1C2A5E"/>
          </a:solidFill>
          <a:ln>
            <a:noFill/>
          </a:ln>
        </p:spPr>
        <p:txBody>
          <a:bodyPr wrap="square" lIns="91440" tIns="45720" rIns="91440" bIns="45720" anchor="t">
            <a:normAutofit/>
          </a:bodyPr>
          <a:lstStyle/>
          <a:p>
            <a:pPr algn="l">
              <a:buNone/>
            </a:pPr>
            <a:r>
              <a:rPr lang="fr-FR" sz="100" b="0" i="0">
                <a:solidFill>
                  <a:srgbClr val="FFFFFF"/>
                </a:solidFill>
                <a:latin typeface="Arial"/>
              </a:rPr>
              <a:t/>
            </a:r>
          </a:p>
        </p:txBody>
      </p:sp>
      <p:sp>
        <p:nvSpPr>
          <p:cNvPr id="36" name="s36"/>
          <p:cNvSpPr/>
          <p:nvPr/>
        </p:nvSpPr>
        <p:spPr>
          <a:xfrm>
            <a:off x="6196000" y="4760000"/>
            <a:ext cx="2577960" cy="920000"/>
          </a:xfrm>
          <a:prstGeom prst="rect">
            <a:avLst/>
          </a:prstGeom>
          <a:noFill/>
          <a:ln>
            <a:noFill/>
          </a:ln>
        </p:spPr>
        <p:txBody>
          <a:bodyPr wrap="square" lIns="140000" tIns="45720" rIns="140000" bIns="45720" anchor="t">
            <a:normAutofit/>
          </a:bodyPr>
          <a:lstStyle/>
          <a:p>
            <a:pPr algn="l">
              <a:buNone/>
            </a:pPr>
            <a:r>
              <a:rPr lang="fr-FR" sz="1200" b="0" i="0">
                <a:solidFill>
                  <a:srgbClr val="44495A"/>
                </a:solidFill>
                <a:latin typeface="Arial"/>
              </a:rPr>
              <a:t>• Sécurité (2FA)</a:t>
            </a:r>
          </a:p>
          <a:p>
            <a:pPr algn="l">
              <a:spcBef>
                <a:spcPts val="600"/>
              </a:spcBef>
              <a:buNone/>
            </a:pPr>
            <a:r>
              <a:rPr lang="fr-FR" sz="1200" b="0" i="0">
                <a:solidFill>
                  <a:srgbClr val="44495A"/>
                </a:solidFill>
                <a:latin typeface="Arial"/>
              </a:rPr>
              <a:t>• 3 sem.</a:t>
            </a:r>
          </a:p>
        </p:txBody>
      </p:sp>
      <p:sp>
        <p:nvSpPr>
          <p:cNvPr id="37" name="s37"/>
          <p:cNvSpPr/>
          <p:nvPr/>
        </p:nvSpPr>
        <p:spPr>
          <a:xfrm>
            <a:off x="8973960" y="4120000"/>
            <a:ext cx="2577960" cy="160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8DEE9"/>
            </a:solidFill>
          </a:ln>
          <a:effectLst>
            <a:outerShdw blurRad="90000" dist="38100" dir="5400000" rotWithShape="0">
              <a:srgbClr val="1C2A5E">
                <a:alpha val="1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38" name="s38"/>
          <p:cNvSpPr/>
          <p:nvPr/>
        </p:nvSpPr>
        <p:spPr>
          <a:xfrm>
            <a:off x="8973960" y="4120000"/>
            <a:ext cx="2577960" cy="560000"/>
          </a:xfrm>
          <a:prstGeom prst="roundRect">
            <a:avLst>
              <a:gd name="adj" fmla="val 6000"/>
            </a:avLst>
          </a:prstGeom>
          <a:solidFill>
            <a:srgbClr val="1C2A5E"/>
          </a:solidFill>
          <a:ln>
            <a:noFill/>
          </a:ln>
        </p:spPr>
        <p:txBody>
          <a:bodyPr wrap="square" lIns="91440" tIns="45720" rIns="91440" bIns="45720" anchor="ctr">
            <a:normAutofit/>
          </a:bodyPr>
          <a:lstStyle/>
          <a:p>
            <a:pPr algn="l">
              <a:buNone/>
            </a:pPr>
            <a:r>
              <a:rPr lang="fr-FR" sz="1400" b="1" i="0">
                <a:solidFill>
                  <a:srgbClr val="FFFFFF"/>
                </a:solidFill>
                <a:latin typeface="Arial"/>
              </a:rPr>
              <a:t>S7</a:t>
            </a:r>
          </a:p>
        </p:txBody>
      </p:sp>
      <p:sp>
        <p:nvSpPr>
          <p:cNvPr id="39" name="s39"/>
          <p:cNvSpPr/>
          <p:nvPr/>
        </p:nvSpPr>
        <p:spPr>
          <a:xfrm>
            <a:off x="8973960" y="4420000"/>
            <a:ext cx="2577960" cy="260000"/>
          </a:xfrm>
          <a:prstGeom prst="rect">
            <a:avLst/>
          </a:prstGeom>
          <a:solidFill>
            <a:srgbClr val="1C2A5E"/>
          </a:solidFill>
          <a:ln>
            <a:noFill/>
          </a:ln>
        </p:spPr>
        <p:txBody>
          <a:bodyPr wrap="square" lIns="91440" tIns="45720" rIns="91440" bIns="45720" anchor="t">
            <a:normAutofit/>
          </a:bodyPr>
          <a:lstStyle/>
          <a:p>
            <a:pPr algn="l">
              <a:buNone/>
            </a:pPr>
            <a:r>
              <a:rPr lang="fr-FR" sz="100" b="0" i="0">
                <a:solidFill>
                  <a:srgbClr val="FFFFFF"/>
                </a:solidFill>
                <a:latin typeface="Arial"/>
              </a:rPr>
              <a:t/>
            </a:r>
          </a:p>
        </p:txBody>
      </p:sp>
      <p:sp>
        <p:nvSpPr>
          <p:cNvPr id="40" name="s40"/>
          <p:cNvSpPr/>
          <p:nvPr/>
        </p:nvSpPr>
        <p:spPr>
          <a:xfrm>
            <a:off x="8973960" y="4760000"/>
            <a:ext cx="2577960" cy="920000"/>
          </a:xfrm>
          <a:prstGeom prst="rect">
            <a:avLst/>
          </a:prstGeom>
          <a:noFill/>
          <a:ln>
            <a:noFill/>
          </a:ln>
        </p:spPr>
        <p:txBody>
          <a:bodyPr wrap="square" lIns="140000" tIns="45720" rIns="140000" bIns="45720" anchor="t">
            <a:normAutofit/>
          </a:bodyPr>
          <a:lstStyle/>
          <a:p>
            <a:pPr algn="l">
              <a:buNone/>
            </a:pPr>
            <a:r>
              <a:rPr lang="fr-FR" sz="1200" b="0" i="0">
                <a:solidFill>
                  <a:srgbClr val="44495A"/>
                </a:solidFill>
                <a:latin typeface="Arial"/>
              </a:rPr>
              <a:t>• Notifs &amp; frais</a:t>
            </a:r>
          </a:p>
          <a:p>
            <a:pPr algn="l">
              <a:spcBef>
                <a:spcPts val="600"/>
              </a:spcBef>
              <a:buNone/>
            </a:pPr>
            <a:r>
              <a:rPr lang="fr-FR" sz="1200" b="0" i="0">
                <a:solidFill>
                  <a:srgbClr val="44495A"/>
                </a:solidFill>
                <a:latin typeface="Arial"/>
              </a:rPr>
              <a:t>• 2 sem.</a:t>
            </a:r>
          </a:p>
        </p:txBody>
      </p:sp>
      <p:sp>
        <p:nvSpPr>
          <p:cNvPr id="41" name="s41"/>
          <p:cNvSpPr/>
          <p:nvPr/>
        </p:nvSpPr>
        <p:spPr>
          <a:xfrm>
            <a:off x="640080" y="5980000"/>
            <a:ext cx="4000000" cy="34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>
            <a:normAutofit/>
          </a:bodyPr>
          <a:lstStyle/>
          <a:p>
            <a:pPr algn="l">
              <a:buNone/>
            </a:pPr>
            <a:r>
              <a:rPr lang="fr-FR" sz="1200" b="1" i="0">
                <a:solidFill>
                  <a:srgbClr val="1C2A5E"/>
                </a:solidFill>
                <a:latin typeface="Arial"/>
              </a:rPr>
              <a:t>Février → Juillet 2026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A"/>
        </a:solidFill>
        <a:effectLst/>
      </p:bgPr>
    </p:bg>
    <p:spTree>
      <p:sp>
        <p:nvSpPr>
          <p:cNvPr id="2" name="s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txBody>
          <a:bodyPr/>
          <a:lstStyle/>
          <a:p>
            <a:endParaRPr lang="fr-FR"/>
          </a:p>
        </p:txBody>
      </p:sp>
      <p:sp>
        <p:nvSpPr>
          <p:cNvPr id="3" name="s3"/>
          <p:cNvSpPr/>
          <p:nvPr/>
        </p:nvSpPr>
        <p:spPr>
          <a:xfrm>
            <a:off x="640080" y="470000"/>
            <a:ext cx="10911840" cy="30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>
            <a:normAutofit/>
          </a:bodyPr>
          <a:lstStyle/>
          <a:p>
            <a:pPr algn="l">
              <a:buNone/>
            </a:pPr>
            <a:r>
              <a:rPr lang="fr-FR" sz="1200" b="1" i="0">
                <a:solidFill>
                  <a:srgbClr val="9A7B12"/>
                </a:solidFill>
                <a:latin typeface="Arial"/>
              </a:rPr>
              <a:t>06 · MÉTHODOLOGIE DE TRAVAIL</a:t>
            </a:r>
          </a:p>
        </p:txBody>
      </p:sp>
      <p:sp>
        <p:nvSpPr>
          <p:cNvPr id="4" name="s4"/>
          <p:cNvSpPr/>
          <p:nvPr/>
        </p:nvSpPr>
        <p:spPr>
          <a:xfrm>
            <a:off x="630080" y="720000"/>
            <a:ext cx="10911840" cy="90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>
            <a:normAutofit/>
          </a:bodyPr>
          <a:lstStyle/>
          <a:p>
            <a:pPr algn="l">
              <a:buNone/>
            </a:pPr>
            <a:r>
              <a:rPr lang="fr-FR" sz="3200" b="1" i="0">
                <a:solidFill>
                  <a:srgbClr val="1C2A5E"/>
                </a:solidFill>
                <a:latin typeface="Arial"/>
              </a:rPr>
              <a:t>Pourquoi la méthode agile ?</a:t>
            </a:r>
          </a:p>
        </p:txBody>
      </p:sp>
      <p:sp>
        <p:nvSpPr>
          <p:cNvPr id="5" name="s5"/>
          <p:cNvSpPr/>
          <p:nvPr/>
        </p:nvSpPr>
        <p:spPr>
          <a:xfrm>
            <a:off x="640080" y="1640000"/>
            <a:ext cx="1500000" cy="90000"/>
          </a:xfrm>
          <a:prstGeom prst="rect">
            <a:avLst/>
          </a:prstGeom>
          <a:solidFill>
            <a:srgbClr val="F4C400"/>
          </a:solidFill>
          <a:ln>
            <a:noFill/>
          </a:ln>
        </p:spPr>
        <p:txBody>
          <a:bodyPr/>
          <a:lstStyle/>
          <a:p>
            <a:endParaRPr lang="fr-FR"/>
          </a:p>
        </p:txBody>
      </p:sp>
      <p:sp>
        <p:nvSpPr>
          <p:cNvPr id="6" name="s6"/>
          <p:cNvSpPr/>
          <p:nvPr/>
        </p:nvSpPr>
        <p:spPr>
          <a:xfrm>
            <a:off x="640080" y="6380000"/>
            <a:ext cx="8000000" cy="30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rmAutofit/>
          </a:bodyPr>
          <a:lstStyle/>
          <a:p>
            <a:pPr algn="l">
              <a:buNone/>
            </a:pPr>
            <a:r>
              <a:rPr lang="fr-FR" sz="1000" b="0" i="0">
                <a:solidFill>
                  <a:srgbClr val="8A90A0"/>
                </a:solidFill>
                <a:latin typeface="Arial"/>
              </a:rPr>
              <a:t>e-Boutique — La Poste Tunisienne</a:t>
            </a:r>
          </a:p>
        </p:txBody>
      </p:sp>
      <p:sp>
        <p:nvSpPr>
          <p:cNvPr id="7" name="s7"/>
          <p:cNvSpPr/>
          <p:nvPr/>
        </p:nvSpPr>
        <p:spPr>
          <a:xfrm>
            <a:off x="10992000" y="6360000"/>
            <a:ext cx="560000" cy="340000"/>
          </a:xfrm>
          <a:prstGeom prst="roundRect">
            <a:avLst>
              <a:gd name="adj" fmla="val 25000"/>
            </a:avLst>
          </a:prstGeom>
          <a:solidFill>
            <a:srgbClr val="1C2A5E"/>
          </a:solidFill>
          <a:ln>
            <a:noFill/>
          </a:ln>
        </p:spPr>
        <p:txBody>
          <a:bodyPr wrap="square" lIns="91440" tIns="0" rIns="91440" bIns="0" anchor="ctr">
            <a:normAutofit/>
          </a:bodyPr>
          <a:lstStyle/>
          <a:p>
            <a:pPr algn="ctr">
              <a:buNone/>
            </a:pPr>
            <a:r>
              <a:rPr lang="fr-FR" sz="1100" b="1" i="0">
                <a:solidFill>
                  <a:srgbClr val="FFFFFF"/>
                </a:solidFill>
                <a:latin typeface="Arial"/>
              </a:rPr>
              <a:t>9</a:t>
            </a:r>
          </a:p>
        </p:txBody>
      </p:sp>
      <p:sp>
        <p:nvSpPr>
          <p:cNvPr id="8" name="s8"/>
          <p:cNvSpPr/>
          <p:nvPr/>
        </p:nvSpPr>
        <p:spPr>
          <a:xfrm>
            <a:off x="640080" y="2050000"/>
            <a:ext cx="5335920" cy="183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8DEE9"/>
            </a:solidFill>
          </a:ln>
          <a:effectLst>
            <a:outerShdw blurRad="90000" dist="38100" dir="5400000" rotWithShape="0">
              <a:srgbClr val="1C2A5E">
                <a:alpha val="1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9" name="s9"/>
          <p:cNvSpPr/>
          <p:nvPr/>
        </p:nvSpPr>
        <p:spPr>
          <a:xfrm>
            <a:off x="640080" y="2050000"/>
            <a:ext cx="5335920" cy="560000"/>
          </a:xfrm>
          <a:prstGeom prst="roundRect">
            <a:avLst>
              <a:gd name="adj" fmla="val 6000"/>
            </a:avLst>
          </a:prstGeom>
          <a:solidFill>
            <a:srgbClr val="1C2A5E"/>
          </a:solidFill>
          <a:ln>
            <a:noFill/>
          </a:ln>
        </p:spPr>
        <p:txBody>
          <a:bodyPr wrap="square" lIns="91440" tIns="45720" rIns="91440" bIns="45720" anchor="ctr">
            <a:normAutofit/>
          </a:bodyPr>
          <a:lstStyle/>
          <a:p>
            <a:pPr algn="l">
              <a:buNone/>
            </a:pPr>
            <a:r>
              <a:rPr lang="fr-FR" sz="1400" b="1" i="0">
                <a:solidFill>
                  <a:srgbClr val="FFFFFF"/>
                </a:solidFill>
                <a:latin typeface="Arial"/>
              </a:rPr>
              <a:t>1 · Flexibilité</a:t>
            </a:r>
          </a:p>
        </p:txBody>
      </p:sp>
      <p:sp>
        <p:nvSpPr>
          <p:cNvPr id="10" name="s10"/>
          <p:cNvSpPr/>
          <p:nvPr/>
        </p:nvSpPr>
        <p:spPr>
          <a:xfrm>
            <a:off x="640080" y="2350000"/>
            <a:ext cx="5335920" cy="260000"/>
          </a:xfrm>
          <a:prstGeom prst="rect">
            <a:avLst/>
          </a:prstGeom>
          <a:solidFill>
            <a:srgbClr val="1C2A5E"/>
          </a:solidFill>
          <a:ln>
            <a:noFill/>
          </a:ln>
        </p:spPr>
        <p:txBody>
          <a:bodyPr wrap="square" lIns="91440" tIns="45720" rIns="91440" bIns="45720" anchor="t">
            <a:normAutofit/>
          </a:bodyPr>
          <a:lstStyle/>
          <a:p>
            <a:pPr algn="l">
              <a:buNone/>
            </a:pPr>
            <a:r>
              <a:rPr lang="fr-FR" sz="100" b="0" i="0">
                <a:solidFill>
                  <a:srgbClr val="FFFFFF"/>
                </a:solidFill>
                <a:latin typeface="Arial"/>
              </a:rPr>
              <a:t/>
            </a:r>
          </a:p>
        </p:txBody>
      </p:sp>
      <p:sp>
        <p:nvSpPr>
          <p:cNvPr id="11" name="s11"/>
          <p:cNvSpPr/>
          <p:nvPr/>
        </p:nvSpPr>
        <p:spPr>
          <a:xfrm>
            <a:off x="640080" y="2690000"/>
            <a:ext cx="5335920" cy="1150000"/>
          </a:xfrm>
          <a:prstGeom prst="rect">
            <a:avLst/>
          </a:prstGeom>
          <a:noFill/>
          <a:ln>
            <a:noFill/>
          </a:ln>
        </p:spPr>
        <p:txBody>
          <a:bodyPr wrap="square" lIns="140000" tIns="45720" rIns="140000" bIns="45720" anchor="t">
            <a:normAutofit/>
          </a:bodyPr>
          <a:lstStyle/>
          <a:p>
            <a:pPr algn="l">
              <a:buNone/>
            </a:pPr>
            <a:r>
              <a:rPr lang="fr-FR" sz="1200" b="0" i="0">
                <a:solidFill>
                  <a:srgbClr val="44495A"/>
                </a:solidFill>
                <a:latin typeface="Arial"/>
              </a:rPr>
              <a:t>• Adapter les besoins et intégrer de nouvelles fonctionnalités en cours de route.</a:t>
            </a:r>
          </a:p>
        </p:txBody>
      </p:sp>
      <p:sp>
        <p:nvSpPr>
          <p:cNvPr id="12" name="s12"/>
          <p:cNvSpPr/>
          <p:nvPr/>
        </p:nvSpPr>
        <p:spPr>
          <a:xfrm>
            <a:off x="6216000" y="2050000"/>
            <a:ext cx="5335920" cy="183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8DEE9"/>
            </a:solidFill>
          </a:ln>
          <a:effectLst>
            <a:outerShdw blurRad="90000" dist="38100" dir="5400000" rotWithShape="0">
              <a:srgbClr val="1C2A5E">
                <a:alpha val="1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3" name="s13"/>
          <p:cNvSpPr/>
          <p:nvPr/>
        </p:nvSpPr>
        <p:spPr>
          <a:xfrm>
            <a:off x="6216000" y="2050000"/>
            <a:ext cx="5335920" cy="560000"/>
          </a:xfrm>
          <a:prstGeom prst="roundRect">
            <a:avLst>
              <a:gd name="adj" fmla="val 6000"/>
            </a:avLst>
          </a:prstGeom>
          <a:solidFill>
            <a:srgbClr val="1C2A5E"/>
          </a:solidFill>
          <a:ln>
            <a:noFill/>
          </a:ln>
        </p:spPr>
        <p:txBody>
          <a:bodyPr wrap="square" lIns="91440" tIns="45720" rIns="91440" bIns="45720" anchor="ctr">
            <a:normAutofit/>
          </a:bodyPr>
          <a:lstStyle/>
          <a:p>
            <a:pPr algn="l">
              <a:buNone/>
            </a:pPr>
            <a:r>
              <a:rPr lang="fr-FR" sz="1400" b="1" i="0">
                <a:solidFill>
                  <a:srgbClr val="FFFFFF"/>
                </a:solidFill>
                <a:latin typeface="Arial"/>
              </a:rPr>
              <a:t>2 · Livraisons régulières</a:t>
            </a:r>
          </a:p>
        </p:txBody>
      </p:sp>
      <p:sp>
        <p:nvSpPr>
          <p:cNvPr id="14" name="s14"/>
          <p:cNvSpPr/>
          <p:nvPr/>
        </p:nvSpPr>
        <p:spPr>
          <a:xfrm>
            <a:off x="6216000" y="2350000"/>
            <a:ext cx="5335920" cy="260000"/>
          </a:xfrm>
          <a:prstGeom prst="rect">
            <a:avLst/>
          </a:prstGeom>
          <a:solidFill>
            <a:srgbClr val="1C2A5E"/>
          </a:solidFill>
          <a:ln>
            <a:noFill/>
          </a:ln>
        </p:spPr>
        <p:txBody>
          <a:bodyPr wrap="square" lIns="91440" tIns="45720" rIns="91440" bIns="45720" anchor="t">
            <a:normAutofit/>
          </a:bodyPr>
          <a:lstStyle/>
          <a:p>
            <a:pPr algn="l">
              <a:buNone/>
            </a:pPr>
            <a:r>
              <a:rPr lang="fr-FR" sz="100" b="0" i="0">
                <a:solidFill>
                  <a:srgbClr val="FFFFFF"/>
                </a:solidFill>
                <a:latin typeface="Arial"/>
              </a:rPr>
              <a:t/>
            </a:r>
          </a:p>
        </p:txBody>
      </p:sp>
      <p:sp>
        <p:nvSpPr>
          <p:cNvPr id="15" name="s15"/>
          <p:cNvSpPr/>
          <p:nvPr/>
        </p:nvSpPr>
        <p:spPr>
          <a:xfrm>
            <a:off x="6216000" y="2690000"/>
            <a:ext cx="5335920" cy="1150000"/>
          </a:xfrm>
          <a:prstGeom prst="rect">
            <a:avLst/>
          </a:prstGeom>
          <a:noFill/>
          <a:ln>
            <a:noFill/>
          </a:ln>
        </p:spPr>
        <p:txBody>
          <a:bodyPr wrap="square" lIns="140000" tIns="45720" rIns="140000" bIns="45720" anchor="t">
            <a:normAutofit/>
          </a:bodyPr>
          <a:lstStyle/>
          <a:p>
            <a:pPr algn="l">
              <a:buNone/>
            </a:pPr>
            <a:r>
              <a:rPr lang="fr-FR" sz="1200" b="0" i="0">
                <a:solidFill>
                  <a:srgbClr val="44495A"/>
                </a:solidFill>
                <a:latin typeface="Arial"/>
              </a:rPr>
              <a:t>• Une version fonctionnelle et testable à la fin de chaque sprint.</a:t>
            </a:r>
          </a:p>
        </p:txBody>
      </p:sp>
      <p:sp>
        <p:nvSpPr>
          <p:cNvPr id="16" name="s16"/>
          <p:cNvSpPr/>
          <p:nvPr/>
        </p:nvSpPr>
        <p:spPr>
          <a:xfrm>
            <a:off x="640080" y="4120000"/>
            <a:ext cx="5335920" cy="183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8DEE9"/>
            </a:solidFill>
          </a:ln>
          <a:effectLst>
            <a:outerShdw blurRad="90000" dist="38100" dir="5400000" rotWithShape="0">
              <a:srgbClr val="1C2A5E">
                <a:alpha val="1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7" name="s17"/>
          <p:cNvSpPr/>
          <p:nvPr/>
        </p:nvSpPr>
        <p:spPr>
          <a:xfrm>
            <a:off x="640080" y="4120000"/>
            <a:ext cx="5335920" cy="560000"/>
          </a:xfrm>
          <a:prstGeom prst="roundRect">
            <a:avLst>
              <a:gd name="adj" fmla="val 6000"/>
            </a:avLst>
          </a:prstGeom>
          <a:solidFill>
            <a:srgbClr val="1C2A5E"/>
          </a:solidFill>
          <a:ln>
            <a:noFill/>
          </a:ln>
        </p:spPr>
        <p:txBody>
          <a:bodyPr wrap="square" lIns="91440" tIns="45720" rIns="91440" bIns="45720" anchor="ctr">
            <a:normAutofit/>
          </a:bodyPr>
          <a:lstStyle/>
          <a:p>
            <a:pPr algn="l">
              <a:buNone/>
            </a:pPr>
            <a:r>
              <a:rPr lang="fr-FR" sz="1400" b="1" i="0">
                <a:solidFill>
                  <a:srgbClr val="FFFFFF"/>
                </a:solidFill>
                <a:latin typeface="Arial"/>
              </a:rPr>
              <a:t>3 · Suivi continu</a:t>
            </a:r>
          </a:p>
        </p:txBody>
      </p:sp>
      <p:sp>
        <p:nvSpPr>
          <p:cNvPr id="18" name="s18"/>
          <p:cNvSpPr/>
          <p:nvPr/>
        </p:nvSpPr>
        <p:spPr>
          <a:xfrm>
            <a:off x="640080" y="4420000"/>
            <a:ext cx="5335920" cy="260000"/>
          </a:xfrm>
          <a:prstGeom prst="rect">
            <a:avLst/>
          </a:prstGeom>
          <a:solidFill>
            <a:srgbClr val="1C2A5E"/>
          </a:solidFill>
          <a:ln>
            <a:noFill/>
          </a:ln>
        </p:spPr>
        <p:txBody>
          <a:bodyPr wrap="square" lIns="91440" tIns="45720" rIns="91440" bIns="45720" anchor="t">
            <a:normAutofit/>
          </a:bodyPr>
          <a:lstStyle/>
          <a:p>
            <a:pPr algn="l">
              <a:buNone/>
            </a:pPr>
            <a:r>
              <a:rPr lang="fr-FR" sz="100" b="0" i="0">
                <a:solidFill>
                  <a:srgbClr val="FFFFFF"/>
                </a:solidFill>
                <a:latin typeface="Arial"/>
              </a:rPr>
              <a:t/>
            </a:r>
          </a:p>
        </p:txBody>
      </p:sp>
      <p:sp>
        <p:nvSpPr>
          <p:cNvPr id="19" name="s19"/>
          <p:cNvSpPr/>
          <p:nvPr/>
        </p:nvSpPr>
        <p:spPr>
          <a:xfrm>
            <a:off x="640080" y="4760000"/>
            <a:ext cx="5335920" cy="1150000"/>
          </a:xfrm>
          <a:prstGeom prst="rect">
            <a:avLst/>
          </a:prstGeom>
          <a:noFill/>
          <a:ln>
            <a:noFill/>
          </a:ln>
        </p:spPr>
        <p:txBody>
          <a:bodyPr wrap="square" lIns="140000" tIns="45720" rIns="140000" bIns="45720" anchor="t">
            <a:normAutofit/>
          </a:bodyPr>
          <a:lstStyle/>
          <a:p>
            <a:pPr algn="l">
              <a:buNone/>
            </a:pPr>
            <a:r>
              <a:rPr lang="fr-FR" sz="1200" b="0" i="0">
                <a:solidFill>
                  <a:srgbClr val="44495A"/>
                </a:solidFill>
                <a:latin typeface="Arial"/>
              </a:rPr>
              <a:t>• Progression visible et validée régulièrement avec l'encadrant.</a:t>
            </a:r>
          </a:p>
        </p:txBody>
      </p:sp>
      <p:sp>
        <p:nvSpPr>
          <p:cNvPr id="20" name="s20"/>
          <p:cNvSpPr/>
          <p:nvPr/>
        </p:nvSpPr>
        <p:spPr>
          <a:xfrm>
            <a:off x="6216000" y="4120000"/>
            <a:ext cx="5335920" cy="183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8DEE9"/>
            </a:solidFill>
          </a:ln>
          <a:effectLst>
            <a:outerShdw blurRad="90000" dist="38100" dir="5400000" rotWithShape="0">
              <a:srgbClr val="1C2A5E">
                <a:alpha val="1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1" name="s21"/>
          <p:cNvSpPr/>
          <p:nvPr/>
        </p:nvSpPr>
        <p:spPr>
          <a:xfrm>
            <a:off x="6216000" y="4120000"/>
            <a:ext cx="5335920" cy="560000"/>
          </a:xfrm>
          <a:prstGeom prst="roundRect">
            <a:avLst>
              <a:gd name="adj" fmla="val 6000"/>
            </a:avLst>
          </a:prstGeom>
          <a:solidFill>
            <a:srgbClr val="1C2A5E"/>
          </a:solidFill>
          <a:ln>
            <a:noFill/>
          </a:ln>
        </p:spPr>
        <p:txBody>
          <a:bodyPr wrap="square" lIns="91440" tIns="45720" rIns="91440" bIns="45720" anchor="ctr">
            <a:normAutofit/>
          </a:bodyPr>
          <a:lstStyle/>
          <a:p>
            <a:pPr algn="l">
              <a:buNone/>
            </a:pPr>
            <a:r>
              <a:rPr lang="fr-FR" sz="1400" b="1" i="0">
                <a:solidFill>
                  <a:srgbClr val="FFFFFF"/>
                </a:solidFill>
                <a:latin typeface="Arial"/>
              </a:rPr>
              <a:t>4 · Adapté au PFE</a:t>
            </a:r>
          </a:p>
        </p:txBody>
      </p:sp>
      <p:sp>
        <p:nvSpPr>
          <p:cNvPr id="22" name="s22"/>
          <p:cNvSpPr/>
          <p:nvPr/>
        </p:nvSpPr>
        <p:spPr>
          <a:xfrm>
            <a:off x="6216000" y="4420000"/>
            <a:ext cx="5335920" cy="260000"/>
          </a:xfrm>
          <a:prstGeom prst="rect">
            <a:avLst/>
          </a:prstGeom>
          <a:solidFill>
            <a:srgbClr val="1C2A5E"/>
          </a:solidFill>
          <a:ln>
            <a:noFill/>
          </a:ln>
        </p:spPr>
        <p:txBody>
          <a:bodyPr wrap="square" lIns="91440" tIns="45720" rIns="91440" bIns="45720" anchor="t">
            <a:normAutofit/>
          </a:bodyPr>
          <a:lstStyle/>
          <a:p>
            <a:pPr algn="l">
              <a:buNone/>
            </a:pPr>
            <a:r>
              <a:rPr lang="fr-FR" sz="100" b="0" i="0">
                <a:solidFill>
                  <a:srgbClr val="FFFFFF"/>
                </a:solidFill>
                <a:latin typeface="Arial"/>
              </a:rPr>
              <a:t/>
            </a:r>
          </a:p>
        </p:txBody>
      </p:sp>
      <p:sp>
        <p:nvSpPr>
          <p:cNvPr id="23" name="s23"/>
          <p:cNvSpPr/>
          <p:nvPr/>
        </p:nvSpPr>
        <p:spPr>
          <a:xfrm>
            <a:off x="6216000" y="4760000"/>
            <a:ext cx="5335920" cy="1150000"/>
          </a:xfrm>
          <a:prstGeom prst="rect">
            <a:avLst/>
          </a:prstGeom>
          <a:noFill/>
          <a:ln>
            <a:noFill/>
          </a:ln>
        </p:spPr>
        <p:txBody>
          <a:bodyPr wrap="square" lIns="140000" tIns="45720" rIns="140000" bIns="45720" anchor="t">
            <a:normAutofit/>
          </a:bodyPr>
          <a:lstStyle/>
          <a:p>
            <a:pPr algn="l">
              <a:buNone/>
            </a:pPr>
            <a:r>
              <a:rPr lang="fr-FR" sz="1200" b="0" i="0">
                <a:solidFill>
                  <a:srgbClr val="44495A"/>
                </a:solidFill>
                <a:latin typeface="Arial"/>
              </a:rPr>
              <a:t>• Projet évolutif, mené progressivement, sans tout planifier au départ.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A"/>
        </a:solidFill>
        <a:effectLst/>
      </p:bgPr>
    </p:bg>
    <p:spTree>
      <p:sp>
        <p:nvSpPr>
          <p:cNvPr id="2" name="s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txBody>
          <a:bodyPr/>
          <a:lstStyle/>
          <a:p>
            <a:endParaRPr lang="fr-FR"/>
          </a:p>
        </p:txBody>
      </p:sp>
      <p:sp>
        <p:nvSpPr>
          <p:cNvPr id="3" name="s3"/>
          <p:cNvSpPr/>
          <p:nvPr/>
        </p:nvSpPr>
        <p:spPr>
          <a:xfrm>
            <a:off x="640080" y="470000"/>
            <a:ext cx="10911840" cy="30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>
            <a:normAutofit/>
          </a:bodyPr>
          <a:lstStyle/>
          <a:p>
            <a:pPr algn="l">
              <a:buNone/>
            </a:pPr>
            <a:r>
              <a:rPr lang="fr-FR" sz="1200" b="1" i="0">
                <a:solidFill>
                  <a:srgbClr val="9A7B12"/>
                </a:solidFill>
                <a:latin typeface="Arial"/>
              </a:rPr>
              <a:t>06 · MÉTHODOLOGIE DE TRAVAIL</a:t>
            </a:r>
          </a:p>
        </p:txBody>
      </p:sp>
      <p:sp>
        <p:nvSpPr>
          <p:cNvPr id="4" name="s4"/>
          <p:cNvSpPr/>
          <p:nvPr/>
        </p:nvSpPr>
        <p:spPr>
          <a:xfrm>
            <a:off x="630080" y="720000"/>
            <a:ext cx="10911840" cy="90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>
            <a:normAutofit/>
          </a:bodyPr>
          <a:lstStyle/>
          <a:p>
            <a:pPr algn="l">
              <a:buNone/>
            </a:pPr>
            <a:r>
              <a:rPr lang="fr-FR" sz="3200" b="1" i="0">
                <a:solidFill>
                  <a:srgbClr val="1C2A5E"/>
                </a:solidFill>
                <a:latin typeface="Arial"/>
              </a:rPr>
              <a:t>Comparaison des méthodes</a:t>
            </a:r>
          </a:p>
        </p:txBody>
      </p:sp>
      <p:sp>
        <p:nvSpPr>
          <p:cNvPr id="5" name="s5"/>
          <p:cNvSpPr/>
          <p:nvPr/>
        </p:nvSpPr>
        <p:spPr>
          <a:xfrm>
            <a:off x="640080" y="1640000"/>
            <a:ext cx="1500000" cy="90000"/>
          </a:xfrm>
          <a:prstGeom prst="rect">
            <a:avLst/>
          </a:prstGeom>
          <a:solidFill>
            <a:srgbClr val="F4C400"/>
          </a:solidFill>
          <a:ln>
            <a:noFill/>
          </a:ln>
        </p:spPr>
        <p:txBody>
          <a:bodyPr/>
          <a:lstStyle/>
          <a:p>
            <a:endParaRPr lang="fr-FR"/>
          </a:p>
        </p:txBody>
      </p:sp>
      <p:sp>
        <p:nvSpPr>
          <p:cNvPr id="6" name="s6"/>
          <p:cNvSpPr/>
          <p:nvPr/>
        </p:nvSpPr>
        <p:spPr>
          <a:xfrm>
            <a:off x="640080" y="6380000"/>
            <a:ext cx="8000000" cy="30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rmAutofit/>
          </a:bodyPr>
          <a:lstStyle/>
          <a:p>
            <a:pPr algn="l">
              <a:buNone/>
            </a:pPr>
            <a:r>
              <a:rPr lang="fr-FR" sz="1000" b="0" i="0">
                <a:solidFill>
                  <a:srgbClr val="8A90A0"/>
                </a:solidFill>
                <a:latin typeface="Arial"/>
              </a:rPr>
              <a:t>e-Boutique — La Poste Tunisienne</a:t>
            </a:r>
          </a:p>
        </p:txBody>
      </p:sp>
      <p:sp>
        <p:nvSpPr>
          <p:cNvPr id="7" name="s7"/>
          <p:cNvSpPr/>
          <p:nvPr/>
        </p:nvSpPr>
        <p:spPr>
          <a:xfrm>
            <a:off x="10992000" y="6360000"/>
            <a:ext cx="560000" cy="340000"/>
          </a:xfrm>
          <a:prstGeom prst="roundRect">
            <a:avLst>
              <a:gd name="adj" fmla="val 25000"/>
            </a:avLst>
          </a:prstGeom>
          <a:solidFill>
            <a:srgbClr val="1C2A5E"/>
          </a:solidFill>
          <a:ln>
            <a:noFill/>
          </a:ln>
        </p:spPr>
        <p:txBody>
          <a:bodyPr wrap="square" lIns="91440" tIns="0" rIns="91440" bIns="0" anchor="ctr">
            <a:normAutofit/>
          </a:bodyPr>
          <a:lstStyle/>
          <a:p>
            <a:pPr algn="ctr">
              <a:buNone/>
            </a:pPr>
            <a:r>
              <a:rPr lang="fr-FR" sz="1100" b="1" i="0">
                <a:solidFill>
                  <a:srgbClr val="FFFFFF"/>
                </a:solidFill>
                <a:latin typeface="Arial"/>
              </a:rPr>
              <a:t>10</a:t>
            </a:r>
          </a:p>
        </p:txBody>
      </p:sp>
      <p:sp>
        <p:nvSpPr>
          <p:cNvPr id="8" name="s8"/>
          <p:cNvSpPr/>
          <p:nvPr/>
        </p:nvSpPr>
        <p:spPr>
          <a:xfrm>
            <a:off x="640080" y="2050000"/>
            <a:ext cx="3477280" cy="390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8DEE9"/>
            </a:solidFill>
          </a:ln>
          <a:effectLst>
            <a:outerShdw blurRad="90000" dist="38100" dir="5400000" rotWithShape="0">
              <a:srgbClr val="1C2A5E">
                <a:alpha val="1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9" name="s9"/>
          <p:cNvSpPr/>
          <p:nvPr/>
        </p:nvSpPr>
        <p:spPr>
          <a:xfrm>
            <a:off x="640080" y="2050000"/>
            <a:ext cx="3477280" cy="560000"/>
          </a:xfrm>
          <a:prstGeom prst="roundRect">
            <a:avLst>
              <a:gd name="adj" fmla="val 6000"/>
            </a:avLst>
          </a:prstGeom>
          <a:solidFill>
            <a:srgbClr val="1C2A5E"/>
          </a:solidFill>
          <a:ln>
            <a:noFill/>
          </a:ln>
        </p:spPr>
        <p:txBody>
          <a:bodyPr wrap="square" lIns="91440" tIns="45720" rIns="91440" bIns="45720" anchor="ctr">
            <a:normAutofit/>
          </a:bodyPr>
          <a:lstStyle/>
          <a:p>
            <a:pPr algn="l">
              <a:buNone/>
            </a:pPr>
            <a:r>
              <a:rPr lang="fr-FR" sz="1400" b="1" i="0">
                <a:solidFill>
                  <a:srgbClr val="FFFFFF"/>
                </a:solidFill>
                <a:latin typeface="Arial"/>
              </a:rPr>
              <a:t>Cycle en V</a:t>
            </a:r>
          </a:p>
        </p:txBody>
      </p:sp>
      <p:sp>
        <p:nvSpPr>
          <p:cNvPr id="10" name="s10"/>
          <p:cNvSpPr/>
          <p:nvPr/>
        </p:nvSpPr>
        <p:spPr>
          <a:xfrm>
            <a:off x="640080" y="2350000"/>
            <a:ext cx="3477280" cy="260000"/>
          </a:xfrm>
          <a:prstGeom prst="rect">
            <a:avLst/>
          </a:prstGeom>
          <a:solidFill>
            <a:srgbClr val="1C2A5E"/>
          </a:solidFill>
          <a:ln>
            <a:noFill/>
          </a:ln>
        </p:spPr>
        <p:txBody>
          <a:bodyPr wrap="square" lIns="91440" tIns="45720" rIns="91440" bIns="45720" anchor="t">
            <a:normAutofit/>
          </a:bodyPr>
          <a:lstStyle/>
          <a:p>
            <a:pPr algn="l">
              <a:buNone/>
            </a:pPr>
            <a:r>
              <a:rPr lang="fr-FR" sz="100" b="0" i="0">
                <a:solidFill>
                  <a:srgbClr val="FFFFFF"/>
                </a:solidFill>
                <a:latin typeface="Arial"/>
              </a:rPr>
              <a:t/>
            </a:r>
          </a:p>
        </p:txBody>
      </p:sp>
      <p:sp>
        <p:nvSpPr>
          <p:cNvPr id="11" name="s11"/>
          <p:cNvSpPr/>
          <p:nvPr/>
        </p:nvSpPr>
        <p:spPr>
          <a:xfrm>
            <a:off x="640080" y="2690000"/>
            <a:ext cx="3477280" cy="3220000"/>
          </a:xfrm>
          <a:prstGeom prst="rect">
            <a:avLst/>
          </a:prstGeom>
          <a:noFill/>
          <a:ln>
            <a:noFill/>
          </a:ln>
        </p:spPr>
        <p:txBody>
          <a:bodyPr wrap="square" lIns="140000" tIns="45720" rIns="140000" bIns="45720" anchor="t">
            <a:normAutofit/>
          </a:bodyPr>
          <a:lstStyle/>
          <a:p>
            <a:pPr algn="l">
              <a:buNone/>
            </a:pPr>
            <a:r>
              <a:rPr lang="fr-FR" sz="1200" b="0" i="0">
                <a:solidFill>
                  <a:srgbClr val="44495A"/>
                </a:solidFill>
                <a:latin typeface="Arial"/>
              </a:rPr>
              <a:t>• Séquentiel et rigide</a:t>
            </a:r>
          </a:p>
          <a:p>
            <a:pPr algn="l">
              <a:spcBef>
                <a:spcPts val="600"/>
              </a:spcBef>
              <a:buNone/>
            </a:pPr>
            <a:r>
              <a:rPr lang="fr-FR" sz="1200" b="0" i="0">
                <a:solidFill>
                  <a:srgbClr val="44495A"/>
                </a:solidFill>
                <a:latin typeface="Arial"/>
              </a:rPr>
              <a:t>• Tout planifié au début</a:t>
            </a:r>
          </a:p>
          <a:p>
            <a:pPr algn="l">
              <a:spcBef>
                <a:spcPts val="600"/>
              </a:spcBef>
              <a:buNone/>
            </a:pPr>
            <a:r>
              <a:rPr lang="fr-FR" sz="1200" b="0" i="0">
                <a:solidFill>
                  <a:srgbClr val="44495A"/>
                </a:solidFill>
                <a:latin typeface="Arial"/>
              </a:rPr>
              <a:t>• Livraison à la fin</a:t>
            </a:r>
          </a:p>
          <a:p>
            <a:pPr algn="l">
              <a:spcBef>
                <a:spcPts val="600"/>
              </a:spcBef>
              <a:buNone/>
            </a:pPr>
            <a:r>
              <a:rPr lang="fr-FR" sz="1200" b="0" i="0">
                <a:solidFill>
                  <a:srgbClr val="44495A"/>
                </a:solidFill>
                <a:latin typeface="Arial"/>
              </a:rPr>
              <a:t>• Peu adapté aux changements</a:t>
            </a:r>
          </a:p>
        </p:txBody>
      </p:sp>
      <p:sp>
        <p:nvSpPr>
          <p:cNvPr id="12" name="s12"/>
          <p:cNvSpPr/>
          <p:nvPr/>
        </p:nvSpPr>
        <p:spPr>
          <a:xfrm>
            <a:off x="4357360" y="2050000"/>
            <a:ext cx="3477280" cy="390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8DEE9"/>
            </a:solidFill>
          </a:ln>
          <a:effectLst>
            <a:outerShdw blurRad="90000" dist="38100" dir="5400000" rotWithShape="0">
              <a:srgbClr val="1C2A5E">
                <a:alpha val="1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3" name="s13"/>
          <p:cNvSpPr/>
          <p:nvPr/>
        </p:nvSpPr>
        <p:spPr>
          <a:xfrm>
            <a:off x="4357360" y="2050000"/>
            <a:ext cx="3477280" cy="560000"/>
          </a:xfrm>
          <a:prstGeom prst="roundRect">
            <a:avLst>
              <a:gd name="adj" fmla="val 6000"/>
            </a:avLst>
          </a:prstGeom>
          <a:solidFill>
            <a:srgbClr val="1C2A5E"/>
          </a:solidFill>
          <a:ln>
            <a:noFill/>
          </a:ln>
        </p:spPr>
        <p:txBody>
          <a:bodyPr wrap="square" lIns="91440" tIns="45720" rIns="91440" bIns="45720" anchor="ctr">
            <a:normAutofit/>
          </a:bodyPr>
          <a:lstStyle/>
          <a:p>
            <a:pPr algn="l">
              <a:buNone/>
            </a:pPr>
            <a:r>
              <a:rPr lang="fr-FR" sz="1400" b="1" i="0">
                <a:solidFill>
                  <a:srgbClr val="FFFFFF"/>
                </a:solidFill>
                <a:latin typeface="Arial"/>
              </a:rPr>
              <a:t>Kanban</a:t>
            </a:r>
          </a:p>
        </p:txBody>
      </p:sp>
      <p:sp>
        <p:nvSpPr>
          <p:cNvPr id="14" name="s14"/>
          <p:cNvSpPr/>
          <p:nvPr/>
        </p:nvSpPr>
        <p:spPr>
          <a:xfrm>
            <a:off x="4357360" y="2350000"/>
            <a:ext cx="3477280" cy="260000"/>
          </a:xfrm>
          <a:prstGeom prst="rect">
            <a:avLst/>
          </a:prstGeom>
          <a:solidFill>
            <a:srgbClr val="1C2A5E"/>
          </a:solidFill>
          <a:ln>
            <a:noFill/>
          </a:ln>
        </p:spPr>
        <p:txBody>
          <a:bodyPr wrap="square" lIns="91440" tIns="45720" rIns="91440" bIns="45720" anchor="t">
            <a:normAutofit/>
          </a:bodyPr>
          <a:lstStyle/>
          <a:p>
            <a:pPr algn="l">
              <a:buNone/>
            </a:pPr>
            <a:r>
              <a:rPr lang="fr-FR" sz="100" b="0" i="0">
                <a:solidFill>
                  <a:srgbClr val="FFFFFF"/>
                </a:solidFill>
                <a:latin typeface="Arial"/>
              </a:rPr>
              <a:t/>
            </a:r>
          </a:p>
        </p:txBody>
      </p:sp>
      <p:sp>
        <p:nvSpPr>
          <p:cNvPr id="15" name="s15"/>
          <p:cNvSpPr/>
          <p:nvPr/>
        </p:nvSpPr>
        <p:spPr>
          <a:xfrm>
            <a:off x="4357360" y="2690000"/>
            <a:ext cx="3477280" cy="3220000"/>
          </a:xfrm>
          <a:prstGeom prst="rect">
            <a:avLst/>
          </a:prstGeom>
          <a:noFill/>
          <a:ln>
            <a:noFill/>
          </a:ln>
        </p:spPr>
        <p:txBody>
          <a:bodyPr wrap="square" lIns="140000" tIns="45720" rIns="140000" bIns="45720" anchor="t">
            <a:normAutofit/>
          </a:bodyPr>
          <a:lstStyle/>
          <a:p>
            <a:pPr algn="l">
              <a:buNone/>
            </a:pPr>
            <a:r>
              <a:rPr lang="fr-FR" sz="1200" b="0" i="0">
                <a:solidFill>
                  <a:srgbClr val="44495A"/>
                </a:solidFill>
                <a:latin typeface="Arial"/>
              </a:rPr>
              <a:t>• Flux continu de tâches</a:t>
            </a:r>
          </a:p>
          <a:p>
            <a:pPr algn="l">
              <a:spcBef>
                <a:spcPts val="600"/>
              </a:spcBef>
              <a:buNone/>
            </a:pPr>
            <a:r>
              <a:rPr lang="fr-FR" sz="1200" b="0" i="0">
                <a:solidFill>
                  <a:srgbClr val="44495A"/>
                </a:solidFill>
                <a:latin typeface="Arial"/>
              </a:rPr>
              <a:t>• Pas de sprints définis</a:t>
            </a:r>
          </a:p>
          <a:p>
            <a:pPr algn="l">
              <a:spcBef>
                <a:spcPts val="600"/>
              </a:spcBef>
              <a:buNone/>
            </a:pPr>
            <a:r>
              <a:rPr lang="fr-FR" sz="1200" b="0" i="0">
                <a:solidFill>
                  <a:srgbClr val="44495A"/>
                </a:solidFill>
                <a:latin typeface="Arial"/>
              </a:rPr>
              <a:t>• Idéal pour la maintenance</a:t>
            </a:r>
          </a:p>
          <a:p>
            <a:pPr algn="l">
              <a:spcBef>
                <a:spcPts val="600"/>
              </a:spcBef>
              <a:buNone/>
            </a:pPr>
            <a:r>
              <a:rPr lang="fr-FR" sz="1200" b="0" i="0">
                <a:solidFill>
                  <a:srgbClr val="44495A"/>
                </a:solidFill>
                <a:latin typeface="Arial"/>
              </a:rPr>
              <a:t>• Moins structuré pour un PFE</a:t>
            </a:r>
          </a:p>
        </p:txBody>
      </p:sp>
      <p:sp>
        <p:nvSpPr>
          <p:cNvPr id="16" name="s16"/>
          <p:cNvSpPr/>
          <p:nvPr/>
        </p:nvSpPr>
        <p:spPr>
          <a:xfrm>
            <a:off x="8074640" y="2050000"/>
            <a:ext cx="3477280" cy="390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8575">
            <a:solidFill>
              <a:srgbClr val="F4C400"/>
            </a:solidFill>
          </a:ln>
          <a:effectLst>
            <a:outerShdw blurRad="90000" dist="38100" dir="5400000" rotWithShape="0">
              <a:srgbClr val="1C2A5E">
                <a:alpha val="1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7" name="s17"/>
          <p:cNvSpPr/>
          <p:nvPr/>
        </p:nvSpPr>
        <p:spPr>
          <a:xfrm>
            <a:off x="8074640" y="2050000"/>
            <a:ext cx="3477280" cy="560000"/>
          </a:xfrm>
          <a:prstGeom prst="roundRect">
            <a:avLst>
              <a:gd name="adj" fmla="val 6000"/>
            </a:avLst>
          </a:prstGeom>
          <a:solidFill>
            <a:srgbClr val="F4C400"/>
          </a:solidFill>
          <a:ln>
            <a:noFill/>
          </a:ln>
        </p:spPr>
        <p:txBody>
          <a:bodyPr wrap="square" lIns="91440" tIns="45720" rIns="91440" bIns="45720" anchor="ctr">
            <a:normAutofit/>
          </a:bodyPr>
          <a:lstStyle/>
          <a:p>
            <a:pPr algn="l">
              <a:buNone/>
            </a:pPr>
            <a:r>
              <a:rPr lang="fr-FR" sz="1400" b="1" i="0">
                <a:solidFill>
                  <a:srgbClr val="1C2A5E"/>
                </a:solidFill>
                <a:latin typeface="Arial"/>
              </a:rPr>
              <a:t>Scrum (agile) — choix retenu</a:t>
            </a:r>
          </a:p>
        </p:txBody>
      </p:sp>
      <p:sp>
        <p:nvSpPr>
          <p:cNvPr id="18" name="s18"/>
          <p:cNvSpPr/>
          <p:nvPr/>
        </p:nvSpPr>
        <p:spPr>
          <a:xfrm>
            <a:off x="8074640" y="2350000"/>
            <a:ext cx="3477280" cy="260000"/>
          </a:xfrm>
          <a:prstGeom prst="rect">
            <a:avLst/>
          </a:prstGeom>
          <a:solidFill>
            <a:srgbClr val="F4C400"/>
          </a:solidFill>
          <a:ln>
            <a:noFill/>
          </a:ln>
        </p:spPr>
        <p:txBody>
          <a:bodyPr wrap="square" lIns="91440" tIns="45720" rIns="91440" bIns="45720" anchor="t">
            <a:normAutofit/>
          </a:bodyPr>
          <a:lstStyle/>
          <a:p>
            <a:pPr algn="l">
              <a:buNone/>
            </a:pPr>
            <a:r>
              <a:rPr lang="fr-FR" sz="100" b="0" i="0">
                <a:solidFill>
                  <a:srgbClr val="FFFFFF"/>
                </a:solidFill>
                <a:latin typeface="Arial"/>
              </a:rPr>
              <a:t/>
            </a:r>
          </a:p>
        </p:txBody>
      </p:sp>
      <p:sp>
        <p:nvSpPr>
          <p:cNvPr id="19" name="s19"/>
          <p:cNvSpPr/>
          <p:nvPr/>
        </p:nvSpPr>
        <p:spPr>
          <a:xfrm>
            <a:off x="8074640" y="2690000"/>
            <a:ext cx="3477280" cy="3220000"/>
          </a:xfrm>
          <a:prstGeom prst="rect">
            <a:avLst/>
          </a:prstGeom>
          <a:noFill/>
          <a:ln>
            <a:noFill/>
          </a:ln>
        </p:spPr>
        <p:txBody>
          <a:bodyPr wrap="square" lIns="140000" tIns="45720" rIns="140000" bIns="45720" anchor="t">
            <a:normAutofit/>
          </a:bodyPr>
          <a:lstStyle/>
          <a:p>
            <a:pPr algn="l">
              <a:buNone/>
            </a:pPr>
            <a:r>
              <a:rPr lang="fr-FR" sz="1200" b="0" i="0">
                <a:solidFill>
                  <a:srgbClr val="44495A"/>
                </a:solidFill>
                <a:latin typeface="Arial"/>
              </a:rPr>
              <a:t>• Itératif par sprints</a:t>
            </a:r>
          </a:p>
          <a:p>
            <a:pPr algn="l">
              <a:spcBef>
                <a:spcPts val="600"/>
              </a:spcBef>
              <a:buNone/>
            </a:pPr>
            <a:r>
              <a:rPr lang="fr-FR" sz="1200" b="0" i="0">
                <a:solidFill>
                  <a:srgbClr val="44495A"/>
                </a:solidFill>
                <a:latin typeface="Arial"/>
              </a:rPr>
              <a:t>• Livraisons régulières</a:t>
            </a:r>
          </a:p>
          <a:p>
            <a:pPr algn="l">
              <a:spcBef>
                <a:spcPts val="600"/>
              </a:spcBef>
              <a:buNone/>
            </a:pPr>
            <a:r>
              <a:rPr lang="fr-FR" sz="1200" b="0" i="0">
                <a:solidFill>
                  <a:srgbClr val="44495A"/>
                </a:solidFill>
                <a:latin typeface="Arial"/>
              </a:rPr>
              <a:t>• Flexible et structuré</a:t>
            </a:r>
          </a:p>
          <a:p>
            <a:pPr algn="l">
              <a:spcBef>
                <a:spcPts val="600"/>
              </a:spcBef>
              <a:buNone/>
            </a:pPr>
            <a:r>
              <a:rPr lang="fr-FR" sz="1200" b="0" i="0">
                <a:solidFill>
                  <a:srgbClr val="44495A"/>
                </a:solidFill>
                <a:latin typeface="Arial"/>
              </a:rPr>
              <a:t>• Adapté à un projet évolutif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A"/>
        </a:solidFill>
        <a:effectLst/>
      </p:bgPr>
    </p:bg>
    <p:spTree>
      <p:sp>
        <p:nvSpPr>
          <p:cNvPr id="2" name="s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txBody>
          <a:bodyPr/>
          <a:lstStyle/>
          <a:p>
            <a:endParaRPr lang="fr-FR"/>
          </a:p>
        </p:txBody>
      </p:sp>
      <p:sp>
        <p:nvSpPr>
          <p:cNvPr id="3" name="s3"/>
          <p:cNvSpPr/>
          <p:nvPr/>
        </p:nvSpPr>
        <p:spPr>
          <a:xfrm>
            <a:off x="640080" y="470000"/>
            <a:ext cx="10911840" cy="30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>
            <a:normAutofit/>
          </a:bodyPr>
          <a:lstStyle/>
          <a:p>
            <a:pPr algn="l">
              <a:buNone/>
            </a:pPr>
            <a:r>
              <a:rPr lang="fr-FR" sz="1200" b="1" i="0">
                <a:solidFill>
                  <a:srgbClr val="9A7B12"/>
                </a:solidFill>
                <a:latin typeface="Arial"/>
              </a:rPr>
              <a:t>07 · BESOINS FONCTIONNELS</a:t>
            </a:r>
          </a:p>
        </p:txBody>
      </p:sp>
      <p:sp>
        <p:nvSpPr>
          <p:cNvPr id="4" name="s4"/>
          <p:cNvSpPr/>
          <p:nvPr/>
        </p:nvSpPr>
        <p:spPr>
          <a:xfrm>
            <a:off x="630080" y="720000"/>
            <a:ext cx="10911840" cy="90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>
            <a:normAutofit/>
          </a:bodyPr>
          <a:lstStyle/>
          <a:p>
            <a:pPr algn="l">
              <a:buNone/>
            </a:pPr>
            <a:r>
              <a:rPr lang="fr-FR" sz="3200" b="1" i="0">
                <a:solidFill>
                  <a:srgbClr val="1C2A5E"/>
                </a:solidFill>
                <a:latin typeface="Arial"/>
              </a:rPr>
              <a:t>Ce que le système permet</a:t>
            </a:r>
          </a:p>
        </p:txBody>
      </p:sp>
      <p:sp>
        <p:nvSpPr>
          <p:cNvPr id="5" name="s5"/>
          <p:cNvSpPr/>
          <p:nvPr/>
        </p:nvSpPr>
        <p:spPr>
          <a:xfrm>
            <a:off x="640080" y="1640000"/>
            <a:ext cx="1500000" cy="90000"/>
          </a:xfrm>
          <a:prstGeom prst="rect">
            <a:avLst/>
          </a:prstGeom>
          <a:solidFill>
            <a:srgbClr val="F4C400"/>
          </a:solidFill>
          <a:ln>
            <a:noFill/>
          </a:ln>
        </p:spPr>
        <p:txBody>
          <a:bodyPr/>
          <a:lstStyle/>
          <a:p>
            <a:endParaRPr lang="fr-FR"/>
          </a:p>
        </p:txBody>
      </p:sp>
      <p:sp>
        <p:nvSpPr>
          <p:cNvPr id="6" name="s6"/>
          <p:cNvSpPr/>
          <p:nvPr/>
        </p:nvSpPr>
        <p:spPr>
          <a:xfrm>
            <a:off x="640080" y="6380000"/>
            <a:ext cx="8000000" cy="30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rmAutofit/>
          </a:bodyPr>
          <a:lstStyle/>
          <a:p>
            <a:pPr algn="l">
              <a:buNone/>
            </a:pPr>
            <a:r>
              <a:rPr lang="fr-FR" sz="1000" b="0" i="0">
                <a:solidFill>
                  <a:srgbClr val="8A90A0"/>
                </a:solidFill>
                <a:latin typeface="Arial"/>
              </a:rPr>
              <a:t>e-Boutique — La Poste Tunisienne</a:t>
            </a:r>
          </a:p>
        </p:txBody>
      </p:sp>
      <p:sp>
        <p:nvSpPr>
          <p:cNvPr id="7" name="s7"/>
          <p:cNvSpPr/>
          <p:nvPr/>
        </p:nvSpPr>
        <p:spPr>
          <a:xfrm>
            <a:off x="10992000" y="6360000"/>
            <a:ext cx="560000" cy="340000"/>
          </a:xfrm>
          <a:prstGeom prst="roundRect">
            <a:avLst>
              <a:gd name="adj" fmla="val 25000"/>
            </a:avLst>
          </a:prstGeom>
          <a:solidFill>
            <a:srgbClr val="1C2A5E"/>
          </a:solidFill>
          <a:ln>
            <a:noFill/>
          </a:ln>
        </p:spPr>
        <p:txBody>
          <a:bodyPr wrap="square" lIns="91440" tIns="0" rIns="91440" bIns="0" anchor="ctr">
            <a:normAutofit/>
          </a:bodyPr>
          <a:lstStyle/>
          <a:p>
            <a:pPr algn="ctr">
              <a:buNone/>
            </a:pPr>
            <a:r>
              <a:rPr lang="fr-FR" sz="1100" b="1" i="0">
                <a:solidFill>
                  <a:srgbClr val="FFFFFF"/>
                </a:solidFill>
                <a:latin typeface="Arial"/>
              </a:rPr>
              <a:t>11</a:t>
            </a:r>
          </a:p>
        </p:txBody>
      </p:sp>
      <p:sp>
        <p:nvSpPr>
          <p:cNvPr id="8" name="s8"/>
          <p:cNvSpPr/>
          <p:nvPr/>
        </p:nvSpPr>
        <p:spPr>
          <a:xfrm>
            <a:off x="640080" y="2050000"/>
            <a:ext cx="3477280" cy="390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8DEE9"/>
            </a:solidFill>
          </a:ln>
          <a:effectLst>
            <a:outerShdw blurRad="90000" dist="38100" dir="5400000" rotWithShape="0">
              <a:srgbClr val="1C2A5E">
                <a:alpha val="1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9" name="s9"/>
          <p:cNvSpPr/>
          <p:nvPr/>
        </p:nvSpPr>
        <p:spPr>
          <a:xfrm>
            <a:off x="640080" y="2050000"/>
            <a:ext cx="3477280" cy="560000"/>
          </a:xfrm>
          <a:prstGeom prst="roundRect">
            <a:avLst>
              <a:gd name="adj" fmla="val 6000"/>
            </a:avLst>
          </a:prstGeom>
          <a:solidFill>
            <a:srgbClr val="1C2A5E"/>
          </a:solidFill>
          <a:ln>
            <a:noFill/>
          </a:ln>
        </p:spPr>
        <p:txBody>
          <a:bodyPr wrap="square" lIns="91440" tIns="45720" rIns="91440" bIns="45720" anchor="ctr">
            <a:normAutofit/>
          </a:bodyPr>
          <a:lstStyle/>
          <a:p>
            <a:pPr algn="l">
              <a:buNone/>
            </a:pPr>
            <a:r>
              <a:rPr lang="fr-FR" sz="1400" b="1" i="0">
                <a:solidFill>
                  <a:srgbClr val="FFFFFF"/>
                </a:solidFill>
                <a:latin typeface="Arial"/>
              </a:rPr>
              <a:t>Client</a:t>
            </a:r>
          </a:p>
        </p:txBody>
      </p:sp>
      <p:sp>
        <p:nvSpPr>
          <p:cNvPr id="10" name="s10"/>
          <p:cNvSpPr/>
          <p:nvPr/>
        </p:nvSpPr>
        <p:spPr>
          <a:xfrm>
            <a:off x="640080" y="2350000"/>
            <a:ext cx="3477280" cy="260000"/>
          </a:xfrm>
          <a:prstGeom prst="rect">
            <a:avLst/>
          </a:prstGeom>
          <a:solidFill>
            <a:srgbClr val="1C2A5E"/>
          </a:solidFill>
          <a:ln>
            <a:noFill/>
          </a:ln>
        </p:spPr>
        <p:txBody>
          <a:bodyPr wrap="square" lIns="91440" tIns="45720" rIns="91440" bIns="45720" anchor="t">
            <a:normAutofit/>
          </a:bodyPr>
          <a:lstStyle/>
          <a:p>
            <a:pPr algn="l">
              <a:buNone/>
            </a:pPr>
            <a:r>
              <a:rPr lang="fr-FR" sz="100" b="0" i="0">
                <a:solidFill>
                  <a:srgbClr val="FFFFFF"/>
                </a:solidFill>
                <a:latin typeface="Arial"/>
              </a:rPr>
              <a:t/>
            </a:r>
          </a:p>
        </p:txBody>
      </p:sp>
      <p:sp>
        <p:nvSpPr>
          <p:cNvPr id="11" name="s11"/>
          <p:cNvSpPr/>
          <p:nvPr/>
        </p:nvSpPr>
        <p:spPr>
          <a:xfrm>
            <a:off x="640080" y="2690000"/>
            <a:ext cx="3477280" cy="3220000"/>
          </a:xfrm>
          <a:prstGeom prst="rect">
            <a:avLst/>
          </a:prstGeom>
          <a:noFill/>
          <a:ln>
            <a:noFill/>
          </a:ln>
        </p:spPr>
        <p:txBody>
          <a:bodyPr wrap="square" lIns="140000" tIns="45720" rIns="140000" bIns="45720" anchor="t">
            <a:normAutofit/>
          </a:bodyPr>
          <a:lstStyle/>
          <a:p>
            <a:pPr algn="l">
              <a:buNone/>
            </a:pPr>
            <a:r>
              <a:rPr lang="fr-FR" sz="1200" b="0" i="0">
                <a:solidFill>
                  <a:srgbClr val="44495A"/>
                </a:solidFill>
                <a:latin typeface="Arial"/>
              </a:rPr>
              <a:t>• S'inscrire (e-mail + 2FA)</a:t>
            </a:r>
          </a:p>
          <a:p>
            <a:pPr algn="l">
              <a:spcBef>
                <a:spcPts val="600"/>
              </a:spcBef>
              <a:buNone/>
            </a:pPr>
            <a:r>
              <a:rPr lang="fr-FR" sz="1200" b="0" i="0">
                <a:solidFill>
                  <a:srgbClr val="44495A"/>
                </a:solidFill>
                <a:latin typeface="Arial"/>
              </a:rPr>
              <a:t>• Acheter des produits</a:t>
            </a:r>
          </a:p>
          <a:p>
            <a:pPr algn="l">
              <a:spcBef>
                <a:spcPts val="600"/>
              </a:spcBef>
              <a:buNone/>
            </a:pPr>
            <a:r>
              <a:rPr lang="fr-FR" sz="1200" b="0" i="0">
                <a:solidFill>
                  <a:srgbClr val="44495A"/>
                </a:solidFill>
                <a:latin typeface="Arial"/>
              </a:rPr>
              <a:t>• Commander des fleurs</a:t>
            </a:r>
          </a:p>
          <a:p>
            <a:pPr algn="l">
              <a:spcBef>
                <a:spcPts val="600"/>
              </a:spcBef>
              <a:buNone/>
            </a:pPr>
            <a:r>
              <a:rPr lang="fr-FR" sz="1200" b="0" i="0">
                <a:solidFill>
                  <a:srgbClr val="44495A"/>
                </a:solidFill>
                <a:latin typeface="Arial"/>
              </a:rPr>
              <a:t>• Déposer &amp; suivre un colis</a:t>
            </a:r>
          </a:p>
          <a:p>
            <a:pPr algn="l">
              <a:spcBef>
                <a:spcPts val="600"/>
              </a:spcBef>
              <a:buNone/>
            </a:pPr>
            <a:r>
              <a:rPr lang="fr-FR" sz="1200" b="0" i="0">
                <a:solidFill>
                  <a:srgbClr val="44495A"/>
                </a:solidFill>
                <a:latin typeface="Arial"/>
              </a:rPr>
              <a:t>• Payer (e-Dinar)</a:t>
            </a:r>
          </a:p>
          <a:p>
            <a:pPr algn="l">
              <a:spcBef>
                <a:spcPts val="600"/>
              </a:spcBef>
              <a:buNone/>
            </a:pPr>
            <a:r>
              <a:rPr lang="fr-FR" sz="1200" b="0" i="0">
                <a:solidFill>
                  <a:srgbClr val="44495A"/>
                </a:solidFill>
                <a:latin typeface="Arial"/>
              </a:rPr>
              <a:t>• Recevoir des notifications</a:t>
            </a:r>
          </a:p>
        </p:txBody>
      </p:sp>
      <p:sp>
        <p:nvSpPr>
          <p:cNvPr id="12" name="s12"/>
          <p:cNvSpPr/>
          <p:nvPr/>
        </p:nvSpPr>
        <p:spPr>
          <a:xfrm>
            <a:off x="4357360" y="2050000"/>
            <a:ext cx="3477280" cy="390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8DEE9"/>
            </a:solidFill>
          </a:ln>
          <a:effectLst>
            <a:outerShdw blurRad="90000" dist="38100" dir="5400000" rotWithShape="0">
              <a:srgbClr val="1C2A5E">
                <a:alpha val="1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3" name="s13"/>
          <p:cNvSpPr/>
          <p:nvPr/>
        </p:nvSpPr>
        <p:spPr>
          <a:xfrm>
            <a:off x="4357360" y="2050000"/>
            <a:ext cx="3477280" cy="560000"/>
          </a:xfrm>
          <a:prstGeom prst="roundRect">
            <a:avLst>
              <a:gd name="adj" fmla="val 6000"/>
            </a:avLst>
          </a:prstGeom>
          <a:solidFill>
            <a:srgbClr val="1C2A5E"/>
          </a:solidFill>
          <a:ln>
            <a:noFill/>
          </a:ln>
        </p:spPr>
        <p:txBody>
          <a:bodyPr wrap="square" lIns="91440" tIns="45720" rIns="91440" bIns="45720" anchor="ctr">
            <a:normAutofit/>
          </a:bodyPr>
          <a:lstStyle/>
          <a:p>
            <a:pPr algn="l">
              <a:buNone/>
            </a:pPr>
            <a:r>
              <a:rPr lang="fr-FR" sz="1400" b="1" i="0">
                <a:solidFill>
                  <a:srgbClr val="FFFFFF"/>
                </a:solidFill>
                <a:latin typeface="Arial"/>
              </a:rPr>
              <a:t>Agent / Livreur</a:t>
            </a:r>
          </a:p>
        </p:txBody>
      </p:sp>
      <p:sp>
        <p:nvSpPr>
          <p:cNvPr id="14" name="s14"/>
          <p:cNvSpPr/>
          <p:nvPr/>
        </p:nvSpPr>
        <p:spPr>
          <a:xfrm>
            <a:off x="4357360" y="2350000"/>
            <a:ext cx="3477280" cy="260000"/>
          </a:xfrm>
          <a:prstGeom prst="rect">
            <a:avLst/>
          </a:prstGeom>
          <a:solidFill>
            <a:srgbClr val="1C2A5E"/>
          </a:solidFill>
          <a:ln>
            <a:noFill/>
          </a:ln>
        </p:spPr>
        <p:txBody>
          <a:bodyPr wrap="square" lIns="91440" tIns="45720" rIns="91440" bIns="45720" anchor="t">
            <a:normAutofit/>
          </a:bodyPr>
          <a:lstStyle/>
          <a:p>
            <a:pPr algn="l">
              <a:buNone/>
            </a:pPr>
            <a:r>
              <a:rPr lang="fr-FR" sz="100" b="0" i="0">
                <a:solidFill>
                  <a:srgbClr val="FFFFFF"/>
                </a:solidFill>
                <a:latin typeface="Arial"/>
              </a:rPr>
              <a:t/>
            </a:r>
          </a:p>
        </p:txBody>
      </p:sp>
      <p:sp>
        <p:nvSpPr>
          <p:cNvPr id="15" name="s15"/>
          <p:cNvSpPr/>
          <p:nvPr/>
        </p:nvSpPr>
        <p:spPr>
          <a:xfrm>
            <a:off x="4357360" y="2690000"/>
            <a:ext cx="3477280" cy="3220000"/>
          </a:xfrm>
          <a:prstGeom prst="rect">
            <a:avLst/>
          </a:prstGeom>
          <a:noFill/>
          <a:ln>
            <a:noFill/>
          </a:ln>
        </p:spPr>
        <p:txBody>
          <a:bodyPr wrap="square" lIns="140000" tIns="45720" rIns="140000" bIns="45720" anchor="t">
            <a:normAutofit/>
          </a:bodyPr>
          <a:lstStyle/>
          <a:p>
            <a:pPr algn="l">
              <a:buNone/>
            </a:pPr>
            <a:r>
              <a:rPr lang="fr-FR" sz="1200" b="0" i="0">
                <a:solidFill>
                  <a:srgbClr val="44495A"/>
                </a:solidFill>
                <a:latin typeface="Arial"/>
              </a:rPr>
              <a:t>• Gérer les dépôts</a:t>
            </a:r>
          </a:p>
          <a:p>
            <a:pPr algn="l">
              <a:spcBef>
                <a:spcPts val="600"/>
              </a:spcBef>
              <a:buNone/>
            </a:pPr>
            <a:r>
              <a:rPr lang="fr-FR" sz="1200" b="0" i="0">
                <a:solidFill>
                  <a:srgbClr val="44495A"/>
                </a:solidFill>
                <a:latin typeface="Arial"/>
              </a:rPr>
              <a:t>• Changer le statut du colis</a:t>
            </a:r>
          </a:p>
          <a:p>
            <a:pPr algn="l">
              <a:spcBef>
                <a:spcPts val="600"/>
              </a:spcBef>
              <a:buNone/>
            </a:pPr>
            <a:r>
              <a:rPr lang="fr-FR" sz="1200" b="0" i="0">
                <a:solidFill>
                  <a:srgbClr val="44495A"/>
                </a:solidFill>
                <a:latin typeface="Arial"/>
              </a:rPr>
              <a:t>• Messagerie interne chiffrée</a:t>
            </a:r>
          </a:p>
        </p:txBody>
      </p:sp>
      <p:sp>
        <p:nvSpPr>
          <p:cNvPr id="16" name="s16"/>
          <p:cNvSpPr/>
          <p:nvPr/>
        </p:nvSpPr>
        <p:spPr>
          <a:xfrm>
            <a:off x="8074640" y="2050000"/>
            <a:ext cx="3477280" cy="390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8DEE9"/>
            </a:solidFill>
          </a:ln>
          <a:effectLst>
            <a:outerShdw blurRad="90000" dist="38100" dir="5400000" rotWithShape="0">
              <a:srgbClr val="1C2A5E">
                <a:alpha val="1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7" name="s17"/>
          <p:cNvSpPr/>
          <p:nvPr/>
        </p:nvSpPr>
        <p:spPr>
          <a:xfrm>
            <a:off x="8074640" y="2050000"/>
            <a:ext cx="3477280" cy="560000"/>
          </a:xfrm>
          <a:prstGeom prst="roundRect">
            <a:avLst>
              <a:gd name="adj" fmla="val 6000"/>
            </a:avLst>
          </a:prstGeom>
          <a:solidFill>
            <a:srgbClr val="1C2A5E"/>
          </a:solidFill>
          <a:ln>
            <a:noFill/>
          </a:ln>
        </p:spPr>
        <p:txBody>
          <a:bodyPr wrap="square" lIns="91440" tIns="45720" rIns="91440" bIns="45720" anchor="ctr">
            <a:normAutofit/>
          </a:bodyPr>
          <a:lstStyle/>
          <a:p>
            <a:pPr algn="l">
              <a:buNone/>
            </a:pPr>
            <a:r>
              <a:rPr lang="fr-FR" sz="1400" b="1" i="0">
                <a:solidFill>
                  <a:srgbClr val="FFFFFF"/>
                </a:solidFill>
                <a:latin typeface="Arial"/>
              </a:rPr>
              <a:t>Administrateur</a:t>
            </a:r>
          </a:p>
        </p:txBody>
      </p:sp>
      <p:sp>
        <p:nvSpPr>
          <p:cNvPr id="18" name="s18"/>
          <p:cNvSpPr/>
          <p:nvPr/>
        </p:nvSpPr>
        <p:spPr>
          <a:xfrm>
            <a:off x="8074640" y="2350000"/>
            <a:ext cx="3477280" cy="260000"/>
          </a:xfrm>
          <a:prstGeom prst="rect">
            <a:avLst/>
          </a:prstGeom>
          <a:solidFill>
            <a:srgbClr val="1C2A5E"/>
          </a:solidFill>
          <a:ln>
            <a:noFill/>
          </a:ln>
        </p:spPr>
        <p:txBody>
          <a:bodyPr wrap="square" lIns="91440" tIns="45720" rIns="91440" bIns="45720" anchor="t">
            <a:normAutofit/>
          </a:bodyPr>
          <a:lstStyle/>
          <a:p>
            <a:pPr algn="l">
              <a:buNone/>
            </a:pPr>
            <a:r>
              <a:rPr lang="fr-FR" sz="100" b="0" i="0">
                <a:solidFill>
                  <a:srgbClr val="FFFFFF"/>
                </a:solidFill>
                <a:latin typeface="Arial"/>
              </a:rPr>
              <a:t/>
            </a:r>
          </a:p>
        </p:txBody>
      </p:sp>
      <p:sp>
        <p:nvSpPr>
          <p:cNvPr id="19" name="s19"/>
          <p:cNvSpPr/>
          <p:nvPr/>
        </p:nvSpPr>
        <p:spPr>
          <a:xfrm>
            <a:off x="8074640" y="2690000"/>
            <a:ext cx="3477280" cy="3220000"/>
          </a:xfrm>
          <a:prstGeom prst="rect">
            <a:avLst/>
          </a:prstGeom>
          <a:noFill/>
          <a:ln>
            <a:noFill/>
          </a:ln>
        </p:spPr>
        <p:txBody>
          <a:bodyPr wrap="square" lIns="140000" tIns="45720" rIns="140000" bIns="45720" anchor="t">
            <a:normAutofit/>
          </a:bodyPr>
          <a:lstStyle/>
          <a:p>
            <a:pPr algn="l">
              <a:buNone/>
            </a:pPr>
            <a:r>
              <a:rPr lang="fr-FR" sz="1200" b="0" i="0">
                <a:solidFill>
                  <a:srgbClr val="44495A"/>
                </a:solidFill>
                <a:latin typeface="Arial"/>
              </a:rPr>
              <a:t>• Gérer utilisateurs &amp; équipes</a:t>
            </a:r>
          </a:p>
          <a:p>
            <a:pPr algn="l">
              <a:spcBef>
                <a:spcPts val="600"/>
              </a:spcBef>
              <a:buNone/>
            </a:pPr>
            <a:r>
              <a:rPr lang="fr-FR" sz="1200" b="0" i="0">
                <a:solidFill>
                  <a:srgbClr val="44495A"/>
                </a:solidFill>
                <a:latin typeface="Arial"/>
              </a:rPr>
              <a:t>• Gérer produits &amp; bureaux</a:t>
            </a:r>
          </a:p>
          <a:p>
            <a:pPr algn="l">
              <a:spcBef>
                <a:spcPts val="600"/>
              </a:spcBef>
              <a:buNone/>
            </a:pPr>
            <a:r>
              <a:rPr lang="fr-FR" sz="1200" b="0" i="0">
                <a:solidFill>
                  <a:srgbClr val="44495A"/>
                </a:solidFill>
                <a:latin typeface="Arial"/>
              </a:rPr>
              <a:t>• Gérer la grille tarifaire</a:t>
            </a:r>
          </a:p>
          <a:p>
            <a:pPr algn="l">
              <a:spcBef>
                <a:spcPts val="600"/>
              </a:spcBef>
              <a:buNone/>
            </a:pPr>
            <a:r>
              <a:rPr lang="fr-FR" sz="1200" b="0" i="0">
                <a:solidFill>
                  <a:srgbClr val="44495A"/>
                </a:solidFill>
                <a:latin typeface="Arial"/>
              </a:rPr>
              <a:t>• Superviser les commandes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A"/>
        </a:solidFill>
        <a:effectLst/>
      </p:bgPr>
    </p:bg>
    <p:spTree>
      <p:sp>
        <p:nvSpPr>
          <p:cNvPr id="2" name="s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txBody>
          <a:bodyPr/>
          <a:lstStyle/>
          <a:p>
            <a:endParaRPr lang="fr-FR"/>
          </a:p>
        </p:txBody>
      </p:sp>
      <p:sp>
        <p:nvSpPr>
          <p:cNvPr id="3" name="s3"/>
          <p:cNvSpPr/>
          <p:nvPr/>
        </p:nvSpPr>
        <p:spPr>
          <a:xfrm>
            <a:off x="640080" y="470000"/>
            <a:ext cx="10911840" cy="30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>
            <a:normAutofit/>
          </a:bodyPr>
          <a:lstStyle/>
          <a:p>
            <a:pPr algn="l">
              <a:buNone/>
            </a:pPr>
            <a:r>
              <a:rPr lang="fr-FR" sz="1200" b="1" i="0">
                <a:solidFill>
                  <a:srgbClr val="9A7B12"/>
                </a:solidFill>
                <a:latin typeface="Arial"/>
              </a:rPr>
              <a:t>07 · BESOINS NON FONCTIONNELS</a:t>
            </a:r>
          </a:p>
        </p:txBody>
      </p:sp>
      <p:sp>
        <p:nvSpPr>
          <p:cNvPr id="4" name="s4"/>
          <p:cNvSpPr/>
          <p:nvPr/>
        </p:nvSpPr>
        <p:spPr>
          <a:xfrm>
            <a:off x="630080" y="720000"/>
            <a:ext cx="10911840" cy="90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>
            <a:normAutofit/>
          </a:bodyPr>
          <a:lstStyle/>
          <a:p>
            <a:pPr algn="l">
              <a:buNone/>
            </a:pPr>
            <a:r>
              <a:rPr lang="fr-FR" sz="3200" b="1" i="0">
                <a:solidFill>
                  <a:srgbClr val="1C2A5E"/>
                </a:solidFill>
                <a:latin typeface="Arial"/>
              </a:rPr>
              <a:t>La qualité attendue</a:t>
            </a:r>
          </a:p>
        </p:txBody>
      </p:sp>
      <p:sp>
        <p:nvSpPr>
          <p:cNvPr id="5" name="s5"/>
          <p:cNvSpPr/>
          <p:nvPr/>
        </p:nvSpPr>
        <p:spPr>
          <a:xfrm>
            <a:off x="640080" y="1640000"/>
            <a:ext cx="1500000" cy="90000"/>
          </a:xfrm>
          <a:prstGeom prst="rect">
            <a:avLst/>
          </a:prstGeom>
          <a:solidFill>
            <a:srgbClr val="F4C400"/>
          </a:solidFill>
          <a:ln>
            <a:noFill/>
          </a:ln>
        </p:spPr>
        <p:txBody>
          <a:bodyPr/>
          <a:lstStyle/>
          <a:p>
            <a:endParaRPr lang="fr-FR"/>
          </a:p>
        </p:txBody>
      </p:sp>
      <p:sp>
        <p:nvSpPr>
          <p:cNvPr id="6" name="s6"/>
          <p:cNvSpPr/>
          <p:nvPr/>
        </p:nvSpPr>
        <p:spPr>
          <a:xfrm>
            <a:off x="640080" y="6380000"/>
            <a:ext cx="8000000" cy="30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rmAutofit/>
          </a:bodyPr>
          <a:lstStyle/>
          <a:p>
            <a:pPr algn="l">
              <a:buNone/>
            </a:pPr>
            <a:r>
              <a:rPr lang="fr-FR" sz="1000" b="0" i="0">
                <a:solidFill>
                  <a:srgbClr val="8A90A0"/>
                </a:solidFill>
                <a:latin typeface="Arial"/>
              </a:rPr>
              <a:t>e-Boutique — La Poste Tunisienne</a:t>
            </a:r>
          </a:p>
        </p:txBody>
      </p:sp>
      <p:sp>
        <p:nvSpPr>
          <p:cNvPr id="7" name="s7"/>
          <p:cNvSpPr/>
          <p:nvPr/>
        </p:nvSpPr>
        <p:spPr>
          <a:xfrm>
            <a:off x="10992000" y="6360000"/>
            <a:ext cx="560000" cy="340000"/>
          </a:xfrm>
          <a:prstGeom prst="roundRect">
            <a:avLst>
              <a:gd name="adj" fmla="val 25000"/>
            </a:avLst>
          </a:prstGeom>
          <a:solidFill>
            <a:srgbClr val="1C2A5E"/>
          </a:solidFill>
          <a:ln>
            <a:noFill/>
          </a:ln>
        </p:spPr>
        <p:txBody>
          <a:bodyPr wrap="square" lIns="91440" tIns="0" rIns="91440" bIns="0" anchor="ctr">
            <a:normAutofit/>
          </a:bodyPr>
          <a:lstStyle/>
          <a:p>
            <a:pPr algn="ctr">
              <a:buNone/>
            </a:pPr>
            <a:r>
              <a:rPr lang="fr-FR" sz="1100" b="1" i="0">
                <a:solidFill>
                  <a:srgbClr val="FFFFFF"/>
                </a:solidFill>
                <a:latin typeface="Arial"/>
              </a:rPr>
              <a:t>12</a:t>
            </a:r>
          </a:p>
        </p:txBody>
      </p:sp>
      <p:sp>
        <p:nvSpPr>
          <p:cNvPr id="8" name="s8"/>
          <p:cNvSpPr/>
          <p:nvPr/>
        </p:nvSpPr>
        <p:spPr>
          <a:xfrm>
            <a:off x="640080" y="2050000"/>
            <a:ext cx="3477280" cy="183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8DEE9"/>
            </a:solidFill>
          </a:ln>
          <a:effectLst>
            <a:outerShdw blurRad="90000" dist="38100" dir="5400000" rotWithShape="0">
              <a:srgbClr val="1C2A5E">
                <a:alpha val="1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9" name="s9"/>
          <p:cNvSpPr/>
          <p:nvPr/>
        </p:nvSpPr>
        <p:spPr>
          <a:xfrm>
            <a:off x="640080" y="2050000"/>
            <a:ext cx="3477280" cy="560000"/>
          </a:xfrm>
          <a:prstGeom prst="roundRect">
            <a:avLst>
              <a:gd name="adj" fmla="val 6000"/>
            </a:avLst>
          </a:prstGeom>
          <a:solidFill>
            <a:srgbClr val="1C2A5E"/>
          </a:solidFill>
          <a:ln>
            <a:noFill/>
          </a:ln>
        </p:spPr>
        <p:txBody>
          <a:bodyPr wrap="square" lIns="91440" tIns="45720" rIns="91440" bIns="45720" anchor="ctr">
            <a:normAutofit/>
          </a:bodyPr>
          <a:lstStyle/>
          <a:p>
            <a:pPr algn="l">
              <a:buNone/>
            </a:pPr>
            <a:r>
              <a:rPr lang="fr-FR" sz="1400" b="1" i="0">
                <a:solidFill>
                  <a:srgbClr val="FFFFFF"/>
                </a:solidFill>
                <a:latin typeface="Arial"/>
              </a:rPr>
              <a:t>Sécurité</a:t>
            </a:r>
          </a:p>
        </p:txBody>
      </p:sp>
      <p:sp>
        <p:nvSpPr>
          <p:cNvPr id="10" name="s10"/>
          <p:cNvSpPr/>
          <p:nvPr/>
        </p:nvSpPr>
        <p:spPr>
          <a:xfrm>
            <a:off x="640080" y="2350000"/>
            <a:ext cx="3477280" cy="260000"/>
          </a:xfrm>
          <a:prstGeom prst="rect">
            <a:avLst/>
          </a:prstGeom>
          <a:solidFill>
            <a:srgbClr val="1C2A5E"/>
          </a:solidFill>
          <a:ln>
            <a:noFill/>
          </a:ln>
        </p:spPr>
        <p:txBody>
          <a:bodyPr wrap="square" lIns="91440" tIns="45720" rIns="91440" bIns="45720" anchor="t">
            <a:normAutofit/>
          </a:bodyPr>
          <a:lstStyle/>
          <a:p>
            <a:pPr algn="l">
              <a:buNone/>
            </a:pPr>
            <a:r>
              <a:rPr lang="fr-FR" sz="100" b="0" i="0">
                <a:solidFill>
                  <a:srgbClr val="FFFFFF"/>
                </a:solidFill>
                <a:latin typeface="Arial"/>
              </a:rPr>
              <a:t/>
            </a:r>
          </a:p>
        </p:txBody>
      </p:sp>
      <p:sp>
        <p:nvSpPr>
          <p:cNvPr id="11" name="s11"/>
          <p:cNvSpPr/>
          <p:nvPr/>
        </p:nvSpPr>
        <p:spPr>
          <a:xfrm>
            <a:off x="640080" y="2690000"/>
            <a:ext cx="3477280" cy="1150000"/>
          </a:xfrm>
          <a:prstGeom prst="rect">
            <a:avLst/>
          </a:prstGeom>
          <a:noFill/>
          <a:ln>
            <a:noFill/>
          </a:ln>
        </p:spPr>
        <p:txBody>
          <a:bodyPr wrap="square" lIns="140000" tIns="45720" rIns="140000" bIns="45720" anchor="t">
            <a:normAutofit/>
          </a:bodyPr>
          <a:lstStyle/>
          <a:p>
            <a:pPr algn="l">
              <a:buNone/>
            </a:pPr>
            <a:r>
              <a:rPr lang="fr-FR" sz="1200" b="0" i="0">
                <a:solidFill>
                  <a:srgbClr val="44495A"/>
                </a:solidFill>
                <a:latin typeface="Arial"/>
              </a:rPr>
              <a:t>• bcrypt · JWT · 2FA</a:t>
            </a:r>
          </a:p>
        </p:txBody>
      </p:sp>
      <p:sp>
        <p:nvSpPr>
          <p:cNvPr id="12" name="s12"/>
          <p:cNvSpPr/>
          <p:nvPr/>
        </p:nvSpPr>
        <p:spPr>
          <a:xfrm>
            <a:off x="4357360" y="2050000"/>
            <a:ext cx="3477280" cy="183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8DEE9"/>
            </a:solidFill>
          </a:ln>
          <a:effectLst>
            <a:outerShdw blurRad="90000" dist="38100" dir="5400000" rotWithShape="0">
              <a:srgbClr val="1C2A5E">
                <a:alpha val="1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3" name="s13"/>
          <p:cNvSpPr/>
          <p:nvPr/>
        </p:nvSpPr>
        <p:spPr>
          <a:xfrm>
            <a:off x="4357360" y="2050000"/>
            <a:ext cx="3477280" cy="560000"/>
          </a:xfrm>
          <a:prstGeom prst="roundRect">
            <a:avLst>
              <a:gd name="adj" fmla="val 6000"/>
            </a:avLst>
          </a:prstGeom>
          <a:solidFill>
            <a:srgbClr val="1C2A5E"/>
          </a:solidFill>
          <a:ln>
            <a:noFill/>
          </a:ln>
        </p:spPr>
        <p:txBody>
          <a:bodyPr wrap="square" lIns="91440" tIns="45720" rIns="91440" bIns="45720" anchor="ctr">
            <a:normAutofit/>
          </a:bodyPr>
          <a:lstStyle/>
          <a:p>
            <a:pPr algn="l">
              <a:buNone/>
            </a:pPr>
            <a:r>
              <a:rPr lang="fr-FR" sz="1400" b="1" i="0">
                <a:solidFill>
                  <a:srgbClr val="FFFFFF"/>
                </a:solidFill>
                <a:latin typeface="Arial"/>
              </a:rPr>
              <a:t>Performance</a:t>
            </a:r>
          </a:p>
        </p:txBody>
      </p:sp>
      <p:sp>
        <p:nvSpPr>
          <p:cNvPr id="14" name="s14"/>
          <p:cNvSpPr/>
          <p:nvPr/>
        </p:nvSpPr>
        <p:spPr>
          <a:xfrm>
            <a:off x="4357360" y="2350000"/>
            <a:ext cx="3477280" cy="260000"/>
          </a:xfrm>
          <a:prstGeom prst="rect">
            <a:avLst/>
          </a:prstGeom>
          <a:solidFill>
            <a:srgbClr val="1C2A5E"/>
          </a:solidFill>
          <a:ln>
            <a:noFill/>
          </a:ln>
        </p:spPr>
        <p:txBody>
          <a:bodyPr wrap="square" lIns="91440" tIns="45720" rIns="91440" bIns="45720" anchor="t">
            <a:normAutofit/>
          </a:bodyPr>
          <a:lstStyle/>
          <a:p>
            <a:pPr algn="l">
              <a:buNone/>
            </a:pPr>
            <a:r>
              <a:rPr lang="fr-FR" sz="100" b="0" i="0">
                <a:solidFill>
                  <a:srgbClr val="FFFFFF"/>
                </a:solidFill>
                <a:latin typeface="Arial"/>
              </a:rPr>
              <a:t/>
            </a:r>
          </a:p>
        </p:txBody>
      </p:sp>
      <p:sp>
        <p:nvSpPr>
          <p:cNvPr id="15" name="s15"/>
          <p:cNvSpPr/>
          <p:nvPr/>
        </p:nvSpPr>
        <p:spPr>
          <a:xfrm>
            <a:off x="4357360" y="2690000"/>
            <a:ext cx="3477280" cy="1150000"/>
          </a:xfrm>
          <a:prstGeom prst="rect">
            <a:avLst/>
          </a:prstGeom>
          <a:noFill/>
          <a:ln>
            <a:noFill/>
          </a:ln>
        </p:spPr>
        <p:txBody>
          <a:bodyPr wrap="square" lIns="140000" tIns="45720" rIns="140000" bIns="45720" anchor="t">
            <a:normAutofit/>
          </a:bodyPr>
          <a:lstStyle/>
          <a:p>
            <a:pPr algn="l">
              <a:buNone/>
            </a:pPr>
            <a:r>
              <a:rPr lang="fr-FR" sz="1200" b="0" i="0">
                <a:solidFill>
                  <a:srgbClr val="44495A"/>
                </a:solidFill>
                <a:latin typeface="Arial"/>
              </a:rPr>
              <a:t>• lazy loading</a:t>
            </a:r>
          </a:p>
        </p:txBody>
      </p:sp>
      <p:sp>
        <p:nvSpPr>
          <p:cNvPr id="16" name="s16"/>
          <p:cNvSpPr/>
          <p:nvPr/>
        </p:nvSpPr>
        <p:spPr>
          <a:xfrm>
            <a:off x="8074640" y="2050000"/>
            <a:ext cx="3477280" cy="183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8DEE9"/>
            </a:solidFill>
          </a:ln>
          <a:effectLst>
            <a:outerShdw blurRad="90000" dist="38100" dir="5400000" rotWithShape="0">
              <a:srgbClr val="1C2A5E">
                <a:alpha val="1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7" name="s17"/>
          <p:cNvSpPr/>
          <p:nvPr/>
        </p:nvSpPr>
        <p:spPr>
          <a:xfrm>
            <a:off x="8074640" y="2050000"/>
            <a:ext cx="3477280" cy="560000"/>
          </a:xfrm>
          <a:prstGeom prst="roundRect">
            <a:avLst>
              <a:gd name="adj" fmla="val 6000"/>
            </a:avLst>
          </a:prstGeom>
          <a:solidFill>
            <a:srgbClr val="1C2A5E"/>
          </a:solidFill>
          <a:ln>
            <a:noFill/>
          </a:ln>
        </p:spPr>
        <p:txBody>
          <a:bodyPr wrap="square" lIns="91440" tIns="45720" rIns="91440" bIns="45720" anchor="ctr">
            <a:normAutofit/>
          </a:bodyPr>
          <a:lstStyle/>
          <a:p>
            <a:pPr algn="l">
              <a:buNone/>
            </a:pPr>
            <a:r>
              <a:rPr lang="fr-FR" sz="1400" b="1" i="0">
                <a:solidFill>
                  <a:srgbClr val="FFFFFF"/>
                </a:solidFill>
                <a:latin typeface="Arial"/>
              </a:rPr>
              <a:t>Ergonomie</a:t>
            </a:r>
          </a:p>
        </p:txBody>
      </p:sp>
      <p:sp>
        <p:nvSpPr>
          <p:cNvPr id="18" name="s18"/>
          <p:cNvSpPr/>
          <p:nvPr/>
        </p:nvSpPr>
        <p:spPr>
          <a:xfrm>
            <a:off x="8074640" y="2350000"/>
            <a:ext cx="3477280" cy="260000"/>
          </a:xfrm>
          <a:prstGeom prst="rect">
            <a:avLst/>
          </a:prstGeom>
          <a:solidFill>
            <a:srgbClr val="1C2A5E"/>
          </a:solidFill>
          <a:ln>
            <a:noFill/>
          </a:ln>
        </p:spPr>
        <p:txBody>
          <a:bodyPr wrap="square" lIns="91440" tIns="45720" rIns="91440" bIns="45720" anchor="t">
            <a:normAutofit/>
          </a:bodyPr>
          <a:lstStyle/>
          <a:p>
            <a:pPr algn="l">
              <a:buNone/>
            </a:pPr>
            <a:r>
              <a:rPr lang="fr-FR" sz="100" b="0" i="0">
                <a:solidFill>
                  <a:srgbClr val="FFFFFF"/>
                </a:solidFill>
                <a:latin typeface="Arial"/>
              </a:rPr>
              <a:t/>
            </a:r>
          </a:p>
        </p:txBody>
      </p:sp>
      <p:sp>
        <p:nvSpPr>
          <p:cNvPr id="19" name="s19"/>
          <p:cNvSpPr/>
          <p:nvPr/>
        </p:nvSpPr>
        <p:spPr>
          <a:xfrm>
            <a:off x="8074640" y="2690000"/>
            <a:ext cx="3477280" cy="1150000"/>
          </a:xfrm>
          <a:prstGeom prst="rect">
            <a:avLst/>
          </a:prstGeom>
          <a:noFill/>
          <a:ln>
            <a:noFill/>
          </a:ln>
        </p:spPr>
        <p:txBody>
          <a:bodyPr wrap="square" lIns="140000" tIns="45720" rIns="140000" bIns="45720" anchor="t">
            <a:normAutofit/>
          </a:bodyPr>
          <a:lstStyle/>
          <a:p>
            <a:pPr algn="l">
              <a:buNone/>
            </a:pPr>
            <a:r>
              <a:rPr lang="fr-FR" sz="1200" b="0" i="0">
                <a:solidFill>
                  <a:srgbClr val="44495A"/>
                </a:solidFill>
                <a:latin typeface="Arial"/>
              </a:rPr>
              <a:t>• interface responsive</a:t>
            </a:r>
          </a:p>
        </p:txBody>
      </p:sp>
      <p:sp>
        <p:nvSpPr>
          <p:cNvPr id="20" name="s20"/>
          <p:cNvSpPr/>
          <p:nvPr/>
        </p:nvSpPr>
        <p:spPr>
          <a:xfrm>
            <a:off x="640080" y="4120000"/>
            <a:ext cx="3477280" cy="183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8DEE9"/>
            </a:solidFill>
          </a:ln>
          <a:effectLst>
            <a:outerShdw blurRad="90000" dist="38100" dir="5400000" rotWithShape="0">
              <a:srgbClr val="1C2A5E">
                <a:alpha val="1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1" name="s21"/>
          <p:cNvSpPr/>
          <p:nvPr/>
        </p:nvSpPr>
        <p:spPr>
          <a:xfrm>
            <a:off x="640080" y="4120000"/>
            <a:ext cx="3477280" cy="560000"/>
          </a:xfrm>
          <a:prstGeom prst="roundRect">
            <a:avLst>
              <a:gd name="adj" fmla="val 6000"/>
            </a:avLst>
          </a:prstGeom>
          <a:solidFill>
            <a:srgbClr val="1C2A5E"/>
          </a:solidFill>
          <a:ln>
            <a:noFill/>
          </a:ln>
        </p:spPr>
        <p:txBody>
          <a:bodyPr wrap="square" lIns="91440" tIns="45720" rIns="91440" bIns="45720" anchor="ctr">
            <a:normAutofit/>
          </a:bodyPr>
          <a:lstStyle/>
          <a:p>
            <a:pPr algn="l">
              <a:buNone/>
            </a:pPr>
            <a:r>
              <a:rPr lang="fr-FR" sz="1400" b="1" i="0">
                <a:solidFill>
                  <a:srgbClr val="FFFFFF"/>
                </a:solidFill>
                <a:latin typeface="Arial"/>
              </a:rPr>
              <a:t>Fiabilité</a:t>
            </a:r>
          </a:p>
        </p:txBody>
      </p:sp>
      <p:sp>
        <p:nvSpPr>
          <p:cNvPr id="22" name="s22"/>
          <p:cNvSpPr/>
          <p:nvPr/>
        </p:nvSpPr>
        <p:spPr>
          <a:xfrm>
            <a:off x="640080" y="4420000"/>
            <a:ext cx="3477280" cy="260000"/>
          </a:xfrm>
          <a:prstGeom prst="rect">
            <a:avLst/>
          </a:prstGeom>
          <a:solidFill>
            <a:srgbClr val="1C2A5E"/>
          </a:solidFill>
          <a:ln>
            <a:noFill/>
          </a:ln>
        </p:spPr>
        <p:txBody>
          <a:bodyPr wrap="square" lIns="91440" tIns="45720" rIns="91440" bIns="45720" anchor="t">
            <a:normAutofit/>
          </a:bodyPr>
          <a:lstStyle/>
          <a:p>
            <a:pPr algn="l">
              <a:buNone/>
            </a:pPr>
            <a:r>
              <a:rPr lang="fr-FR" sz="100" b="0" i="0">
                <a:solidFill>
                  <a:srgbClr val="FFFFFF"/>
                </a:solidFill>
                <a:latin typeface="Arial"/>
              </a:rPr>
              <a:t/>
            </a:r>
          </a:p>
        </p:txBody>
      </p:sp>
      <p:sp>
        <p:nvSpPr>
          <p:cNvPr id="23" name="s23"/>
          <p:cNvSpPr/>
          <p:nvPr/>
        </p:nvSpPr>
        <p:spPr>
          <a:xfrm>
            <a:off x="640080" y="4760000"/>
            <a:ext cx="3477280" cy="1150000"/>
          </a:xfrm>
          <a:prstGeom prst="rect">
            <a:avLst/>
          </a:prstGeom>
          <a:noFill/>
          <a:ln>
            <a:noFill/>
          </a:ln>
        </p:spPr>
        <p:txBody>
          <a:bodyPr wrap="square" lIns="140000" tIns="45720" rIns="140000" bIns="45720" anchor="t">
            <a:normAutofit/>
          </a:bodyPr>
          <a:lstStyle/>
          <a:p>
            <a:pPr algn="l">
              <a:buNone/>
            </a:pPr>
            <a:r>
              <a:rPr lang="fr-FR" sz="1200" b="0" i="0">
                <a:solidFill>
                  <a:srgbClr val="44495A"/>
                </a:solidFill>
                <a:latin typeface="Arial"/>
              </a:rPr>
              <a:t>• validation des données</a:t>
            </a:r>
          </a:p>
        </p:txBody>
      </p:sp>
      <p:sp>
        <p:nvSpPr>
          <p:cNvPr id="24" name="s24"/>
          <p:cNvSpPr/>
          <p:nvPr/>
        </p:nvSpPr>
        <p:spPr>
          <a:xfrm>
            <a:off x="4357360" y="4120000"/>
            <a:ext cx="3477280" cy="183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8DEE9"/>
            </a:solidFill>
          </a:ln>
          <a:effectLst>
            <a:outerShdw blurRad="90000" dist="38100" dir="5400000" rotWithShape="0">
              <a:srgbClr val="1C2A5E">
                <a:alpha val="1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5" name="s25"/>
          <p:cNvSpPr/>
          <p:nvPr/>
        </p:nvSpPr>
        <p:spPr>
          <a:xfrm>
            <a:off x="4357360" y="4120000"/>
            <a:ext cx="3477280" cy="560000"/>
          </a:xfrm>
          <a:prstGeom prst="roundRect">
            <a:avLst>
              <a:gd name="adj" fmla="val 6000"/>
            </a:avLst>
          </a:prstGeom>
          <a:solidFill>
            <a:srgbClr val="1C2A5E"/>
          </a:solidFill>
          <a:ln>
            <a:noFill/>
          </a:ln>
        </p:spPr>
        <p:txBody>
          <a:bodyPr wrap="square" lIns="91440" tIns="45720" rIns="91440" bIns="45720" anchor="ctr">
            <a:normAutofit/>
          </a:bodyPr>
          <a:lstStyle/>
          <a:p>
            <a:pPr algn="l">
              <a:buNone/>
            </a:pPr>
            <a:r>
              <a:rPr lang="fr-FR" sz="1400" b="1" i="0">
                <a:solidFill>
                  <a:srgbClr val="FFFFFF"/>
                </a:solidFill>
                <a:latin typeface="Arial"/>
              </a:rPr>
              <a:t>Maintenabilité</a:t>
            </a:r>
          </a:p>
        </p:txBody>
      </p:sp>
      <p:sp>
        <p:nvSpPr>
          <p:cNvPr id="26" name="s26"/>
          <p:cNvSpPr/>
          <p:nvPr/>
        </p:nvSpPr>
        <p:spPr>
          <a:xfrm>
            <a:off x="4357360" y="4420000"/>
            <a:ext cx="3477280" cy="260000"/>
          </a:xfrm>
          <a:prstGeom prst="rect">
            <a:avLst/>
          </a:prstGeom>
          <a:solidFill>
            <a:srgbClr val="1C2A5E"/>
          </a:solidFill>
          <a:ln>
            <a:noFill/>
          </a:ln>
        </p:spPr>
        <p:txBody>
          <a:bodyPr wrap="square" lIns="91440" tIns="45720" rIns="91440" bIns="45720" anchor="t">
            <a:normAutofit/>
          </a:bodyPr>
          <a:lstStyle/>
          <a:p>
            <a:pPr algn="l">
              <a:buNone/>
            </a:pPr>
            <a:r>
              <a:rPr lang="fr-FR" sz="100" b="0" i="0">
                <a:solidFill>
                  <a:srgbClr val="FFFFFF"/>
                </a:solidFill>
                <a:latin typeface="Arial"/>
              </a:rPr>
              <a:t/>
            </a:r>
          </a:p>
        </p:txBody>
      </p:sp>
      <p:sp>
        <p:nvSpPr>
          <p:cNvPr id="27" name="s27"/>
          <p:cNvSpPr/>
          <p:nvPr/>
        </p:nvSpPr>
        <p:spPr>
          <a:xfrm>
            <a:off x="4357360" y="4760000"/>
            <a:ext cx="3477280" cy="1150000"/>
          </a:xfrm>
          <a:prstGeom prst="rect">
            <a:avLst/>
          </a:prstGeom>
          <a:noFill/>
          <a:ln>
            <a:noFill/>
          </a:ln>
        </p:spPr>
        <p:txBody>
          <a:bodyPr wrap="square" lIns="140000" tIns="45720" rIns="140000" bIns="45720" anchor="t">
            <a:normAutofit/>
          </a:bodyPr>
          <a:lstStyle/>
          <a:p>
            <a:pPr algn="l">
              <a:buNone/>
            </a:pPr>
            <a:r>
              <a:rPr lang="fr-FR" sz="1200" b="0" i="0">
                <a:solidFill>
                  <a:srgbClr val="44495A"/>
                </a:solidFill>
                <a:latin typeface="Arial"/>
              </a:rPr>
              <a:t>• code modulaire</a:t>
            </a:r>
          </a:p>
        </p:txBody>
      </p:sp>
      <p:sp>
        <p:nvSpPr>
          <p:cNvPr id="28" name="s28"/>
          <p:cNvSpPr/>
          <p:nvPr/>
        </p:nvSpPr>
        <p:spPr>
          <a:xfrm>
            <a:off x="8074640" y="4120000"/>
            <a:ext cx="3477280" cy="183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8DEE9"/>
            </a:solidFill>
          </a:ln>
          <a:effectLst>
            <a:outerShdw blurRad="90000" dist="38100" dir="5400000" rotWithShape="0">
              <a:srgbClr val="1C2A5E">
                <a:alpha val="1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9" name="s29"/>
          <p:cNvSpPr/>
          <p:nvPr/>
        </p:nvSpPr>
        <p:spPr>
          <a:xfrm>
            <a:off x="8074640" y="4120000"/>
            <a:ext cx="3477280" cy="560000"/>
          </a:xfrm>
          <a:prstGeom prst="roundRect">
            <a:avLst>
              <a:gd name="adj" fmla="val 6000"/>
            </a:avLst>
          </a:prstGeom>
          <a:solidFill>
            <a:srgbClr val="1C2A5E"/>
          </a:solidFill>
          <a:ln>
            <a:noFill/>
          </a:ln>
        </p:spPr>
        <p:txBody>
          <a:bodyPr wrap="square" lIns="91440" tIns="45720" rIns="91440" bIns="45720" anchor="ctr">
            <a:normAutofit/>
          </a:bodyPr>
          <a:lstStyle/>
          <a:p>
            <a:pPr algn="l">
              <a:buNone/>
            </a:pPr>
            <a:r>
              <a:rPr lang="fr-FR" sz="1400" b="1" i="0">
                <a:solidFill>
                  <a:srgbClr val="FFFFFF"/>
                </a:solidFill>
                <a:latin typeface="Arial"/>
              </a:rPr>
              <a:t>Extensibilité</a:t>
            </a:r>
          </a:p>
        </p:txBody>
      </p:sp>
      <p:sp>
        <p:nvSpPr>
          <p:cNvPr id="30" name="s30"/>
          <p:cNvSpPr/>
          <p:nvPr/>
        </p:nvSpPr>
        <p:spPr>
          <a:xfrm>
            <a:off x="8074640" y="4420000"/>
            <a:ext cx="3477280" cy="260000"/>
          </a:xfrm>
          <a:prstGeom prst="rect">
            <a:avLst/>
          </a:prstGeom>
          <a:solidFill>
            <a:srgbClr val="1C2A5E"/>
          </a:solidFill>
          <a:ln>
            <a:noFill/>
          </a:ln>
        </p:spPr>
        <p:txBody>
          <a:bodyPr wrap="square" lIns="91440" tIns="45720" rIns="91440" bIns="45720" anchor="t">
            <a:normAutofit/>
          </a:bodyPr>
          <a:lstStyle/>
          <a:p>
            <a:pPr algn="l">
              <a:buNone/>
            </a:pPr>
            <a:r>
              <a:rPr lang="fr-FR" sz="100" b="0" i="0">
                <a:solidFill>
                  <a:srgbClr val="FFFFFF"/>
                </a:solidFill>
                <a:latin typeface="Arial"/>
              </a:rPr>
              <a:t/>
            </a:r>
          </a:p>
        </p:txBody>
      </p:sp>
      <p:sp>
        <p:nvSpPr>
          <p:cNvPr id="31" name="s31"/>
          <p:cNvSpPr/>
          <p:nvPr/>
        </p:nvSpPr>
        <p:spPr>
          <a:xfrm>
            <a:off x="8074640" y="4760000"/>
            <a:ext cx="3477280" cy="1150000"/>
          </a:xfrm>
          <a:prstGeom prst="rect">
            <a:avLst/>
          </a:prstGeom>
          <a:noFill/>
          <a:ln>
            <a:noFill/>
          </a:ln>
        </p:spPr>
        <p:txBody>
          <a:bodyPr wrap="square" lIns="140000" tIns="45720" rIns="140000" bIns="45720" anchor="t">
            <a:normAutofit/>
          </a:bodyPr>
          <a:lstStyle/>
          <a:p>
            <a:pPr algn="l">
              <a:buNone/>
            </a:pPr>
            <a:r>
              <a:rPr lang="fr-FR" sz="1200" b="0" i="0">
                <a:solidFill>
                  <a:srgbClr val="44495A"/>
                </a:solidFill>
                <a:latin typeface="Arial"/>
              </a:rPr>
              <a:t>• ajout sans refonte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A"/>
        </a:solidFill>
        <a:effectLst/>
      </p:bgPr>
    </p:bg>
    <p:spTree>
      <p:sp>
        <p:nvSpPr>
          <p:cNvPr id="2" name="s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txBody>
          <a:bodyPr/>
          <a:lstStyle/>
          <a:p>
            <a:endParaRPr lang="fr-FR"/>
          </a:p>
        </p:txBody>
      </p:sp>
      <p:sp>
        <p:nvSpPr>
          <p:cNvPr id="3" name="s3"/>
          <p:cNvSpPr/>
          <p:nvPr/>
        </p:nvSpPr>
        <p:spPr>
          <a:xfrm>
            <a:off x="640080" y="470000"/>
            <a:ext cx="10911840" cy="30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>
            <a:normAutofit/>
          </a:bodyPr>
          <a:lstStyle/>
          <a:p>
            <a:pPr algn="l">
              <a:buNone/>
            </a:pPr>
            <a:r>
              <a:rPr lang="fr-FR" sz="1200" b="1" i="0">
                <a:solidFill>
                  <a:srgbClr val="9A7B12"/>
                </a:solidFill>
                <a:latin typeface="Arial"/>
              </a:rPr>
              <a:t>08 · CONCEPTION</a:t>
            </a:r>
          </a:p>
        </p:txBody>
      </p:sp>
      <p:sp>
        <p:nvSpPr>
          <p:cNvPr id="4" name="s4"/>
          <p:cNvSpPr/>
          <p:nvPr/>
        </p:nvSpPr>
        <p:spPr>
          <a:xfrm>
            <a:off x="630080" y="720000"/>
            <a:ext cx="10911840" cy="90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>
            <a:normAutofit/>
          </a:bodyPr>
          <a:lstStyle/>
          <a:p>
            <a:pPr algn="l">
              <a:buNone/>
            </a:pPr>
            <a:r>
              <a:rPr lang="fr-FR" sz="3200" b="1" i="0">
                <a:solidFill>
                  <a:srgbClr val="1C2A5E"/>
                </a:solidFill>
                <a:latin typeface="Arial"/>
              </a:rPr>
              <a:t>Diagramme de cas d'utilisation</a:t>
            </a:r>
          </a:p>
        </p:txBody>
      </p:sp>
      <p:sp>
        <p:nvSpPr>
          <p:cNvPr id="5" name="s5"/>
          <p:cNvSpPr/>
          <p:nvPr/>
        </p:nvSpPr>
        <p:spPr>
          <a:xfrm>
            <a:off x="640080" y="1640000"/>
            <a:ext cx="1500000" cy="90000"/>
          </a:xfrm>
          <a:prstGeom prst="rect">
            <a:avLst/>
          </a:prstGeom>
          <a:solidFill>
            <a:srgbClr val="F4C400"/>
          </a:solidFill>
          <a:ln>
            <a:noFill/>
          </a:ln>
        </p:spPr>
        <p:txBody>
          <a:bodyPr/>
          <a:lstStyle/>
          <a:p>
            <a:endParaRPr lang="fr-FR"/>
          </a:p>
        </p:txBody>
      </p:sp>
      <p:sp>
        <p:nvSpPr>
          <p:cNvPr id="6" name="s6"/>
          <p:cNvSpPr/>
          <p:nvPr/>
        </p:nvSpPr>
        <p:spPr>
          <a:xfrm>
            <a:off x="640080" y="6380000"/>
            <a:ext cx="8000000" cy="30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rmAutofit/>
          </a:bodyPr>
          <a:lstStyle/>
          <a:p>
            <a:pPr algn="l">
              <a:buNone/>
            </a:pPr>
            <a:r>
              <a:rPr lang="fr-FR" sz="1000" b="0" i="0">
                <a:solidFill>
                  <a:srgbClr val="8A90A0"/>
                </a:solidFill>
                <a:latin typeface="Arial"/>
              </a:rPr>
              <a:t>e-Boutique — La Poste Tunisienne</a:t>
            </a:r>
          </a:p>
        </p:txBody>
      </p:sp>
      <p:sp>
        <p:nvSpPr>
          <p:cNvPr id="7" name="s7"/>
          <p:cNvSpPr/>
          <p:nvPr/>
        </p:nvSpPr>
        <p:spPr>
          <a:xfrm>
            <a:off x="10992000" y="6360000"/>
            <a:ext cx="560000" cy="340000"/>
          </a:xfrm>
          <a:prstGeom prst="roundRect">
            <a:avLst>
              <a:gd name="adj" fmla="val 25000"/>
            </a:avLst>
          </a:prstGeom>
          <a:solidFill>
            <a:srgbClr val="1C2A5E"/>
          </a:solidFill>
          <a:ln>
            <a:noFill/>
          </a:ln>
        </p:spPr>
        <p:txBody>
          <a:bodyPr wrap="square" lIns="91440" tIns="0" rIns="91440" bIns="0" anchor="ctr">
            <a:normAutofit/>
          </a:bodyPr>
          <a:lstStyle/>
          <a:p>
            <a:pPr algn="ctr">
              <a:buNone/>
            </a:pPr>
            <a:r>
              <a:rPr lang="fr-FR" sz="1100" b="1" i="0">
                <a:solidFill>
                  <a:srgbClr val="FFFFFF"/>
                </a:solidFill>
                <a:latin typeface="Arial"/>
              </a:rPr>
              <a:t>13</a:t>
            </a:r>
          </a:p>
        </p:txBody>
      </p:sp>
      <p:sp>
        <p:nvSpPr>
          <p:cNvPr id="8" name="s8"/>
          <p:cNvSpPr/>
          <p:nvPr/>
        </p:nvSpPr>
        <p:spPr>
          <a:xfrm>
            <a:off x="640080" y="1980000"/>
            <a:ext cx="6300000" cy="4050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8DEE9"/>
            </a:solidFill>
          </a:ln>
          <a:effectLst>
            <a:outerShdw blurRad="90000" dist="38100" dir="5400000" rotWithShape="0">
              <a:srgbClr val="1C2A5E">
                <a:alpha val="18000"/>
              </a:srgbClr>
            </a:outerShdw>
          </a:effectLst>
        </p:spPr>
        <p:txBody>
          <a:bodyPr wrap="square" lIns="91440" tIns="45720" rIns="91440" bIns="45720" anchor="ctr">
            <a:normAutofit/>
          </a:bodyPr>
          <a:lstStyle/>
          <a:p>
            <a:pPr algn="ctr">
              <a:buNone/>
            </a:pPr>
            <a:r>
              <a:rPr lang="fr-FR" sz="1400" b="1" i="1">
                <a:solidFill>
                  <a:srgbClr val="9AA3B2"/>
                </a:solidFill>
                <a:latin typeface="Arial"/>
              </a:rPr>
              <a:t>[ Insérer ici le diagramme de cas d'utilisation ]</a:t>
            </a:r>
          </a:p>
        </p:txBody>
      </p:sp>
      <p:sp>
        <p:nvSpPr>
          <p:cNvPr id="9" name="s9"/>
          <p:cNvSpPr/>
          <p:nvPr/>
        </p:nvSpPr>
        <p:spPr>
          <a:xfrm>
            <a:off x="640080" y="2100000"/>
            <a:ext cx="10911840" cy="300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>
            <a:normAutofit/>
          </a:bodyPr>
          <a:lstStyle/>
          <a:p>
            <a:pPr algn="l" marL="228600" indent="-228600">
              <a:buFont typeface="Arial"/>
              <a:buChar char="•"/>
            </a:pPr>
            <a:r>
              <a:rPr lang="fr-FR" sz="1300" b="0" i="0">
                <a:solidFill>
                  <a:srgbClr val="44495A"/>
                </a:solidFill>
                <a:latin typeface="Arial"/>
              </a:rPr>
              <a:t>Acteurs : Visiteur, Client, Agent, Livreur, Administrateur</a:t>
            </a:r>
          </a:p>
          <a:p>
            <a:pPr algn="l" marL="228600" indent="-228600">
              <a:spcBef>
                <a:spcPts val="700"/>
              </a:spcBef>
              <a:buFont typeface="Arial"/>
              <a:buChar char="•"/>
            </a:pPr>
            <a:r>
              <a:rPr lang="fr-FR" sz="1300" b="0" i="0">
                <a:solidFill>
                  <a:srgbClr val="44495A"/>
                </a:solidFill>
                <a:latin typeface="Arial"/>
              </a:rPr>
              <a:t>Acheter / Déposer un colis</a:t>
            </a:r>
          </a:p>
          <a:p>
            <a:pPr algn="l" marL="228600" indent="-228600">
              <a:spcBef>
                <a:spcPts val="700"/>
              </a:spcBef>
              <a:buFont typeface="Arial"/>
              <a:buChar char="•"/>
            </a:pPr>
            <a:r>
              <a:rPr lang="fr-FR" sz="1300" b="0" i="0">
                <a:solidFill>
                  <a:srgbClr val="44495A"/>
                </a:solidFill>
                <a:latin typeface="Arial"/>
              </a:rPr>
              <a:t>Suivre un colis</a:t>
            </a:r>
          </a:p>
          <a:p>
            <a:pPr algn="l" marL="228600" indent="-228600">
              <a:spcBef>
                <a:spcPts val="700"/>
              </a:spcBef>
              <a:buFont typeface="Arial"/>
              <a:buChar char="•"/>
            </a:pPr>
            <a:r>
              <a:rPr lang="fr-FR" sz="1300" b="0" i="0">
                <a:solidFill>
                  <a:srgbClr val="44495A"/>
                </a:solidFill>
                <a:latin typeface="Arial"/>
              </a:rPr>
              <a:t>Payer (e-Dinar)</a:t>
            </a:r>
          </a:p>
          <a:p>
            <a:pPr algn="l" marL="228600" indent="-228600">
              <a:spcBef>
                <a:spcPts val="700"/>
              </a:spcBef>
              <a:buFont typeface="Arial"/>
              <a:buChar char="•"/>
            </a:pPr>
            <a:r>
              <a:rPr lang="fr-FR" sz="1300" b="0" i="0">
                <a:solidFill>
                  <a:srgbClr val="44495A"/>
                </a:solidFill>
                <a:latin typeface="Arial"/>
              </a:rPr>
              <a:t>Changer le statut du colis</a:t>
            </a:r>
          </a:p>
          <a:p>
            <a:pPr algn="l" marL="228600" indent="-228600">
              <a:spcBef>
                <a:spcPts val="700"/>
              </a:spcBef>
              <a:buFont typeface="Arial"/>
              <a:buChar char="•"/>
            </a:pPr>
            <a:r>
              <a:rPr lang="fr-FR" sz="1300" b="0" i="0">
                <a:solidFill>
                  <a:srgbClr val="44495A"/>
                </a:solidFill>
                <a:latin typeface="Arial"/>
              </a:rPr>
              <a:t>Gérer (utilisateurs, bureaux)</a:t>
            </a:r>
          </a:p>
        </p:txBody>
      </p:sp>
      <p:sp>
        <p:nvSpPr>
          <p:cNvPr id="10" name="s10"/>
          <p:cNvSpPr/>
          <p:nvPr/>
        </p:nvSpPr>
        <p:spPr>
          <a:xfrm>
            <a:off x="7000000" y="1980000"/>
            <a:ext cx="4180000" cy="4050000"/>
          </a:xfrm>
          <a:prstGeom prst="roundRect">
            <a:avLst>
              <a:gd name="adj" fmla="val 5000"/>
            </a:avLst>
          </a:prstGeom>
          <a:solidFill>
            <a:srgbClr val="1C2A5E"/>
          </a:solidFill>
          <a:ln>
            <a:noFill/>
          </a:ln>
          <a:effectLst>
            <a:outerShdw blurRad="90000" dist="38100" dir="5400000" rotWithShape="0">
              <a:srgbClr val="1C2A5E">
                <a:alpha val="18000"/>
              </a:srgbClr>
            </a:outerShdw>
          </a:effectLst>
        </p:spPr>
        <p:txBody>
          <a:bodyPr wrap="square" lIns="300000" tIns="45720" rIns="300000" bIns="45720" anchor="ctr">
            <a:normAutofit/>
          </a:bodyPr>
          <a:lstStyle/>
          <a:p>
            <a:pPr algn="ctr">
              <a:buNone/>
            </a:pPr>
            <a:r>
              <a:rPr lang="fr-FR" sz="1600" b="1" i="0">
                <a:solidFill>
                  <a:srgbClr val="F4C400"/>
                </a:solidFill>
                <a:latin typeface="Arial"/>
              </a:rPr>
              <a:t>« include » Authentification</a:t>
            </a:r>
          </a:p>
          <a:p>
            <a:pPr algn="ctr">
              <a:spcBef>
                <a:spcPts val="500"/>
              </a:spcBef>
              <a:buNone/>
            </a:pPr>
            <a:r>
              <a:rPr lang="fr-FR" sz="1300" b="0" i="0">
                <a:solidFill>
                  <a:srgbClr val="FFFFFF"/>
                </a:solidFill>
                <a:latin typeface="Arial"/>
              </a:rPr>
              <a:t>Tous les cas nécessitant une connexion incluent l'authentification (2FA pour les admins).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A"/>
        </a:solidFill>
        <a:effectLst/>
      </p:bgPr>
    </p:bg>
    <p:spTree>
      <p:sp>
        <p:nvSpPr>
          <p:cNvPr id="2" name="s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txBody>
          <a:bodyPr/>
          <a:lstStyle/>
          <a:p>
            <a:endParaRPr lang="fr-FR"/>
          </a:p>
        </p:txBody>
      </p:sp>
      <p:sp>
        <p:nvSpPr>
          <p:cNvPr id="3" name="s3"/>
          <p:cNvSpPr/>
          <p:nvPr/>
        </p:nvSpPr>
        <p:spPr>
          <a:xfrm>
            <a:off x="640080" y="470000"/>
            <a:ext cx="10911840" cy="30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>
            <a:normAutofit/>
          </a:bodyPr>
          <a:lstStyle/>
          <a:p>
            <a:pPr algn="l">
              <a:buNone/>
            </a:pPr>
            <a:r>
              <a:rPr lang="fr-FR" sz="1200" b="1" i="0">
                <a:solidFill>
                  <a:srgbClr val="9A7B12"/>
                </a:solidFill>
                <a:latin typeface="Arial"/>
              </a:rPr>
              <a:t>09 · CONCEPTION</a:t>
            </a:r>
          </a:p>
        </p:txBody>
      </p:sp>
      <p:sp>
        <p:nvSpPr>
          <p:cNvPr id="4" name="s4"/>
          <p:cNvSpPr/>
          <p:nvPr/>
        </p:nvSpPr>
        <p:spPr>
          <a:xfrm>
            <a:off x="630080" y="720000"/>
            <a:ext cx="10911840" cy="90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>
            <a:normAutofit/>
          </a:bodyPr>
          <a:lstStyle/>
          <a:p>
            <a:pPr algn="l">
              <a:buNone/>
            </a:pPr>
            <a:r>
              <a:rPr lang="fr-FR" sz="3200" b="1" i="0">
                <a:solidFill>
                  <a:srgbClr val="1C2A5E"/>
                </a:solidFill>
                <a:latin typeface="Arial"/>
              </a:rPr>
              <a:t>Diagramme de classes d'analyse</a:t>
            </a:r>
          </a:p>
        </p:txBody>
      </p:sp>
      <p:sp>
        <p:nvSpPr>
          <p:cNvPr id="5" name="s5"/>
          <p:cNvSpPr/>
          <p:nvPr/>
        </p:nvSpPr>
        <p:spPr>
          <a:xfrm>
            <a:off x="640080" y="1640000"/>
            <a:ext cx="1500000" cy="90000"/>
          </a:xfrm>
          <a:prstGeom prst="rect">
            <a:avLst/>
          </a:prstGeom>
          <a:solidFill>
            <a:srgbClr val="F4C400"/>
          </a:solidFill>
          <a:ln>
            <a:noFill/>
          </a:ln>
        </p:spPr>
        <p:txBody>
          <a:bodyPr/>
          <a:lstStyle/>
          <a:p>
            <a:endParaRPr lang="fr-FR"/>
          </a:p>
        </p:txBody>
      </p:sp>
      <p:sp>
        <p:nvSpPr>
          <p:cNvPr id="6" name="s6"/>
          <p:cNvSpPr/>
          <p:nvPr/>
        </p:nvSpPr>
        <p:spPr>
          <a:xfrm>
            <a:off x="640080" y="6380000"/>
            <a:ext cx="8000000" cy="30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rmAutofit/>
          </a:bodyPr>
          <a:lstStyle/>
          <a:p>
            <a:pPr algn="l">
              <a:buNone/>
            </a:pPr>
            <a:r>
              <a:rPr lang="fr-FR" sz="1000" b="0" i="0">
                <a:solidFill>
                  <a:srgbClr val="8A90A0"/>
                </a:solidFill>
                <a:latin typeface="Arial"/>
              </a:rPr>
              <a:t>e-Boutique — La Poste Tunisienne</a:t>
            </a:r>
          </a:p>
        </p:txBody>
      </p:sp>
      <p:sp>
        <p:nvSpPr>
          <p:cNvPr id="7" name="s7"/>
          <p:cNvSpPr/>
          <p:nvPr/>
        </p:nvSpPr>
        <p:spPr>
          <a:xfrm>
            <a:off x="10992000" y="6360000"/>
            <a:ext cx="560000" cy="340000"/>
          </a:xfrm>
          <a:prstGeom prst="roundRect">
            <a:avLst>
              <a:gd name="adj" fmla="val 25000"/>
            </a:avLst>
          </a:prstGeom>
          <a:solidFill>
            <a:srgbClr val="1C2A5E"/>
          </a:solidFill>
          <a:ln>
            <a:noFill/>
          </a:ln>
        </p:spPr>
        <p:txBody>
          <a:bodyPr wrap="square" lIns="91440" tIns="0" rIns="91440" bIns="0" anchor="ctr">
            <a:normAutofit/>
          </a:bodyPr>
          <a:lstStyle/>
          <a:p>
            <a:pPr algn="ctr">
              <a:buNone/>
            </a:pPr>
            <a:r>
              <a:rPr lang="fr-FR" sz="1100" b="1" i="0">
                <a:solidFill>
                  <a:srgbClr val="FFFFFF"/>
                </a:solidFill>
                <a:latin typeface="Arial"/>
              </a:rPr>
              <a:t>14</a:t>
            </a:r>
          </a:p>
        </p:txBody>
      </p:sp>
      <p:sp>
        <p:nvSpPr>
          <p:cNvPr id="8" name="s8"/>
          <p:cNvSpPr/>
          <p:nvPr/>
        </p:nvSpPr>
        <p:spPr>
          <a:xfrm>
            <a:off x="640080" y="2050000"/>
            <a:ext cx="2038368" cy="345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8DEE9"/>
            </a:solidFill>
          </a:ln>
          <a:effectLst>
            <a:outerShdw blurRad="90000" dist="38100" dir="5400000" rotWithShape="0">
              <a:srgbClr val="1C2A5E">
                <a:alpha val="1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9" name="s9"/>
          <p:cNvSpPr/>
          <p:nvPr/>
        </p:nvSpPr>
        <p:spPr>
          <a:xfrm>
            <a:off x="640080" y="2050000"/>
            <a:ext cx="2038368" cy="560000"/>
          </a:xfrm>
          <a:prstGeom prst="roundRect">
            <a:avLst>
              <a:gd name="adj" fmla="val 6000"/>
            </a:avLst>
          </a:prstGeom>
          <a:solidFill>
            <a:srgbClr val="1C2A5E"/>
          </a:solidFill>
          <a:ln>
            <a:noFill/>
          </a:ln>
        </p:spPr>
        <p:txBody>
          <a:bodyPr wrap="square" lIns="91440" tIns="45720" rIns="91440" bIns="45720" anchor="ctr">
            <a:normAutofit/>
          </a:bodyPr>
          <a:lstStyle/>
          <a:p>
            <a:pPr algn="l">
              <a:buNone/>
            </a:pPr>
            <a:r>
              <a:rPr lang="fr-FR" sz="1400" b="1" i="0">
                <a:solidFill>
                  <a:srgbClr val="FFFFFF"/>
                </a:solidFill>
                <a:latin typeface="Arial"/>
              </a:rPr>
              <a:t>User</a:t>
            </a:r>
          </a:p>
        </p:txBody>
      </p:sp>
      <p:sp>
        <p:nvSpPr>
          <p:cNvPr id="10" name="s10"/>
          <p:cNvSpPr/>
          <p:nvPr/>
        </p:nvSpPr>
        <p:spPr>
          <a:xfrm>
            <a:off x="640080" y="2350000"/>
            <a:ext cx="2038368" cy="260000"/>
          </a:xfrm>
          <a:prstGeom prst="rect">
            <a:avLst/>
          </a:prstGeom>
          <a:solidFill>
            <a:srgbClr val="1C2A5E"/>
          </a:solidFill>
          <a:ln>
            <a:noFill/>
          </a:ln>
        </p:spPr>
        <p:txBody>
          <a:bodyPr wrap="square" lIns="91440" tIns="45720" rIns="91440" bIns="45720" anchor="t">
            <a:normAutofit/>
          </a:bodyPr>
          <a:lstStyle/>
          <a:p>
            <a:pPr algn="l">
              <a:buNone/>
            </a:pPr>
            <a:r>
              <a:rPr lang="fr-FR" sz="100" b="0" i="0">
                <a:solidFill>
                  <a:srgbClr val="FFFFFF"/>
                </a:solidFill>
                <a:latin typeface="Arial"/>
              </a:rPr>
              <a:t/>
            </a:r>
          </a:p>
        </p:txBody>
      </p:sp>
      <p:sp>
        <p:nvSpPr>
          <p:cNvPr id="11" name="s11"/>
          <p:cNvSpPr/>
          <p:nvPr/>
        </p:nvSpPr>
        <p:spPr>
          <a:xfrm>
            <a:off x="640080" y="2690000"/>
            <a:ext cx="2038368" cy="2770000"/>
          </a:xfrm>
          <a:prstGeom prst="rect">
            <a:avLst/>
          </a:prstGeom>
          <a:noFill/>
          <a:ln>
            <a:noFill/>
          </a:ln>
        </p:spPr>
        <p:txBody>
          <a:bodyPr wrap="square" lIns="140000" tIns="45720" rIns="140000" bIns="45720" anchor="t">
            <a:normAutofit/>
          </a:bodyPr>
          <a:lstStyle/>
          <a:p>
            <a:pPr algn="l">
              <a:buNone/>
            </a:pPr>
            <a:r>
              <a:rPr lang="fr-FR" sz="1200" b="0" i="0">
                <a:solidFill>
                  <a:srgbClr val="44495A"/>
                </a:solidFill>
                <a:latin typeface="Arial"/>
              </a:rPr>
              <a:t>• + id</a:t>
            </a:r>
          </a:p>
          <a:p>
            <a:pPr algn="l">
              <a:spcBef>
                <a:spcPts val="600"/>
              </a:spcBef>
              <a:buNone/>
            </a:pPr>
            <a:r>
              <a:rPr lang="fr-FR" sz="1200" b="0" i="0">
                <a:solidFill>
                  <a:srgbClr val="44495A"/>
                </a:solidFill>
                <a:latin typeface="Arial"/>
              </a:rPr>
              <a:t>• + email</a:t>
            </a:r>
          </a:p>
          <a:p>
            <a:pPr algn="l">
              <a:spcBef>
                <a:spcPts val="600"/>
              </a:spcBef>
              <a:buNone/>
            </a:pPr>
            <a:r>
              <a:rPr lang="fr-FR" sz="1200" b="0" i="0">
                <a:solidFill>
                  <a:srgbClr val="44495A"/>
                </a:solidFill>
                <a:latin typeface="Arial"/>
              </a:rPr>
              <a:t>• + role</a:t>
            </a:r>
          </a:p>
          <a:p>
            <a:pPr algn="l">
              <a:spcBef>
                <a:spcPts val="600"/>
              </a:spcBef>
              <a:buNone/>
            </a:pPr>
            <a:r>
              <a:rPr lang="fr-FR" sz="1200" b="0" i="0">
                <a:solidFill>
                  <a:srgbClr val="44495A"/>
                </a:solidFill>
                <a:latin typeface="Arial"/>
              </a:rPr>
              <a:t>★ twofaEnabled</a:t>
            </a:r>
          </a:p>
        </p:txBody>
      </p:sp>
      <p:sp>
        <p:nvSpPr>
          <p:cNvPr id="12" name="s12"/>
          <p:cNvSpPr/>
          <p:nvPr/>
        </p:nvSpPr>
        <p:spPr>
          <a:xfrm>
            <a:off x="2858448" y="2050000"/>
            <a:ext cx="2038368" cy="345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8DEE9"/>
            </a:solidFill>
          </a:ln>
          <a:effectLst>
            <a:outerShdw blurRad="90000" dist="38100" dir="5400000" rotWithShape="0">
              <a:srgbClr val="1C2A5E">
                <a:alpha val="1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3" name="s13"/>
          <p:cNvSpPr/>
          <p:nvPr/>
        </p:nvSpPr>
        <p:spPr>
          <a:xfrm>
            <a:off x="2858448" y="2050000"/>
            <a:ext cx="2038368" cy="560000"/>
          </a:xfrm>
          <a:prstGeom prst="roundRect">
            <a:avLst>
              <a:gd name="adj" fmla="val 6000"/>
            </a:avLst>
          </a:prstGeom>
          <a:solidFill>
            <a:srgbClr val="1C2A5E"/>
          </a:solidFill>
          <a:ln>
            <a:noFill/>
          </a:ln>
        </p:spPr>
        <p:txBody>
          <a:bodyPr wrap="square" lIns="91440" tIns="45720" rIns="91440" bIns="45720" anchor="ctr">
            <a:normAutofit/>
          </a:bodyPr>
          <a:lstStyle/>
          <a:p>
            <a:pPr algn="l">
              <a:buNone/>
            </a:pPr>
            <a:r>
              <a:rPr lang="fr-FR" sz="1400" b="1" i="0">
                <a:solidFill>
                  <a:srgbClr val="FFFFFF"/>
                </a:solidFill>
                <a:latin typeface="Arial"/>
              </a:rPr>
              <a:t>Order</a:t>
            </a:r>
          </a:p>
        </p:txBody>
      </p:sp>
      <p:sp>
        <p:nvSpPr>
          <p:cNvPr id="14" name="s14"/>
          <p:cNvSpPr/>
          <p:nvPr/>
        </p:nvSpPr>
        <p:spPr>
          <a:xfrm>
            <a:off x="2858448" y="2350000"/>
            <a:ext cx="2038368" cy="260000"/>
          </a:xfrm>
          <a:prstGeom prst="rect">
            <a:avLst/>
          </a:prstGeom>
          <a:solidFill>
            <a:srgbClr val="1C2A5E"/>
          </a:solidFill>
          <a:ln>
            <a:noFill/>
          </a:ln>
        </p:spPr>
        <p:txBody>
          <a:bodyPr wrap="square" lIns="91440" tIns="45720" rIns="91440" bIns="45720" anchor="t">
            <a:normAutofit/>
          </a:bodyPr>
          <a:lstStyle/>
          <a:p>
            <a:pPr algn="l">
              <a:buNone/>
            </a:pPr>
            <a:r>
              <a:rPr lang="fr-FR" sz="100" b="0" i="0">
                <a:solidFill>
                  <a:srgbClr val="FFFFFF"/>
                </a:solidFill>
                <a:latin typeface="Arial"/>
              </a:rPr>
              <a:t/>
            </a:r>
          </a:p>
        </p:txBody>
      </p:sp>
      <p:sp>
        <p:nvSpPr>
          <p:cNvPr id="15" name="s15"/>
          <p:cNvSpPr/>
          <p:nvPr/>
        </p:nvSpPr>
        <p:spPr>
          <a:xfrm>
            <a:off x="2858448" y="2690000"/>
            <a:ext cx="2038368" cy="2770000"/>
          </a:xfrm>
          <a:prstGeom prst="rect">
            <a:avLst/>
          </a:prstGeom>
          <a:noFill/>
          <a:ln>
            <a:noFill/>
          </a:ln>
        </p:spPr>
        <p:txBody>
          <a:bodyPr wrap="square" lIns="140000" tIns="45720" rIns="140000" bIns="45720" anchor="t">
            <a:normAutofit/>
          </a:bodyPr>
          <a:lstStyle/>
          <a:p>
            <a:pPr algn="l">
              <a:buNone/>
            </a:pPr>
            <a:r>
              <a:rPr lang="fr-FR" sz="1200" b="0" i="0">
                <a:solidFill>
                  <a:srgbClr val="44495A"/>
                </a:solidFill>
                <a:latin typeface="Arial"/>
              </a:rPr>
              <a:t>• + reference</a:t>
            </a:r>
          </a:p>
          <a:p>
            <a:pPr algn="l">
              <a:spcBef>
                <a:spcPts val="600"/>
              </a:spcBef>
              <a:buNone/>
            </a:pPr>
            <a:r>
              <a:rPr lang="fr-FR" sz="1200" b="0" i="0">
                <a:solidFill>
                  <a:srgbClr val="44495A"/>
                </a:solidFill>
                <a:latin typeface="Arial"/>
              </a:rPr>
              <a:t>• + status</a:t>
            </a:r>
          </a:p>
          <a:p>
            <a:pPr algn="l">
              <a:spcBef>
                <a:spcPts val="600"/>
              </a:spcBef>
              <a:buNone/>
            </a:pPr>
            <a:r>
              <a:rPr lang="fr-FR" sz="1200" b="0" i="0">
                <a:solidFill>
                  <a:srgbClr val="44495A"/>
                </a:solidFill>
                <a:latin typeface="Arial"/>
              </a:rPr>
              <a:t>• + amount</a:t>
            </a:r>
          </a:p>
          <a:p>
            <a:pPr algn="l">
              <a:spcBef>
                <a:spcPts val="600"/>
              </a:spcBef>
              <a:buNone/>
            </a:pPr>
            <a:r>
              <a:rPr lang="fr-FR" sz="1200" b="0" i="0">
                <a:solidFill>
                  <a:srgbClr val="44495A"/>
                </a:solidFill>
                <a:latin typeface="Arial"/>
              </a:rPr>
              <a:t>• + bureauId</a:t>
            </a:r>
          </a:p>
        </p:txBody>
      </p:sp>
      <p:sp>
        <p:nvSpPr>
          <p:cNvPr id="16" name="s16"/>
          <p:cNvSpPr/>
          <p:nvPr/>
        </p:nvSpPr>
        <p:spPr>
          <a:xfrm>
            <a:off x="5076816" y="2050000"/>
            <a:ext cx="2038368" cy="345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8DEE9"/>
            </a:solidFill>
          </a:ln>
          <a:effectLst>
            <a:outerShdw blurRad="90000" dist="38100" dir="5400000" rotWithShape="0">
              <a:srgbClr val="1C2A5E">
                <a:alpha val="1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7" name="s17"/>
          <p:cNvSpPr/>
          <p:nvPr/>
        </p:nvSpPr>
        <p:spPr>
          <a:xfrm>
            <a:off x="5076816" y="2050000"/>
            <a:ext cx="2038368" cy="560000"/>
          </a:xfrm>
          <a:prstGeom prst="roundRect">
            <a:avLst>
              <a:gd name="adj" fmla="val 6000"/>
            </a:avLst>
          </a:prstGeom>
          <a:solidFill>
            <a:srgbClr val="1C2A5E"/>
          </a:solidFill>
          <a:ln>
            <a:noFill/>
          </a:ln>
        </p:spPr>
        <p:txBody>
          <a:bodyPr wrap="square" lIns="91440" tIns="45720" rIns="91440" bIns="45720" anchor="ctr">
            <a:normAutofit/>
          </a:bodyPr>
          <a:lstStyle/>
          <a:p>
            <a:pPr algn="l">
              <a:buNone/>
            </a:pPr>
            <a:r>
              <a:rPr lang="fr-FR" sz="1400" b="1" i="0">
                <a:solidFill>
                  <a:srgbClr val="FFFFFF"/>
                </a:solidFill>
                <a:latin typeface="Arial"/>
              </a:rPr>
              <a:t>Product</a:t>
            </a:r>
          </a:p>
        </p:txBody>
      </p:sp>
      <p:sp>
        <p:nvSpPr>
          <p:cNvPr id="18" name="s18"/>
          <p:cNvSpPr/>
          <p:nvPr/>
        </p:nvSpPr>
        <p:spPr>
          <a:xfrm>
            <a:off x="5076816" y="2350000"/>
            <a:ext cx="2038368" cy="260000"/>
          </a:xfrm>
          <a:prstGeom prst="rect">
            <a:avLst/>
          </a:prstGeom>
          <a:solidFill>
            <a:srgbClr val="1C2A5E"/>
          </a:solidFill>
          <a:ln>
            <a:noFill/>
          </a:ln>
        </p:spPr>
        <p:txBody>
          <a:bodyPr wrap="square" lIns="91440" tIns="45720" rIns="91440" bIns="45720" anchor="t">
            <a:normAutofit/>
          </a:bodyPr>
          <a:lstStyle/>
          <a:p>
            <a:pPr algn="l">
              <a:buNone/>
            </a:pPr>
            <a:r>
              <a:rPr lang="fr-FR" sz="100" b="0" i="0">
                <a:solidFill>
                  <a:srgbClr val="FFFFFF"/>
                </a:solidFill>
                <a:latin typeface="Arial"/>
              </a:rPr>
              <a:t/>
            </a:r>
          </a:p>
        </p:txBody>
      </p:sp>
      <p:sp>
        <p:nvSpPr>
          <p:cNvPr id="19" name="s19"/>
          <p:cNvSpPr/>
          <p:nvPr/>
        </p:nvSpPr>
        <p:spPr>
          <a:xfrm>
            <a:off x="5076816" y="2690000"/>
            <a:ext cx="2038368" cy="2770000"/>
          </a:xfrm>
          <a:prstGeom prst="rect">
            <a:avLst/>
          </a:prstGeom>
          <a:noFill/>
          <a:ln>
            <a:noFill/>
          </a:ln>
        </p:spPr>
        <p:txBody>
          <a:bodyPr wrap="square" lIns="140000" tIns="45720" rIns="140000" bIns="45720" anchor="t">
            <a:normAutofit/>
          </a:bodyPr>
          <a:lstStyle/>
          <a:p>
            <a:pPr algn="l">
              <a:buNone/>
            </a:pPr>
            <a:r>
              <a:rPr lang="fr-FR" sz="1200" b="0" i="0">
                <a:solidFill>
                  <a:srgbClr val="44495A"/>
                </a:solidFill>
                <a:latin typeface="Arial"/>
              </a:rPr>
              <a:t>• + name</a:t>
            </a:r>
          </a:p>
          <a:p>
            <a:pPr algn="l">
              <a:spcBef>
                <a:spcPts val="600"/>
              </a:spcBef>
              <a:buNone/>
            </a:pPr>
            <a:r>
              <a:rPr lang="fr-FR" sz="1200" b="0" i="0">
                <a:solidFill>
                  <a:srgbClr val="44495A"/>
                </a:solidFill>
                <a:latin typeface="Arial"/>
              </a:rPr>
              <a:t>• + category</a:t>
            </a:r>
          </a:p>
          <a:p>
            <a:pPr algn="l">
              <a:spcBef>
                <a:spcPts val="600"/>
              </a:spcBef>
              <a:buNone/>
            </a:pPr>
            <a:r>
              <a:rPr lang="fr-FR" sz="1200" b="0" i="0">
                <a:solidFill>
                  <a:srgbClr val="44495A"/>
                </a:solidFill>
                <a:latin typeface="Arial"/>
              </a:rPr>
              <a:t>• + price</a:t>
            </a:r>
          </a:p>
        </p:txBody>
      </p:sp>
      <p:sp>
        <p:nvSpPr>
          <p:cNvPr id="20" name="s20"/>
          <p:cNvSpPr/>
          <p:nvPr/>
        </p:nvSpPr>
        <p:spPr>
          <a:xfrm>
            <a:off x="7295184" y="2050000"/>
            <a:ext cx="2038368" cy="345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8DEE9"/>
            </a:solidFill>
          </a:ln>
          <a:effectLst>
            <a:outerShdw blurRad="90000" dist="38100" dir="5400000" rotWithShape="0">
              <a:srgbClr val="1C2A5E">
                <a:alpha val="1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1" name="s21"/>
          <p:cNvSpPr/>
          <p:nvPr/>
        </p:nvSpPr>
        <p:spPr>
          <a:xfrm>
            <a:off x="7295184" y="2050000"/>
            <a:ext cx="2038368" cy="560000"/>
          </a:xfrm>
          <a:prstGeom prst="roundRect">
            <a:avLst>
              <a:gd name="adj" fmla="val 6000"/>
            </a:avLst>
          </a:prstGeom>
          <a:solidFill>
            <a:srgbClr val="1C2A5E"/>
          </a:solidFill>
          <a:ln>
            <a:noFill/>
          </a:ln>
        </p:spPr>
        <p:txBody>
          <a:bodyPr wrap="square" lIns="91440" tIns="45720" rIns="91440" bIns="45720" anchor="ctr">
            <a:normAutofit/>
          </a:bodyPr>
          <a:lstStyle/>
          <a:p>
            <a:pPr algn="l">
              <a:buNone/>
            </a:pPr>
            <a:r>
              <a:rPr lang="fr-FR" sz="1400" b="1" i="0">
                <a:solidFill>
                  <a:srgbClr val="FFFFFF"/>
                </a:solidFill>
                <a:latin typeface="Arial"/>
              </a:rPr>
              <a:t>Bureau</a:t>
            </a:r>
          </a:p>
        </p:txBody>
      </p:sp>
      <p:sp>
        <p:nvSpPr>
          <p:cNvPr id="22" name="s22"/>
          <p:cNvSpPr/>
          <p:nvPr/>
        </p:nvSpPr>
        <p:spPr>
          <a:xfrm>
            <a:off x="7295184" y="2350000"/>
            <a:ext cx="2038368" cy="260000"/>
          </a:xfrm>
          <a:prstGeom prst="rect">
            <a:avLst/>
          </a:prstGeom>
          <a:solidFill>
            <a:srgbClr val="1C2A5E"/>
          </a:solidFill>
          <a:ln>
            <a:noFill/>
          </a:ln>
        </p:spPr>
        <p:txBody>
          <a:bodyPr wrap="square" lIns="91440" tIns="45720" rIns="91440" bIns="45720" anchor="t">
            <a:normAutofit/>
          </a:bodyPr>
          <a:lstStyle/>
          <a:p>
            <a:pPr algn="l">
              <a:buNone/>
            </a:pPr>
            <a:r>
              <a:rPr lang="fr-FR" sz="100" b="0" i="0">
                <a:solidFill>
                  <a:srgbClr val="FFFFFF"/>
                </a:solidFill>
                <a:latin typeface="Arial"/>
              </a:rPr>
              <a:t/>
            </a:r>
          </a:p>
        </p:txBody>
      </p:sp>
      <p:sp>
        <p:nvSpPr>
          <p:cNvPr id="23" name="s23"/>
          <p:cNvSpPr/>
          <p:nvPr/>
        </p:nvSpPr>
        <p:spPr>
          <a:xfrm>
            <a:off x="7295184" y="2690000"/>
            <a:ext cx="2038368" cy="2770000"/>
          </a:xfrm>
          <a:prstGeom prst="rect">
            <a:avLst/>
          </a:prstGeom>
          <a:noFill/>
          <a:ln>
            <a:noFill/>
          </a:ln>
        </p:spPr>
        <p:txBody>
          <a:bodyPr wrap="square" lIns="140000" tIns="45720" rIns="140000" bIns="45720" anchor="t">
            <a:normAutofit/>
          </a:bodyPr>
          <a:lstStyle/>
          <a:p>
            <a:pPr algn="l">
              <a:buNone/>
            </a:pPr>
            <a:r>
              <a:rPr lang="fr-FR" sz="1200" b="0" i="0">
                <a:solidFill>
                  <a:srgbClr val="44495A"/>
                </a:solidFill>
                <a:latin typeface="Arial"/>
              </a:rPr>
              <a:t>• + name</a:t>
            </a:r>
          </a:p>
          <a:p>
            <a:pPr algn="l">
              <a:spcBef>
                <a:spcPts val="600"/>
              </a:spcBef>
              <a:buNone/>
            </a:pPr>
            <a:r>
              <a:rPr lang="fr-FR" sz="1200" b="0" i="0">
                <a:solidFill>
                  <a:srgbClr val="44495A"/>
                </a:solidFill>
                <a:latin typeface="Arial"/>
              </a:rPr>
              <a:t>• + city</a:t>
            </a:r>
          </a:p>
          <a:p>
            <a:pPr algn="l">
              <a:spcBef>
                <a:spcPts val="600"/>
              </a:spcBef>
              <a:buNone/>
            </a:pPr>
            <a:r>
              <a:rPr lang="fr-FR" sz="1200" b="0" i="0">
                <a:solidFill>
                  <a:srgbClr val="44495A"/>
                </a:solidFill>
                <a:latin typeface="Arial"/>
              </a:rPr>
              <a:t>• + lat / lng</a:t>
            </a:r>
          </a:p>
        </p:txBody>
      </p:sp>
      <p:sp>
        <p:nvSpPr>
          <p:cNvPr id="24" name="s24"/>
          <p:cNvSpPr/>
          <p:nvPr/>
        </p:nvSpPr>
        <p:spPr>
          <a:xfrm>
            <a:off x="9513552" y="2050000"/>
            <a:ext cx="2038368" cy="345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8DEE9"/>
            </a:solidFill>
          </a:ln>
          <a:effectLst>
            <a:outerShdw blurRad="90000" dist="38100" dir="5400000" rotWithShape="0">
              <a:srgbClr val="1C2A5E">
                <a:alpha val="1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5" name="s25"/>
          <p:cNvSpPr/>
          <p:nvPr/>
        </p:nvSpPr>
        <p:spPr>
          <a:xfrm>
            <a:off x="9513552" y="2050000"/>
            <a:ext cx="2038368" cy="560000"/>
          </a:xfrm>
          <a:prstGeom prst="roundRect">
            <a:avLst>
              <a:gd name="adj" fmla="val 6000"/>
            </a:avLst>
          </a:prstGeom>
          <a:solidFill>
            <a:srgbClr val="1C2A5E"/>
          </a:solidFill>
          <a:ln>
            <a:noFill/>
          </a:ln>
        </p:spPr>
        <p:txBody>
          <a:bodyPr wrap="square" lIns="91440" tIns="45720" rIns="91440" bIns="45720" anchor="ctr">
            <a:normAutofit/>
          </a:bodyPr>
          <a:lstStyle/>
          <a:p>
            <a:pPr algn="l">
              <a:buNone/>
            </a:pPr>
            <a:r>
              <a:rPr lang="fr-FR" sz="1400" b="1" i="0">
                <a:solidFill>
                  <a:srgbClr val="FFFFFF"/>
                </a:solidFill>
                <a:latin typeface="Arial"/>
              </a:rPr>
              <a:t>ShippingRate</a:t>
            </a:r>
          </a:p>
        </p:txBody>
      </p:sp>
      <p:sp>
        <p:nvSpPr>
          <p:cNvPr id="26" name="s26"/>
          <p:cNvSpPr/>
          <p:nvPr/>
        </p:nvSpPr>
        <p:spPr>
          <a:xfrm>
            <a:off x="9513552" y="2350000"/>
            <a:ext cx="2038368" cy="260000"/>
          </a:xfrm>
          <a:prstGeom prst="rect">
            <a:avLst/>
          </a:prstGeom>
          <a:solidFill>
            <a:srgbClr val="1C2A5E"/>
          </a:solidFill>
          <a:ln>
            <a:noFill/>
          </a:ln>
        </p:spPr>
        <p:txBody>
          <a:bodyPr wrap="square" lIns="91440" tIns="45720" rIns="91440" bIns="45720" anchor="t">
            <a:normAutofit/>
          </a:bodyPr>
          <a:lstStyle/>
          <a:p>
            <a:pPr algn="l">
              <a:buNone/>
            </a:pPr>
            <a:r>
              <a:rPr lang="fr-FR" sz="100" b="0" i="0">
                <a:solidFill>
                  <a:srgbClr val="FFFFFF"/>
                </a:solidFill>
                <a:latin typeface="Arial"/>
              </a:rPr>
              <a:t/>
            </a:r>
          </a:p>
        </p:txBody>
      </p:sp>
      <p:sp>
        <p:nvSpPr>
          <p:cNvPr id="27" name="s27"/>
          <p:cNvSpPr/>
          <p:nvPr/>
        </p:nvSpPr>
        <p:spPr>
          <a:xfrm>
            <a:off x="9513552" y="2690000"/>
            <a:ext cx="2038368" cy="2770000"/>
          </a:xfrm>
          <a:prstGeom prst="rect">
            <a:avLst/>
          </a:prstGeom>
          <a:noFill/>
          <a:ln>
            <a:noFill/>
          </a:ln>
        </p:spPr>
        <p:txBody>
          <a:bodyPr wrap="square" lIns="140000" tIns="45720" rIns="140000" bIns="45720" anchor="t">
            <a:normAutofit/>
          </a:bodyPr>
          <a:lstStyle/>
          <a:p>
            <a:pPr algn="l">
              <a:buNone/>
            </a:pPr>
            <a:r>
              <a:rPr lang="fr-FR" sz="1200" b="0" i="0">
                <a:solidFill>
                  <a:srgbClr val="44495A"/>
                </a:solidFill>
                <a:latin typeface="Arial"/>
              </a:rPr>
              <a:t>• + zone</a:t>
            </a:r>
          </a:p>
          <a:p>
            <a:pPr algn="l">
              <a:spcBef>
                <a:spcPts val="600"/>
              </a:spcBef>
              <a:buNone/>
            </a:pPr>
            <a:r>
              <a:rPr lang="fr-FR" sz="1200" b="0" i="0">
                <a:solidFill>
                  <a:srgbClr val="44495A"/>
                </a:solidFill>
                <a:latin typeface="Arial"/>
              </a:rPr>
              <a:t>• + basePrice</a:t>
            </a:r>
          </a:p>
          <a:p>
            <a:pPr algn="l">
              <a:spcBef>
                <a:spcPts val="600"/>
              </a:spcBef>
              <a:buNone/>
            </a:pPr>
            <a:r>
              <a:rPr lang="fr-FR" sz="1200" b="0" i="0">
                <a:solidFill>
                  <a:srgbClr val="44495A"/>
                </a:solidFill>
                <a:latin typeface="Arial"/>
              </a:rPr>
              <a:t>• + pricePerKg</a:t>
            </a:r>
          </a:p>
          <a:p>
            <a:pPr algn="l">
              <a:spcBef>
                <a:spcPts val="600"/>
              </a:spcBef>
              <a:buNone/>
            </a:pPr>
            <a:r>
              <a:rPr lang="fr-FR" sz="1200" b="0" i="0">
                <a:solidFill>
                  <a:srgbClr val="44495A"/>
                </a:solidFill>
                <a:latin typeface="Arial"/>
              </a:rPr>
              <a:t>• quote()</a:t>
            </a:r>
          </a:p>
        </p:txBody>
      </p:sp>
      <p:sp>
        <p:nvSpPr>
          <p:cNvPr id="28" name="s28"/>
          <p:cNvSpPr/>
          <p:nvPr/>
        </p:nvSpPr>
        <p:spPr>
          <a:xfrm>
            <a:off x="640080" y="5680000"/>
            <a:ext cx="10911840" cy="34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>
            <a:normAutofit/>
          </a:bodyPr>
          <a:lstStyle/>
          <a:p>
            <a:pPr algn="l">
              <a:buNone/>
            </a:pPr>
            <a:r>
              <a:rPr lang="fr-FR" sz="1200" b="1" i="0">
                <a:solidFill>
                  <a:srgbClr val="1C2A5E"/>
                </a:solidFill>
                <a:latin typeface="Arial"/>
              </a:rPr>
              <a:t>Relations : passe · contient · déposé à · calcule frais    —    ★ attribut ajouté (sécurité / frais)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A"/>
        </a:solidFill>
        <a:effectLst/>
      </p:bgPr>
    </p:bg>
    <p:spTree>
      <p:sp>
        <p:nvSpPr>
          <p:cNvPr id="2" name="s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txBody>
          <a:bodyPr/>
          <a:lstStyle/>
          <a:p>
            <a:endParaRPr lang="fr-FR"/>
          </a:p>
        </p:txBody>
      </p:sp>
      <p:sp>
        <p:nvSpPr>
          <p:cNvPr id="3" name="s3"/>
          <p:cNvSpPr/>
          <p:nvPr/>
        </p:nvSpPr>
        <p:spPr>
          <a:xfrm>
            <a:off x="640080" y="470000"/>
            <a:ext cx="10911840" cy="30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>
            <a:normAutofit/>
          </a:bodyPr>
          <a:lstStyle/>
          <a:p>
            <a:pPr algn="l">
              <a:buNone/>
            </a:pPr>
            <a:r>
              <a:rPr lang="fr-FR" sz="1200" b="1" i="0">
                <a:solidFill>
                  <a:srgbClr val="9A7B12"/>
                </a:solidFill>
                <a:latin typeface="Arial"/>
              </a:rPr>
              <a:t>10 · OUTILS ET TECHNOLOGIES</a:t>
            </a:r>
          </a:p>
        </p:txBody>
      </p:sp>
      <p:sp>
        <p:nvSpPr>
          <p:cNvPr id="4" name="s4"/>
          <p:cNvSpPr/>
          <p:nvPr/>
        </p:nvSpPr>
        <p:spPr>
          <a:xfrm>
            <a:off x="630080" y="720000"/>
            <a:ext cx="10911840" cy="90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>
            <a:normAutofit/>
          </a:bodyPr>
          <a:lstStyle/>
          <a:p>
            <a:pPr algn="l">
              <a:buNone/>
            </a:pPr>
            <a:r>
              <a:rPr lang="fr-FR" sz="3200" b="1" i="0">
                <a:solidFill>
                  <a:srgbClr val="1C2A5E"/>
                </a:solidFill>
                <a:latin typeface="Arial"/>
              </a:rPr>
              <a:t>Architecture 3-tiers</a:t>
            </a:r>
          </a:p>
        </p:txBody>
      </p:sp>
      <p:sp>
        <p:nvSpPr>
          <p:cNvPr id="5" name="s5"/>
          <p:cNvSpPr/>
          <p:nvPr/>
        </p:nvSpPr>
        <p:spPr>
          <a:xfrm>
            <a:off x="640080" y="1640000"/>
            <a:ext cx="1500000" cy="90000"/>
          </a:xfrm>
          <a:prstGeom prst="rect">
            <a:avLst/>
          </a:prstGeom>
          <a:solidFill>
            <a:srgbClr val="F4C400"/>
          </a:solidFill>
          <a:ln>
            <a:noFill/>
          </a:ln>
        </p:spPr>
        <p:txBody>
          <a:bodyPr/>
          <a:lstStyle/>
          <a:p>
            <a:endParaRPr lang="fr-FR"/>
          </a:p>
        </p:txBody>
      </p:sp>
      <p:sp>
        <p:nvSpPr>
          <p:cNvPr id="6" name="s6"/>
          <p:cNvSpPr/>
          <p:nvPr/>
        </p:nvSpPr>
        <p:spPr>
          <a:xfrm>
            <a:off x="640080" y="6380000"/>
            <a:ext cx="8000000" cy="30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rmAutofit/>
          </a:bodyPr>
          <a:lstStyle/>
          <a:p>
            <a:pPr algn="l">
              <a:buNone/>
            </a:pPr>
            <a:r>
              <a:rPr lang="fr-FR" sz="1000" b="0" i="0">
                <a:solidFill>
                  <a:srgbClr val="8A90A0"/>
                </a:solidFill>
                <a:latin typeface="Arial"/>
              </a:rPr>
              <a:t>e-Boutique — La Poste Tunisienne</a:t>
            </a:r>
          </a:p>
        </p:txBody>
      </p:sp>
      <p:sp>
        <p:nvSpPr>
          <p:cNvPr id="7" name="s7"/>
          <p:cNvSpPr/>
          <p:nvPr/>
        </p:nvSpPr>
        <p:spPr>
          <a:xfrm>
            <a:off x="10992000" y="6360000"/>
            <a:ext cx="560000" cy="340000"/>
          </a:xfrm>
          <a:prstGeom prst="roundRect">
            <a:avLst>
              <a:gd name="adj" fmla="val 25000"/>
            </a:avLst>
          </a:prstGeom>
          <a:solidFill>
            <a:srgbClr val="1C2A5E"/>
          </a:solidFill>
          <a:ln>
            <a:noFill/>
          </a:ln>
        </p:spPr>
        <p:txBody>
          <a:bodyPr wrap="square" lIns="91440" tIns="0" rIns="91440" bIns="0" anchor="ctr">
            <a:normAutofit/>
          </a:bodyPr>
          <a:lstStyle/>
          <a:p>
            <a:pPr algn="ctr">
              <a:buNone/>
            </a:pPr>
            <a:r>
              <a:rPr lang="fr-FR" sz="1100" b="1" i="0">
                <a:solidFill>
                  <a:srgbClr val="FFFFFF"/>
                </a:solidFill>
                <a:latin typeface="Arial"/>
              </a:rPr>
              <a:t>15</a:t>
            </a:r>
          </a:p>
        </p:txBody>
      </p:sp>
      <p:sp>
        <p:nvSpPr>
          <p:cNvPr id="8" name="s8"/>
          <p:cNvSpPr/>
          <p:nvPr/>
        </p:nvSpPr>
        <p:spPr>
          <a:xfrm>
            <a:off x="640080" y="2050000"/>
            <a:ext cx="3477280" cy="390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8DEE9"/>
            </a:solidFill>
          </a:ln>
          <a:effectLst>
            <a:outerShdw blurRad="90000" dist="38100" dir="5400000" rotWithShape="0">
              <a:srgbClr val="1C2A5E">
                <a:alpha val="1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9" name="s9"/>
          <p:cNvSpPr/>
          <p:nvPr/>
        </p:nvSpPr>
        <p:spPr>
          <a:xfrm>
            <a:off x="640080" y="2050000"/>
            <a:ext cx="3477280" cy="560000"/>
          </a:xfrm>
          <a:prstGeom prst="roundRect">
            <a:avLst>
              <a:gd name="adj" fmla="val 6000"/>
            </a:avLst>
          </a:prstGeom>
          <a:solidFill>
            <a:srgbClr val="1C2A5E"/>
          </a:solidFill>
          <a:ln>
            <a:noFill/>
          </a:ln>
        </p:spPr>
        <p:txBody>
          <a:bodyPr wrap="square" lIns="91440" tIns="45720" rIns="91440" bIns="45720" anchor="ctr">
            <a:normAutofit/>
          </a:bodyPr>
          <a:lstStyle/>
          <a:p>
            <a:pPr algn="l">
              <a:buNone/>
            </a:pPr>
            <a:r>
              <a:rPr lang="fr-FR" sz="1400" b="1" i="0">
                <a:solidFill>
                  <a:srgbClr val="FFFFFF"/>
                </a:solidFill>
                <a:latin typeface="Arial"/>
              </a:rPr>
              <a:t>Frontend</a:t>
            </a:r>
          </a:p>
        </p:txBody>
      </p:sp>
      <p:sp>
        <p:nvSpPr>
          <p:cNvPr id="10" name="s10"/>
          <p:cNvSpPr/>
          <p:nvPr/>
        </p:nvSpPr>
        <p:spPr>
          <a:xfrm>
            <a:off x="640080" y="2350000"/>
            <a:ext cx="3477280" cy="260000"/>
          </a:xfrm>
          <a:prstGeom prst="rect">
            <a:avLst/>
          </a:prstGeom>
          <a:solidFill>
            <a:srgbClr val="1C2A5E"/>
          </a:solidFill>
          <a:ln>
            <a:noFill/>
          </a:ln>
        </p:spPr>
        <p:txBody>
          <a:bodyPr wrap="square" lIns="91440" tIns="45720" rIns="91440" bIns="45720" anchor="t">
            <a:normAutofit/>
          </a:bodyPr>
          <a:lstStyle/>
          <a:p>
            <a:pPr algn="l">
              <a:buNone/>
            </a:pPr>
            <a:r>
              <a:rPr lang="fr-FR" sz="100" b="0" i="0">
                <a:solidFill>
                  <a:srgbClr val="FFFFFF"/>
                </a:solidFill>
                <a:latin typeface="Arial"/>
              </a:rPr>
              <a:t/>
            </a:r>
          </a:p>
        </p:txBody>
      </p:sp>
      <p:sp>
        <p:nvSpPr>
          <p:cNvPr id="11" name="s11"/>
          <p:cNvSpPr/>
          <p:nvPr/>
        </p:nvSpPr>
        <p:spPr>
          <a:xfrm>
            <a:off x="640080" y="2690000"/>
            <a:ext cx="3477280" cy="3220000"/>
          </a:xfrm>
          <a:prstGeom prst="rect">
            <a:avLst/>
          </a:prstGeom>
          <a:noFill/>
          <a:ln>
            <a:noFill/>
          </a:ln>
        </p:spPr>
        <p:txBody>
          <a:bodyPr wrap="square" lIns="140000" tIns="45720" rIns="140000" bIns="45720" anchor="t">
            <a:normAutofit/>
          </a:bodyPr>
          <a:lstStyle/>
          <a:p>
            <a:pPr algn="l">
              <a:buNone/>
            </a:pPr>
            <a:r>
              <a:rPr lang="fr-FR" sz="1200" b="0" i="0">
                <a:solidFill>
                  <a:srgbClr val="44495A"/>
                </a:solidFill>
                <a:latin typeface="Arial"/>
              </a:rPr>
              <a:t>• Angular</a:t>
            </a:r>
          </a:p>
          <a:p>
            <a:pPr algn="l">
              <a:spcBef>
                <a:spcPts val="600"/>
              </a:spcBef>
              <a:buNone/>
            </a:pPr>
            <a:r>
              <a:rPr lang="fr-FR" sz="1200" b="0" i="0">
                <a:solidFill>
                  <a:srgbClr val="44495A"/>
                </a:solidFill>
                <a:latin typeface="Arial"/>
              </a:rPr>
              <a:t>• TypeScript</a:t>
            </a:r>
          </a:p>
          <a:p>
            <a:pPr algn="l">
              <a:spcBef>
                <a:spcPts val="600"/>
              </a:spcBef>
              <a:buNone/>
            </a:pPr>
            <a:r>
              <a:rPr lang="fr-FR" sz="1200" b="0" i="0">
                <a:solidFill>
                  <a:srgbClr val="44495A"/>
                </a:solidFill>
                <a:latin typeface="Arial"/>
              </a:rPr>
              <a:t>• Leaflet</a:t>
            </a:r>
          </a:p>
          <a:p>
            <a:pPr algn="l">
              <a:spcBef>
                <a:spcPts val="600"/>
              </a:spcBef>
              <a:buNone/>
            </a:pPr>
            <a:r>
              <a:rPr lang="fr-FR" sz="1200" b="0" i="0">
                <a:solidFill>
                  <a:srgbClr val="44495A"/>
                </a:solidFill>
                <a:latin typeface="Arial"/>
              </a:rPr>
              <a:t>• SCSS</a:t>
            </a:r>
          </a:p>
        </p:txBody>
      </p:sp>
      <p:sp>
        <p:nvSpPr>
          <p:cNvPr id="12" name="s12"/>
          <p:cNvSpPr/>
          <p:nvPr/>
        </p:nvSpPr>
        <p:spPr>
          <a:xfrm>
            <a:off x="4357360" y="2050000"/>
            <a:ext cx="3477280" cy="390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8DEE9"/>
            </a:solidFill>
          </a:ln>
          <a:effectLst>
            <a:outerShdw blurRad="90000" dist="38100" dir="5400000" rotWithShape="0">
              <a:srgbClr val="1C2A5E">
                <a:alpha val="1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3" name="s13"/>
          <p:cNvSpPr/>
          <p:nvPr/>
        </p:nvSpPr>
        <p:spPr>
          <a:xfrm>
            <a:off x="4357360" y="2050000"/>
            <a:ext cx="3477280" cy="560000"/>
          </a:xfrm>
          <a:prstGeom prst="roundRect">
            <a:avLst>
              <a:gd name="adj" fmla="val 6000"/>
            </a:avLst>
          </a:prstGeom>
          <a:solidFill>
            <a:srgbClr val="1C2A5E"/>
          </a:solidFill>
          <a:ln>
            <a:noFill/>
          </a:ln>
        </p:spPr>
        <p:txBody>
          <a:bodyPr wrap="square" lIns="91440" tIns="45720" rIns="91440" bIns="45720" anchor="ctr">
            <a:normAutofit/>
          </a:bodyPr>
          <a:lstStyle/>
          <a:p>
            <a:pPr algn="l">
              <a:buNone/>
            </a:pPr>
            <a:r>
              <a:rPr lang="fr-FR" sz="1400" b="1" i="0">
                <a:solidFill>
                  <a:srgbClr val="FFFFFF"/>
                </a:solidFill>
                <a:latin typeface="Arial"/>
              </a:rPr>
              <a:t>Backend</a:t>
            </a:r>
          </a:p>
        </p:txBody>
      </p:sp>
      <p:sp>
        <p:nvSpPr>
          <p:cNvPr id="14" name="s14"/>
          <p:cNvSpPr/>
          <p:nvPr/>
        </p:nvSpPr>
        <p:spPr>
          <a:xfrm>
            <a:off x="4357360" y="2350000"/>
            <a:ext cx="3477280" cy="260000"/>
          </a:xfrm>
          <a:prstGeom prst="rect">
            <a:avLst/>
          </a:prstGeom>
          <a:solidFill>
            <a:srgbClr val="1C2A5E"/>
          </a:solidFill>
          <a:ln>
            <a:noFill/>
          </a:ln>
        </p:spPr>
        <p:txBody>
          <a:bodyPr wrap="square" lIns="91440" tIns="45720" rIns="91440" bIns="45720" anchor="t">
            <a:normAutofit/>
          </a:bodyPr>
          <a:lstStyle/>
          <a:p>
            <a:pPr algn="l">
              <a:buNone/>
            </a:pPr>
            <a:r>
              <a:rPr lang="fr-FR" sz="100" b="0" i="0">
                <a:solidFill>
                  <a:srgbClr val="FFFFFF"/>
                </a:solidFill>
                <a:latin typeface="Arial"/>
              </a:rPr>
              <a:t/>
            </a:r>
          </a:p>
        </p:txBody>
      </p:sp>
      <p:sp>
        <p:nvSpPr>
          <p:cNvPr id="15" name="s15"/>
          <p:cNvSpPr/>
          <p:nvPr/>
        </p:nvSpPr>
        <p:spPr>
          <a:xfrm>
            <a:off x="4357360" y="2690000"/>
            <a:ext cx="3477280" cy="3220000"/>
          </a:xfrm>
          <a:prstGeom prst="rect">
            <a:avLst/>
          </a:prstGeom>
          <a:noFill/>
          <a:ln>
            <a:noFill/>
          </a:ln>
        </p:spPr>
        <p:txBody>
          <a:bodyPr wrap="square" lIns="140000" tIns="45720" rIns="140000" bIns="45720" anchor="t">
            <a:normAutofit/>
          </a:bodyPr>
          <a:lstStyle/>
          <a:p>
            <a:pPr algn="l">
              <a:buNone/>
            </a:pPr>
            <a:r>
              <a:rPr lang="fr-FR" sz="1200" b="0" i="0">
                <a:solidFill>
                  <a:srgbClr val="44495A"/>
                </a:solidFill>
                <a:latin typeface="Arial"/>
              </a:rPr>
              <a:t>• Node.js</a:t>
            </a:r>
          </a:p>
          <a:p>
            <a:pPr algn="l">
              <a:spcBef>
                <a:spcPts val="600"/>
              </a:spcBef>
              <a:buNone/>
            </a:pPr>
            <a:r>
              <a:rPr lang="fr-FR" sz="1200" b="0" i="0">
                <a:solidFill>
                  <a:srgbClr val="44495A"/>
                </a:solidFill>
                <a:latin typeface="Arial"/>
              </a:rPr>
              <a:t>• Express</a:t>
            </a:r>
          </a:p>
          <a:p>
            <a:pPr algn="l">
              <a:spcBef>
                <a:spcPts val="600"/>
              </a:spcBef>
              <a:buNone/>
            </a:pPr>
            <a:r>
              <a:rPr lang="fr-FR" sz="1200" b="0" i="0">
                <a:solidFill>
                  <a:srgbClr val="44495A"/>
                </a:solidFill>
                <a:latin typeface="Arial"/>
              </a:rPr>
              <a:t>• JWT</a:t>
            </a:r>
          </a:p>
          <a:p>
            <a:pPr algn="l">
              <a:spcBef>
                <a:spcPts val="600"/>
              </a:spcBef>
              <a:buNone/>
            </a:pPr>
            <a:r>
              <a:rPr lang="fr-FR" sz="1200" b="0" i="0">
                <a:solidFill>
                  <a:srgbClr val="44495A"/>
                </a:solidFill>
                <a:latin typeface="Arial"/>
              </a:rPr>
              <a:t>• bcrypt</a:t>
            </a:r>
          </a:p>
        </p:txBody>
      </p:sp>
      <p:sp>
        <p:nvSpPr>
          <p:cNvPr id="16" name="s16"/>
          <p:cNvSpPr/>
          <p:nvPr/>
        </p:nvSpPr>
        <p:spPr>
          <a:xfrm>
            <a:off x="8074640" y="2050000"/>
            <a:ext cx="3477280" cy="390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8DEE9"/>
            </a:solidFill>
          </a:ln>
          <a:effectLst>
            <a:outerShdw blurRad="90000" dist="38100" dir="5400000" rotWithShape="0">
              <a:srgbClr val="1C2A5E">
                <a:alpha val="1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7" name="s17"/>
          <p:cNvSpPr/>
          <p:nvPr/>
        </p:nvSpPr>
        <p:spPr>
          <a:xfrm>
            <a:off x="8074640" y="2050000"/>
            <a:ext cx="3477280" cy="560000"/>
          </a:xfrm>
          <a:prstGeom prst="roundRect">
            <a:avLst>
              <a:gd name="adj" fmla="val 6000"/>
            </a:avLst>
          </a:prstGeom>
          <a:solidFill>
            <a:srgbClr val="1C2A5E"/>
          </a:solidFill>
          <a:ln>
            <a:noFill/>
          </a:ln>
        </p:spPr>
        <p:txBody>
          <a:bodyPr wrap="square" lIns="91440" tIns="45720" rIns="91440" bIns="45720" anchor="ctr">
            <a:normAutofit/>
          </a:bodyPr>
          <a:lstStyle/>
          <a:p>
            <a:pPr algn="l">
              <a:buNone/>
            </a:pPr>
            <a:r>
              <a:rPr lang="fr-FR" sz="1400" b="1" i="0">
                <a:solidFill>
                  <a:srgbClr val="FFFFFF"/>
                </a:solidFill>
                <a:latin typeface="Arial"/>
              </a:rPr>
              <a:t>Base de données &amp; services</a:t>
            </a:r>
          </a:p>
        </p:txBody>
      </p:sp>
      <p:sp>
        <p:nvSpPr>
          <p:cNvPr id="18" name="s18"/>
          <p:cNvSpPr/>
          <p:nvPr/>
        </p:nvSpPr>
        <p:spPr>
          <a:xfrm>
            <a:off x="8074640" y="2350000"/>
            <a:ext cx="3477280" cy="260000"/>
          </a:xfrm>
          <a:prstGeom prst="rect">
            <a:avLst/>
          </a:prstGeom>
          <a:solidFill>
            <a:srgbClr val="1C2A5E"/>
          </a:solidFill>
          <a:ln>
            <a:noFill/>
          </a:ln>
        </p:spPr>
        <p:txBody>
          <a:bodyPr wrap="square" lIns="91440" tIns="45720" rIns="91440" bIns="45720" anchor="t">
            <a:normAutofit/>
          </a:bodyPr>
          <a:lstStyle/>
          <a:p>
            <a:pPr algn="l">
              <a:buNone/>
            </a:pPr>
            <a:r>
              <a:rPr lang="fr-FR" sz="100" b="0" i="0">
                <a:solidFill>
                  <a:srgbClr val="FFFFFF"/>
                </a:solidFill>
                <a:latin typeface="Arial"/>
              </a:rPr>
              <a:t/>
            </a:r>
          </a:p>
        </p:txBody>
      </p:sp>
      <p:sp>
        <p:nvSpPr>
          <p:cNvPr id="19" name="s19"/>
          <p:cNvSpPr/>
          <p:nvPr/>
        </p:nvSpPr>
        <p:spPr>
          <a:xfrm>
            <a:off x="8074640" y="2690000"/>
            <a:ext cx="3477280" cy="3220000"/>
          </a:xfrm>
          <a:prstGeom prst="rect">
            <a:avLst/>
          </a:prstGeom>
          <a:noFill/>
          <a:ln>
            <a:noFill/>
          </a:ln>
        </p:spPr>
        <p:txBody>
          <a:bodyPr wrap="square" lIns="140000" tIns="45720" rIns="140000" bIns="45720" anchor="t">
            <a:normAutofit/>
          </a:bodyPr>
          <a:lstStyle/>
          <a:p>
            <a:pPr algn="l">
              <a:buNone/>
            </a:pPr>
            <a:r>
              <a:rPr lang="fr-FR" sz="1200" b="0" i="0">
                <a:solidFill>
                  <a:srgbClr val="44495A"/>
                </a:solidFill>
                <a:latin typeface="Arial"/>
              </a:rPr>
              <a:t>• MySQL</a:t>
            </a:r>
          </a:p>
          <a:p>
            <a:pPr algn="l">
              <a:spcBef>
                <a:spcPts val="600"/>
              </a:spcBef>
              <a:buNone/>
            </a:pPr>
            <a:r>
              <a:rPr lang="fr-FR" sz="1200" b="0" i="0">
                <a:solidFill>
                  <a:srgbClr val="44495A"/>
                </a:solidFill>
                <a:latin typeface="Arial"/>
              </a:rPr>
              <a:t>• mysql2</a:t>
            </a:r>
          </a:p>
          <a:p>
            <a:pPr algn="l">
              <a:spcBef>
                <a:spcPts val="600"/>
              </a:spcBef>
              <a:buNone/>
            </a:pPr>
            <a:r>
              <a:rPr lang="fr-FR" sz="1200" b="0" i="0">
                <a:solidFill>
                  <a:srgbClr val="44495A"/>
                </a:solidFill>
                <a:latin typeface="Arial"/>
              </a:rPr>
              <a:t>• AES-GCM</a:t>
            </a:r>
          </a:p>
          <a:p>
            <a:pPr algn="l">
              <a:spcBef>
                <a:spcPts val="600"/>
              </a:spcBef>
              <a:buNone/>
            </a:pPr>
            <a:r>
              <a:rPr lang="fr-FR" sz="1200" b="0" i="0">
                <a:solidFill>
                  <a:srgbClr val="44495A"/>
                </a:solidFill>
                <a:latin typeface="Arial"/>
              </a:rPr>
              <a:t>• Nodemailer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A"/>
        </a:solidFill>
        <a:effectLst/>
      </p:bgPr>
    </p:bg>
    <p:spTree>
      <p:sp>
        <p:nvSpPr>
          <p:cNvPr id="2" name="s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C2A5E"/>
          </a:solidFill>
          <a:ln>
            <a:noFill/>
          </a:ln>
        </p:spPr>
        <p:txBody>
          <a:bodyPr/>
          <a:lstStyle/>
          <a:p>
            <a:endParaRPr lang="fr-FR"/>
          </a:p>
        </p:txBody>
      </p:sp>
      <p:sp>
        <p:nvSpPr>
          <p:cNvPr id="3" name="s3"/>
          <p:cNvSpPr/>
          <p:nvPr/>
        </p:nvSpPr>
        <p:spPr>
          <a:xfrm>
            <a:off x="0" y="0"/>
            <a:ext cx="130000" cy="6858000"/>
          </a:xfrm>
          <a:prstGeom prst="rect">
            <a:avLst/>
          </a:prstGeom>
          <a:solidFill>
            <a:srgbClr val="F4C400"/>
          </a:solidFill>
          <a:ln>
            <a:noFill/>
          </a:ln>
        </p:spPr>
        <p:txBody>
          <a:bodyPr/>
          <a:lstStyle/>
          <a:p>
            <a:endParaRPr lang="fr-FR"/>
          </a:p>
        </p:txBody>
      </p:sp>
      <p:sp>
        <p:nvSpPr>
          <p:cNvPr id="4" name="s4"/>
          <p:cNvSpPr/>
          <p:nvPr/>
        </p:nvSpPr>
        <p:spPr>
          <a:xfrm>
            <a:off x="640080" y="520000"/>
            <a:ext cx="10911840" cy="30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>
            <a:normAutofit/>
          </a:bodyPr>
          <a:lstStyle/>
          <a:p>
            <a:pPr algn="l">
              <a:buNone/>
            </a:pPr>
            <a:r>
              <a:rPr lang="fr-FR" sz="1300" b="1" i="0">
                <a:solidFill>
                  <a:srgbClr val="F4C400"/>
                </a:solidFill>
                <a:latin typeface="Arial"/>
              </a:rPr>
              <a:t>CONCLUSION &amp; PERSPECTIVES</a:t>
            </a:r>
          </a:p>
        </p:txBody>
      </p:sp>
      <p:sp>
        <p:nvSpPr>
          <p:cNvPr id="5" name="s5"/>
          <p:cNvSpPr/>
          <p:nvPr/>
        </p:nvSpPr>
        <p:spPr>
          <a:xfrm>
            <a:off x="640080" y="850000"/>
            <a:ext cx="10911840" cy="70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>
            <a:normAutofit/>
          </a:bodyPr>
          <a:lstStyle/>
          <a:p>
            <a:pPr algn="l">
              <a:buNone/>
            </a:pPr>
            <a:r>
              <a:rPr lang="fr-FR" sz="3000" b="1" i="0">
                <a:solidFill>
                  <a:srgbClr val="FFFFFF"/>
                </a:solidFill>
                <a:latin typeface="Arial"/>
              </a:rPr>
              <a:t>Une solution complète et sécurisée</a:t>
            </a:r>
          </a:p>
        </p:txBody>
      </p:sp>
      <p:sp>
        <p:nvSpPr>
          <p:cNvPr id="6" name="s6"/>
          <p:cNvSpPr/>
          <p:nvPr/>
        </p:nvSpPr>
        <p:spPr>
          <a:xfrm>
            <a:off x="640080" y="1900000"/>
            <a:ext cx="5335920" cy="330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8DEE9"/>
            </a:solidFill>
          </a:ln>
          <a:effectLst>
            <a:outerShdw blurRad="90000" dist="38100" dir="5400000" rotWithShape="0">
              <a:srgbClr val="1C2A5E">
                <a:alpha val="1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7" name="s7"/>
          <p:cNvSpPr/>
          <p:nvPr/>
        </p:nvSpPr>
        <p:spPr>
          <a:xfrm>
            <a:off x="640080" y="1900000"/>
            <a:ext cx="5335920" cy="560000"/>
          </a:xfrm>
          <a:prstGeom prst="roundRect">
            <a:avLst>
              <a:gd name="adj" fmla="val 6000"/>
            </a:avLst>
          </a:prstGeom>
          <a:solidFill>
            <a:srgbClr val="1C2A5E"/>
          </a:solidFill>
          <a:ln>
            <a:noFill/>
          </a:ln>
        </p:spPr>
        <p:txBody>
          <a:bodyPr wrap="square" lIns="91440" tIns="45720" rIns="91440" bIns="45720" anchor="ctr">
            <a:normAutofit/>
          </a:bodyPr>
          <a:lstStyle/>
          <a:p>
            <a:pPr algn="l">
              <a:buNone/>
            </a:pPr>
            <a:r>
              <a:rPr lang="fr-FR" sz="1400" b="1" i="0">
                <a:solidFill>
                  <a:srgbClr val="FFFFFF"/>
                </a:solidFill>
                <a:latin typeface="Arial"/>
              </a:rPr>
              <a:t>Bilan</a:t>
            </a:r>
          </a:p>
        </p:txBody>
      </p:sp>
      <p:sp>
        <p:nvSpPr>
          <p:cNvPr id="8" name="s8"/>
          <p:cNvSpPr/>
          <p:nvPr/>
        </p:nvSpPr>
        <p:spPr>
          <a:xfrm>
            <a:off x="640080" y="2200000"/>
            <a:ext cx="5335920" cy="260000"/>
          </a:xfrm>
          <a:prstGeom prst="rect">
            <a:avLst/>
          </a:prstGeom>
          <a:solidFill>
            <a:srgbClr val="1C2A5E"/>
          </a:solidFill>
          <a:ln>
            <a:noFill/>
          </a:ln>
        </p:spPr>
        <p:txBody>
          <a:bodyPr wrap="square" lIns="91440" tIns="45720" rIns="91440" bIns="45720" anchor="t">
            <a:normAutofit/>
          </a:bodyPr>
          <a:lstStyle/>
          <a:p>
            <a:pPr algn="l">
              <a:buNone/>
            </a:pPr>
            <a:r>
              <a:rPr lang="fr-FR" sz="100" b="0" i="0">
                <a:solidFill>
                  <a:srgbClr val="FFFFFF"/>
                </a:solidFill>
                <a:latin typeface="Arial"/>
              </a:rPr>
              <a:t/>
            </a:r>
          </a:p>
        </p:txBody>
      </p:sp>
      <p:sp>
        <p:nvSpPr>
          <p:cNvPr id="9" name="s9"/>
          <p:cNvSpPr/>
          <p:nvPr/>
        </p:nvSpPr>
        <p:spPr>
          <a:xfrm>
            <a:off x="640080" y="2540000"/>
            <a:ext cx="5335920" cy="2620000"/>
          </a:xfrm>
          <a:prstGeom prst="rect">
            <a:avLst/>
          </a:prstGeom>
          <a:noFill/>
          <a:ln>
            <a:noFill/>
          </a:ln>
        </p:spPr>
        <p:txBody>
          <a:bodyPr wrap="square" lIns="140000" tIns="45720" rIns="140000" bIns="45720" anchor="t">
            <a:normAutofit/>
          </a:bodyPr>
          <a:lstStyle/>
          <a:p>
            <a:pPr algn="l">
              <a:buNone/>
            </a:pPr>
            <a:r>
              <a:rPr lang="fr-FR" sz="1200" b="0" i="0">
                <a:solidFill>
                  <a:srgbClr val="44495A"/>
                </a:solidFill>
                <a:latin typeface="Arial"/>
              </a:rPr>
              <a:t>• Parcours complet du colis, du dépôt à la livraison</a:t>
            </a:r>
          </a:p>
          <a:p>
            <a:pPr algn="l">
              <a:spcBef>
                <a:spcPts val="600"/>
              </a:spcBef>
              <a:buNone/>
            </a:pPr>
            <a:r>
              <a:rPr lang="fr-FR" sz="1200" b="0" i="0">
                <a:solidFill>
                  <a:srgbClr val="44495A"/>
                </a:solidFill>
                <a:latin typeface="Arial"/>
              </a:rPr>
              <a:t>• Vérification e-mail et 2FA</a:t>
            </a:r>
          </a:p>
          <a:p>
            <a:pPr algn="l">
              <a:spcBef>
                <a:spcPts val="600"/>
              </a:spcBef>
              <a:buNone/>
            </a:pPr>
            <a:r>
              <a:rPr lang="fr-FR" sz="1200" b="0" i="0">
                <a:solidFill>
                  <a:srgbClr val="44495A"/>
                </a:solidFill>
                <a:latin typeface="Arial"/>
              </a:rPr>
              <a:t>• Calcul automatique des frais</a:t>
            </a:r>
          </a:p>
          <a:p>
            <a:pPr algn="l">
              <a:spcBef>
                <a:spcPts val="600"/>
              </a:spcBef>
              <a:buNone/>
            </a:pPr>
            <a:r>
              <a:rPr lang="fr-FR" sz="1200" b="0" i="0">
                <a:solidFill>
                  <a:srgbClr val="44495A"/>
                </a:solidFill>
                <a:latin typeface="Arial"/>
              </a:rPr>
              <a:t>• Notifications en temps réel</a:t>
            </a:r>
          </a:p>
        </p:txBody>
      </p:sp>
      <p:sp>
        <p:nvSpPr>
          <p:cNvPr id="10" name="s10"/>
          <p:cNvSpPr/>
          <p:nvPr/>
        </p:nvSpPr>
        <p:spPr>
          <a:xfrm>
            <a:off x="6216000" y="1900000"/>
            <a:ext cx="5335920" cy="330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8DEE9"/>
            </a:solidFill>
          </a:ln>
          <a:effectLst>
            <a:outerShdw blurRad="90000" dist="38100" dir="5400000" rotWithShape="0">
              <a:srgbClr val="1C2A5E">
                <a:alpha val="1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1" name="s11"/>
          <p:cNvSpPr/>
          <p:nvPr/>
        </p:nvSpPr>
        <p:spPr>
          <a:xfrm>
            <a:off x="6216000" y="1900000"/>
            <a:ext cx="5335920" cy="560000"/>
          </a:xfrm>
          <a:prstGeom prst="roundRect">
            <a:avLst>
              <a:gd name="adj" fmla="val 6000"/>
            </a:avLst>
          </a:prstGeom>
          <a:solidFill>
            <a:srgbClr val="1C2A5E"/>
          </a:solidFill>
          <a:ln>
            <a:noFill/>
          </a:ln>
        </p:spPr>
        <p:txBody>
          <a:bodyPr wrap="square" lIns="91440" tIns="45720" rIns="91440" bIns="45720" anchor="ctr">
            <a:normAutofit/>
          </a:bodyPr>
          <a:lstStyle/>
          <a:p>
            <a:pPr algn="l">
              <a:buNone/>
            </a:pPr>
            <a:r>
              <a:rPr lang="fr-FR" sz="1400" b="1" i="0">
                <a:solidFill>
                  <a:srgbClr val="FFFFFF"/>
                </a:solidFill>
                <a:latin typeface="Arial"/>
              </a:rPr>
              <a:t>Perspectives</a:t>
            </a:r>
          </a:p>
        </p:txBody>
      </p:sp>
      <p:sp>
        <p:nvSpPr>
          <p:cNvPr id="12" name="s12"/>
          <p:cNvSpPr/>
          <p:nvPr/>
        </p:nvSpPr>
        <p:spPr>
          <a:xfrm>
            <a:off x="6216000" y="2200000"/>
            <a:ext cx="5335920" cy="260000"/>
          </a:xfrm>
          <a:prstGeom prst="rect">
            <a:avLst/>
          </a:prstGeom>
          <a:solidFill>
            <a:srgbClr val="1C2A5E"/>
          </a:solidFill>
          <a:ln>
            <a:noFill/>
          </a:ln>
        </p:spPr>
        <p:txBody>
          <a:bodyPr wrap="square" lIns="91440" tIns="45720" rIns="91440" bIns="45720" anchor="t">
            <a:normAutofit/>
          </a:bodyPr>
          <a:lstStyle/>
          <a:p>
            <a:pPr algn="l">
              <a:buNone/>
            </a:pPr>
            <a:r>
              <a:rPr lang="fr-FR" sz="100" b="0" i="0">
                <a:solidFill>
                  <a:srgbClr val="FFFFFF"/>
                </a:solidFill>
                <a:latin typeface="Arial"/>
              </a:rPr>
              <a:t/>
            </a:r>
          </a:p>
        </p:txBody>
      </p:sp>
      <p:sp>
        <p:nvSpPr>
          <p:cNvPr id="13" name="s13"/>
          <p:cNvSpPr/>
          <p:nvPr/>
        </p:nvSpPr>
        <p:spPr>
          <a:xfrm>
            <a:off x="6216000" y="2540000"/>
            <a:ext cx="5335920" cy="2620000"/>
          </a:xfrm>
          <a:prstGeom prst="rect">
            <a:avLst/>
          </a:prstGeom>
          <a:noFill/>
          <a:ln>
            <a:noFill/>
          </a:ln>
        </p:spPr>
        <p:txBody>
          <a:bodyPr wrap="square" lIns="140000" tIns="45720" rIns="140000" bIns="45720" anchor="t">
            <a:normAutofit/>
          </a:bodyPr>
          <a:lstStyle/>
          <a:p>
            <a:pPr algn="l">
              <a:buNone/>
            </a:pPr>
            <a:r>
              <a:rPr lang="fr-FR" sz="1200" b="0" i="0">
                <a:solidFill>
                  <a:srgbClr val="44495A"/>
                </a:solidFill>
                <a:latin typeface="Arial"/>
              </a:rPr>
              <a:t>• Application mobile</a:t>
            </a:r>
          </a:p>
          <a:p>
            <a:pPr algn="l">
              <a:spcBef>
                <a:spcPts val="600"/>
              </a:spcBef>
              <a:buNone/>
            </a:pPr>
            <a:r>
              <a:rPr lang="fr-FR" sz="1200" b="0" i="0">
                <a:solidFill>
                  <a:srgbClr val="44495A"/>
                </a:solidFill>
                <a:latin typeface="Arial"/>
              </a:rPr>
              <a:t>• Intégration réelle du paiement e-Dinar</a:t>
            </a:r>
          </a:p>
          <a:p>
            <a:pPr algn="l">
              <a:spcBef>
                <a:spcPts val="600"/>
              </a:spcBef>
              <a:buNone/>
            </a:pPr>
            <a:r>
              <a:rPr lang="fr-FR" sz="1200" b="0" i="0">
                <a:solidFill>
                  <a:srgbClr val="44495A"/>
                </a:solidFill>
                <a:latin typeface="Arial"/>
              </a:rPr>
              <a:t>• Tableau de bord statistique</a:t>
            </a:r>
          </a:p>
          <a:p>
            <a:pPr algn="l">
              <a:spcBef>
                <a:spcPts val="600"/>
              </a:spcBef>
              <a:buNone/>
            </a:pPr>
            <a:r>
              <a:rPr lang="fr-FR" sz="1200" b="0" i="0">
                <a:solidFill>
                  <a:srgbClr val="44495A"/>
                </a:solidFill>
                <a:latin typeface="Arial"/>
              </a:rPr>
              <a:t>• Chatbot d'assistance client</a:t>
            </a:r>
          </a:p>
        </p:txBody>
      </p:sp>
      <p:sp>
        <p:nvSpPr>
          <p:cNvPr id="14" name="s14"/>
          <p:cNvSpPr/>
          <p:nvPr/>
        </p:nvSpPr>
        <p:spPr>
          <a:xfrm>
            <a:off x="640080" y="5450000"/>
            <a:ext cx="10911840" cy="800000"/>
          </a:xfrm>
          <a:prstGeom prst="roundRect">
            <a:avLst>
              <a:gd name="adj" fmla="val 20000"/>
            </a:avLst>
          </a:prstGeom>
          <a:solidFill>
            <a:srgbClr val="F4C400"/>
          </a:solidFill>
          <a:ln>
            <a:noFill/>
          </a:ln>
        </p:spPr>
        <p:txBody>
          <a:bodyPr wrap="square" lIns="91440" tIns="45720" rIns="91440" bIns="45720" anchor="ctr">
            <a:normAutofit/>
          </a:bodyPr>
          <a:lstStyle/>
          <a:p>
            <a:pPr algn="ctr">
              <a:buNone/>
            </a:pPr>
            <a:r>
              <a:rPr lang="fr-FR" sz="2400" b="1" i="0">
                <a:solidFill>
                  <a:srgbClr val="1C2A5E"/>
                </a:solidFill>
                <a:latin typeface="Arial"/>
              </a:rPr>
              <a:t>Merci de votre attention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LaPoste">
  <a:themeElements>
    <a:clrScheme name="LaPoste">
      <a:dk1>
        <a:sysClr val="windowText" lastClr="000000"/>
      </a:dk1>
      <a:lt1>
        <a:sysClr val="window" lastClr="FFFFFF"/>
      </a:lt1>
      <a:dk2>
        <a:srgbClr val="1C2A5E"/>
      </a:dk2>
      <a:lt2>
        <a:srgbClr val="F4F6FA"/>
      </a:lt2>
      <a:accent1>
        <a:srgbClr val="1C2A5E"/>
      </a:accent1>
      <a:accent2>
        <a:srgbClr val="F4C400"/>
      </a:accent2>
      <a:accent3>
        <a:srgbClr val="27407A"/>
      </a:accent3>
      <a:accent4>
        <a:srgbClr val="6B7280"/>
      </a:accent4>
      <a:accent5>
        <a:srgbClr val="3F9D5C"/>
      </a:accent5>
      <a:accent6>
        <a:srgbClr val="D76A6A"/>
      </a:accent6>
      <a:hlink>
        <a:srgbClr val="0563C1"/>
      </a:hlink>
      <a:folHlink>
        <a:srgbClr val="954F72"/>
      </a:folHlink>
    </a:clrScheme>
    <a:fontScheme name="LaPost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LaPost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