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0" y="0"/>
            <a:ext cx="130000" cy="6858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4"/>
          <p:cNvSpPr/>
          <p:nvPr/>
        </p:nvSpPr>
        <p:spPr>
          <a:xfrm>
            <a:off x="640080" y="620000"/>
            <a:ext cx="1150000" cy="1150000"/>
          </a:xfrm>
          <a:prstGeom prst="roundRect">
            <a:avLst>
              <a:gd name="adj" fmla="val 18000"/>
            </a:avLst>
          </a:prstGeom>
          <a:solidFill>
            <a:srgbClr val="1C2A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5"/>
          <p:cNvSpPr/>
          <p:nvPr/>
        </p:nvSpPr>
        <p:spPr>
          <a:xfrm>
            <a:off x="778080" y="781000"/>
            <a:ext cx="874000" cy="391000"/>
          </a:xfrm>
          <a:prstGeom prst="roundRect">
            <a:avLst>
              <a:gd name="adj" fmla="val 25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1277" b="1" i="0">
                <a:solidFill>
                  <a:srgbClr val="1C2A5E"/>
                </a:solidFill>
                <a:latin typeface="Arial"/>
              </a:rPr>
              <a:t>POSTE</a:t>
            </a:r>
          </a:p>
        </p:txBody>
      </p:sp>
      <p:sp>
        <p:nvSpPr>
          <p:cNvPr id="6" name="s6"/>
          <p:cNvSpPr/>
          <p:nvPr/>
        </p:nvSpPr>
        <p:spPr>
          <a:xfrm>
            <a:off x="640080" y="1149000"/>
            <a:ext cx="1150000" cy="5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2674" b="1" i="0">
                <a:solidFill>
                  <a:srgbClr val="FFFFFF"/>
                </a:solidFill>
                <a:latin typeface="Arial"/>
              </a:rPr>
              <a:t>TN</a:t>
            </a:r>
          </a:p>
        </p:txBody>
      </p:sp>
      <p:sp>
        <p:nvSpPr>
          <p:cNvPr id="7" name="s7"/>
          <p:cNvSpPr/>
          <p:nvPr/>
        </p:nvSpPr>
        <p:spPr>
          <a:xfrm>
            <a:off x="640080" y="2050000"/>
            <a:ext cx="10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2000" b="1" i="0">
                <a:solidFill>
                  <a:srgbClr val="F4C400"/>
                </a:solidFill>
                <a:latin typeface="Arial"/>
              </a:rPr>
              <a:t>e-BOUTIQUE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560000"/>
            <a:ext cx="104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3600" b="1" i="0">
                <a:solidFill>
                  <a:srgbClr val="FFFFFF"/>
                </a:solidFill>
                <a:latin typeface="Arial"/>
              </a:rPr>
              <a:t>Design and development of an e-commerce platform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3600" b="1" i="0">
                <a:solidFill>
                  <a:srgbClr val="FFFFFF"/>
                </a:solidFill>
                <a:latin typeface="Arial"/>
              </a:rPr>
              <a:t>for the Tunisian Post</a:t>
            </a:r>
          </a:p>
        </p:txBody>
      </p:sp>
      <p:sp>
        <p:nvSpPr>
          <p:cNvPr id="9" name="s9"/>
          <p:cNvSpPr/>
          <p:nvPr/>
        </p:nvSpPr>
        <p:spPr>
          <a:xfrm>
            <a:off x="640080" y="4160000"/>
            <a:ext cx="104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400" b="0" i="1">
                <a:solidFill>
                  <a:srgbClr val="C9D2E6"/>
                </a:solidFill>
                <a:latin typeface="Arial"/>
              </a:rPr>
              <a:t>Online store  -  parcel drop-off and tracking  -  e-Dinar payment  -  professional area</a:t>
            </a:r>
          </a:p>
        </p:txBody>
      </p:sp>
      <p:sp>
        <p:nvSpPr>
          <p:cNvPr id="10" name="s10"/>
          <p:cNvSpPr/>
          <p:nvPr/>
        </p:nvSpPr>
        <p:spPr>
          <a:xfrm>
            <a:off x="640080" y="5050000"/>
            <a:ext cx="5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300" b="1" i="0">
                <a:solidFill>
                  <a:srgbClr val="F4C400"/>
                </a:solidFill>
                <a:latin typeface="Arial"/>
              </a:rPr>
              <a:t>Carried out by: </a:t>
            </a:r>
            <a:r>
              <a:rPr lang="en-US" sz="1300" b="0" i="0">
                <a:solidFill>
                  <a:srgbClr val="FFFFFF"/>
                </a:solidFill>
                <a:latin typeface="Arial"/>
              </a:rPr>
              <a:t>Sarra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300" b="1" i="0">
                <a:solidFill>
                  <a:srgbClr val="F4C400"/>
                </a:solidFill>
                <a:latin typeface="Arial"/>
              </a:rPr>
              <a:t>Supervised by: </a:t>
            </a:r>
            <a:r>
              <a:rPr lang="en-US" sz="1300" b="0" i="0">
                <a:solidFill>
                  <a:srgbClr val="FFFFFF"/>
                </a:solidFill>
                <a:latin typeface="Arial"/>
              </a:rPr>
              <a:t>...............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300" b="1" i="0">
                <a:solidFill>
                  <a:srgbClr val="F4C400"/>
                </a:solidFill>
                <a:latin typeface="Arial"/>
              </a:rPr>
              <a:t>Academic year: </a:t>
            </a:r>
            <a:r>
              <a:rPr lang="en-US" sz="1300" b="0" i="0">
                <a:solidFill>
                  <a:srgbClr val="FFFFFF"/>
                </a:solidFill>
                <a:latin typeface="Arial"/>
              </a:rPr>
              <a:t>2025 - 2026</a:t>
            </a:r>
          </a:p>
        </p:txBody>
      </p:sp>
      <p:sp>
        <p:nvSpPr>
          <p:cNvPr id="11" name="s11"/>
          <p:cNvSpPr/>
          <p:nvPr/>
        </p:nvSpPr>
        <p:spPr>
          <a:xfrm>
            <a:off x="8592000" y="5350000"/>
            <a:ext cx="3000000" cy="500000"/>
          </a:xfrm>
          <a:prstGeom prst="roundRect">
            <a:avLst>
              <a:gd name="adj" fmla="val 30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300" b="1" i="0">
                <a:solidFill>
                  <a:srgbClr val="1C2A5E"/>
                </a:solidFill>
                <a:latin typeface="Arial"/>
              </a:rPr>
              <a:t>Final Year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200" b="1" i="0">
                <a:solidFill>
                  <a:srgbClr val="9A7B12"/>
                </a:solidFill>
                <a:latin typeface="Arial"/>
              </a:rPr>
              <a:t>PRESENTATION PLAN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3200" b="1" i="0">
                <a:solidFill>
                  <a:srgbClr val="1C2A5E"/>
                </a:solidFill>
                <a:latin typeface="Arial"/>
              </a:rPr>
              <a:t>Table of Contents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000" b="0" i="0">
                <a:solidFill>
                  <a:srgbClr val="8A90A0"/>
                </a:solidFill>
                <a:latin typeface="Arial"/>
              </a:rPr>
              <a:t>e-Boutique - Tunisian Post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050000"/>
            <a:ext cx="470000" cy="470000"/>
          </a:xfrm>
          <a:prstGeom prst="roundRect">
            <a:avLst>
              <a:gd name="adj" fmla="val 30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1400" b="1" i="0">
                <a:solidFill>
                  <a:srgbClr val="1C2A5E"/>
                </a:solidFill>
                <a:latin typeface="Arial"/>
              </a:rPr>
              <a:t>1</a:t>
            </a:r>
          </a:p>
        </p:txBody>
      </p:sp>
      <p:sp>
        <p:nvSpPr>
          <p:cNvPr id="9" name="s9"/>
          <p:cNvSpPr/>
          <p:nvPr/>
        </p:nvSpPr>
        <p:spPr>
          <a:xfrm>
            <a:off x="1200080" y="2050000"/>
            <a:ext cx="4835920" cy="4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1C2A5E"/>
                </a:solidFill>
                <a:latin typeface="Arial"/>
              </a:rPr>
              <a:t>Presentation of the host organization</a:t>
            </a:r>
          </a:p>
        </p:txBody>
      </p:sp>
      <p:sp>
        <p:nvSpPr>
          <p:cNvPr id="10" name="s10"/>
          <p:cNvSpPr/>
          <p:nvPr/>
        </p:nvSpPr>
        <p:spPr>
          <a:xfrm>
            <a:off x="640080" y="2540000"/>
            <a:ext cx="470000" cy="470000"/>
          </a:xfrm>
          <a:prstGeom prst="roundRect">
            <a:avLst>
              <a:gd name="adj" fmla="val 30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1400" b="1" i="0">
                <a:solidFill>
                  <a:srgbClr val="1C2A5E"/>
                </a:solidFill>
                <a:latin typeface="Arial"/>
              </a:rPr>
              <a:t>2</a:t>
            </a:r>
          </a:p>
        </p:txBody>
      </p:sp>
      <p:sp>
        <p:nvSpPr>
          <p:cNvPr id="11" name="s11"/>
          <p:cNvSpPr/>
          <p:nvPr/>
        </p:nvSpPr>
        <p:spPr>
          <a:xfrm>
            <a:off x="1200080" y="2540000"/>
            <a:ext cx="4835920" cy="4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1C2A5E"/>
                </a:solidFill>
                <a:latin typeface="Arial"/>
              </a:rPr>
              <a:t>Project context</a:t>
            </a:r>
          </a:p>
        </p:txBody>
      </p:sp>
      <p:sp>
        <p:nvSpPr>
          <p:cNvPr id="12" name="s12"/>
          <p:cNvSpPr/>
          <p:nvPr/>
        </p:nvSpPr>
        <p:spPr>
          <a:xfrm>
            <a:off x="640080" y="3030000"/>
            <a:ext cx="470000" cy="470000"/>
          </a:xfrm>
          <a:prstGeom prst="roundRect">
            <a:avLst>
              <a:gd name="adj" fmla="val 30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1400" b="1" i="0">
                <a:solidFill>
                  <a:srgbClr val="1C2A5E"/>
                </a:solidFill>
                <a:latin typeface="Arial"/>
              </a:rPr>
              <a:t>3</a:t>
            </a:r>
          </a:p>
        </p:txBody>
      </p:sp>
      <p:sp>
        <p:nvSpPr>
          <p:cNvPr id="13" name="s13"/>
          <p:cNvSpPr/>
          <p:nvPr/>
        </p:nvSpPr>
        <p:spPr>
          <a:xfrm>
            <a:off x="1200080" y="3030000"/>
            <a:ext cx="4835920" cy="4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1C2A5E"/>
                </a:solidFill>
                <a:latin typeface="Arial"/>
              </a:rPr>
              <a:t>Problem statement</a:t>
            </a:r>
          </a:p>
        </p:txBody>
      </p:sp>
      <p:sp>
        <p:nvSpPr>
          <p:cNvPr id="14" name="s14"/>
          <p:cNvSpPr/>
          <p:nvPr/>
        </p:nvSpPr>
        <p:spPr>
          <a:xfrm>
            <a:off x="640080" y="3520000"/>
            <a:ext cx="470000" cy="470000"/>
          </a:xfrm>
          <a:prstGeom prst="roundRect">
            <a:avLst>
              <a:gd name="adj" fmla="val 30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1400" b="1" i="0">
                <a:solidFill>
                  <a:srgbClr val="1C2A5E"/>
                </a:solidFill>
                <a:latin typeface="Arial"/>
              </a:rPr>
              <a:t>4</a:t>
            </a:r>
          </a:p>
        </p:txBody>
      </p:sp>
      <p:sp>
        <p:nvSpPr>
          <p:cNvPr id="15" name="s15"/>
          <p:cNvSpPr/>
          <p:nvPr/>
        </p:nvSpPr>
        <p:spPr>
          <a:xfrm>
            <a:off x="1200080" y="3520000"/>
            <a:ext cx="4835920" cy="4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1C2A5E"/>
                </a:solidFill>
                <a:latin typeface="Arial"/>
              </a:rPr>
              <a:t>Study of the existing situation and critique</a:t>
            </a:r>
          </a:p>
        </p:txBody>
      </p:sp>
      <p:sp>
        <p:nvSpPr>
          <p:cNvPr id="16" name="s16"/>
          <p:cNvSpPr/>
          <p:nvPr/>
        </p:nvSpPr>
        <p:spPr>
          <a:xfrm>
            <a:off x="640080" y="4010000"/>
            <a:ext cx="470000" cy="470000"/>
          </a:xfrm>
          <a:prstGeom prst="roundRect">
            <a:avLst>
              <a:gd name="adj" fmla="val 30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1400" b="1" i="0">
                <a:solidFill>
                  <a:srgbClr val="1C2A5E"/>
                </a:solidFill>
                <a:latin typeface="Arial"/>
              </a:rPr>
              <a:t>5</a:t>
            </a:r>
          </a:p>
        </p:txBody>
      </p:sp>
      <p:sp>
        <p:nvSpPr>
          <p:cNvPr id="17" name="s17"/>
          <p:cNvSpPr/>
          <p:nvPr/>
        </p:nvSpPr>
        <p:spPr>
          <a:xfrm>
            <a:off x="1200080" y="4010000"/>
            <a:ext cx="4835920" cy="4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1C2A5E"/>
                </a:solidFill>
                <a:latin typeface="Arial"/>
              </a:rPr>
              <a:t>Proposed solution</a:t>
            </a:r>
          </a:p>
        </p:txBody>
      </p:sp>
      <p:sp>
        <p:nvSpPr>
          <p:cNvPr id="18" name="s18"/>
          <p:cNvSpPr/>
          <p:nvPr/>
        </p:nvSpPr>
        <p:spPr>
          <a:xfrm>
            <a:off x="6096000" y="2050000"/>
            <a:ext cx="470000" cy="470000"/>
          </a:xfrm>
          <a:prstGeom prst="roundRect">
            <a:avLst>
              <a:gd name="adj" fmla="val 30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1400" b="1" i="0">
                <a:solidFill>
                  <a:srgbClr val="1C2A5E"/>
                </a:solidFill>
                <a:latin typeface="Arial"/>
              </a:rPr>
              <a:t>6</a:t>
            </a:r>
          </a:p>
        </p:txBody>
      </p:sp>
      <p:sp>
        <p:nvSpPr>
          <p:cNvPr id="19" name="s19"/>
          <p:cNvSpPr/>
          <p:nvPr/>
        </p:nvSpPr>
        <p:spPr>
          <a:xfrm>
            <a:off x="6656000" y="2050000"/>
            <a:ext cx="4835920" cy="4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1C2A5E"/>
                </a:solidFill>
                <a:latin typeface="Arial"/>
              </a:rPr>
              <a:t>Work methodology</a:t>
            </a:r>
          </a:p>
        </p:txBody>
      </p:sp>
      <p:sp>
        <p:nvSpPr>
          <p:cNvPr id="20" name="s20"/>
          <p:cNvSpPr/>
          <p:nvPr/>
        </p:nvSpPr>
        <p:spPr>
          <a:xfrm>
            <a:off x="6096000" y="2540000"/>
            <a:ext cx="470000" cy="470000"/>
          </a:xfrm>
          <a:prstGeom prst="roundRect">
            <a:avLst>
              <a:gd name="adj" fmla="val 30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1400" b="1" i="0">
                <a:solidFill>
                  <a:srgbClr val="1C2A5E"/>
                </a:solidFill>
                <a:latin typeface="Arial"/>
              </a:rPr>
              <a:t>7</a:t>
            </a:r>
          </a:p>
        </p:txBody>
      </p:sp>
      <p:sp>
        <p:nvSpPr>
          <p:cNvPr id="21" name="s21"/>
          <p:cNvSpPr/>
          <p:nvPr/>
        </p:nvSpPr>
        <p:spPr>
          <a:xfrm>
            <a:off x="6656000" y="2540000"/>
            <a:ext cx="4835920" cy="4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1C2A5E"/>
                </a:solidFill>
                <a:latin typeface="Arial"/>
              </a:rPr>
              <a:t>Functional and non-functional requirements</a:t>
            </a:r>
          </a:p>
        </p:txBody>
      </p:sp>
      <p:sp>
        <p:nvSpPr>
          <p:cNvPr id="22" name="s22"/>
          <p:cNvSpPr/>
          <p:nvPr/>
        </p:nvSpPr>
        <p:spPr>
          <a:xfrm>
            <a:off x="6096000" y="3030000"/>
            <a:ext cx="470000" cy="470000"/>
          </a:xfrm>
          <a:prstGeom prst="roundRect">
            <a:avLst>
              <a:gd name="adj" fmla="val 30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1400" b="1" i="0">
                <a:solidFill>
                  <a:srgbClr val="1C2A5E"/>
                </a:solidFill>
                <a:latin typeface="Arial"/>
              </a:rPr>
              <a:t>8</a:t>
            </a:r>
          </a:p>
        </p:txBody>
      </p:sp>
      <p:sp>
        <p:nvSpPr>
          <p:cNvPr id="23" name="s23"/>
          <p:cNvSpPr/>
          <p:nvPr/>
        </p:nvSpPr>
        <p:spPr>
          <a:xfrm>
            <a:off x="6656000" y="3030000"/>
            <a:ext cx="4835920" cy="4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1C2A5E"/>
                </a:solidFill>
                <a:latin typeface="Arial"/>
              </a:rPr>
              <a:t>Use case diagram</a:t>
            </a:r>
          </a:p>
        </p:txBody>
      </p:sp>
      <p:sp>
        <p:nvSpPr>
          <p:cNvPr id="24" name="s24"/>
          <p:cNvSpPr/>
          <p:nvPr/>
        </p:nvSpPr>
        <p:spPr>
          <a:xfrm>
            <a:off x="6096000" y="3520000"/>
            <a:ext cx="470000" cy="470000"/>
          </a:xfrm>
          <a:prstGeom prst="roundRect">
            <a:avLst>
              <a:gd name="adj" fmla="val 30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1400" b="1" i="0">
                <a:solidFill>
                  <a:srgbClr val="1C2A5E"/>
                </a:solidFill>
                <a:latin typeface="Arial"/>
              </a:rPr>
              <a:t>9</a:t>
            </a:r>
          </a:p>
        </p:txBody>
      </p:sp>
      <p:sp>
        <p:nvSpPr>
          <p:cNvPr id="25" name="s25"/>
          <p:cNvSpPr/>
          <p:nvPr/>
        </p:nvSpPr>
        <p:spPr>
          <a:xfrm>
            <a:off x="6656000" y="3520000"/>
            <a:ext cx="4835920" cy="4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1C2A5E"/>
                </a:solidFill>
                <a:latin typeface="Arial"/>
              </a:rPr>
              <a:t>Analysis class diagram</a:t>
            </a:r>
          </a:p>
        </p:txBody>
      </p:sp>
      <p:sp>
        <p:nvSpPr>
          <p:cNvPr id="26" name="s26"/>
          <p:cNvSpPr/>
          <p:nvPr/>
        </p:nvSpPr>
        <p:spPr>
          <a:xfrm>
            <a:off x="6096000" y="4010000"/>
            <a:ext cx="470000" cy="470000"/>
          </a:xfrm>
          <a:prstGeom prst="roundRect">
            <a:avLst>
              <a:gd name="adj" fmla="val 30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1400" b="1" i="0">
                <a:solidFill>
                  <a:srgbClr val="1C2A5E"/>
                </a:solidFill>
                <a:latin typeface="Arial"/>
              </a:rPr>
              <a:t>10</a:t>
            </a:r>
          </a:p>
        </p:txBody>
      </p:sp>
      <p:sp>
        <p:nvSpPr>
          <p:cNvPr id="27" name="s27"/>
          <p:cNvSpPr/>
          <p:nvPr/>
        </p:nvSpPr>
        <p:spPr>
          <a:xfrm>
            <a:off x="6656000" y="4010000"/>
            <a:ext cx="4835920" cy="4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1C2A5E"/>
                </a:solidFill>
                <a:latin typeface="Arial"/>
              </a:rPr>
              <a:t>Tools and technologies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200" b="1" i="0">
                <a:solidFill>
                  <a:srgbClr val="9A7B12"/>
                </a:solidFill>
                <a:latin typeface="Arial"/>
              </a:rPr>
              <a:t>01 - HOST ORGANIZATION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3200" b="1" i="0">
                <a:solidFill>
                  <a:srgbClr val="1C2A5E"/>
                </a:solidFill>
                <a:latin typeface="Arial"/>
              </a:rPr>
              <a:t>The Tunisian Post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000" b="0" i="0">
                <a:solidFill>
                  <a:srgbClr val="8A90A0"/>
                </a:solidFill>
                <a:latin typeface="Arial"/>
              </a:rPr>
              <a:t>e-Boutique - Tunisian Post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s8"/>
          <p:cNvSpPr/>
          <p:nvPr/>
        </p:nvSpPr>
        <p:spPr>
          <a:xfrm>
            <a:off x="640080" y="1830000"/>
            <a:ext cx="1091184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400" b="0" i="0">
                <a:solidFill>
                  <a:srgbClr val="44495A"/>
                </a:solidFill>
                <a:latin typeface="Arial"/>
              </a:rPr>
              <a:t>A public establishment of an industrial and commercial nature - a dense network of offices covering the entire national territory, providing local service to citizens and businesses.</a:t>
            </a:r>
          </a:p>
        </p:txBody>
      </p:sp>
      <p:sp>
        <p:nvSpPr>
          <p:cNvPr id="9" name="s9"/>
          <p:cNvSpPr/>
          <p:nvPr/>
        </p:nvSpPr>
        <p:spPr>
          <a:xfrm>
            <a:off x="640080" y="2550000"/>
            <a:ext cx="3477280" cy="3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10"/>
          <p:cNvSpPr/>
          <p:nvPr/>
        </p:nvSpPr>
        <p:spPr>
          <a:xfrm>
            <a:off x="640080" y="25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1 - Postal services</a:t>
            </a:r>
          </a:p>
        </p:txBody>
      </p:sp>
      <p:sp>
        <p:nvSpPr>
          <p:cNvPr id="11" name="s11"/>
          <p:cNvSpPr/>
          <p:nvPr/>
        </p:nvSpPr>
        <p:spPr>
          <a:xfrm>
            <a:off x="640080" y="28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2" name="s12"/>
          <p:cNvSpPr/>
          <p:nvPr/>
        </p:nvSpPr>
        <p:spPr>
          <a:xfrm>
            <a:off x="640080" y="3190000"/>
            <a:ext cx="3477280" cy="277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Mail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Parcels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Rapid-Poste</a:t>
            </a:r>
          </a:p>
        </p:txBody>
      </p:sp>
      <p:sp>
        <p:nvSpPr>
          <p:cNvPr id="13" name="s13"/>
          <p:cNvSpPr/>
          <p:nvPr/>
        </p:nvSpPr>
        <p:spPr>
          <a:xfrm>
            <a:off x="4357360" y="2550000"/>
            <a:ext cx="3477280" cy="3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14"/>
          <p:cNvSpPr/>
          <p:nvPr/>
        </p:nvSpPr>
        <p:spPr>
          <a:xfrm>
            <a:off x="4357360" y="25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2 - Financial services</a:t>
            </a:r>
          </a:p>
        </p:txBody>
      </p:sp>
      <p:sp>
        <p:nvSpPr>
          <p:cNvPr id="15" name="s15"/>
          <p:cNvSpPr/>
          <p:nvPr/>
        </p:nvSpPr>
        <p:spPr>
          <a:xfrm>
            <a:off x="4357360" y="28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6" name="s16"/>
          <p:cNvSpPr/>
          <p:nvPr/>
        </p:nvSpPr>
        <p:spPr>
          <a:xfrm>
            <a:off x="4357360" y="3190000"/>
            <a:ext cx="3477280" cy="277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Postal accounts (CCP)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Money orders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Savings</a:t>
            </a:r>
          </a:p>
        </p:txBody>
      </p:sp>
      <p:sp>
        <p:nvSpPr>
          <p:cNvPr id="17" name="s17"/>
          <p:cNvSpPr/>
          <p:nvPr/>
        </p:nvSpPr>
        <p:spPr>
          <a:xfrm>
            <a:off x="8074640" y="2550000"/>
            <a:ext cx="3477280" cy="3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18"/>
          <p:cNvSpPr/>
          <p:nvPr/>
        </p:nvSpPr>
        <p:spPr>
          <a:xfrm>
            <a:off x="8074640" y="25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3 - Digital services</a:t>
            </a:r>
          </a:p>
        </p:txBody>
      </p:sp>
      <p:sp>
        <p:nvSpPr>
          <p:cNvPr id="19" name="s19"/>
          <p:cNvSpPr/>
          <p:nvPr/>
        </p:nvSpPr>
        <p:spPr>
          <a:xfrm>
            <a:off x="8074640" y="28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0" name="s20"/>
          <p:cNvSpPr/>
          <p:nvPr/>
        </p:nvSpPr>
        <p:spPr>
          <a:xfrm>
            <a:off x="8074640" y="3190000"/>
            <a:ext cx="3477280" cy="277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e-Dinar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Online payment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200" b="1" i="0">
                <a:solidFill>
                  <a:srgbClr val="9A7B12"/>
                </a:solidFill>
                <a:latin typeface="Arial"/>
              </a:rPr>
              <a:t>02 - PROJECT CONTEXT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3200" b="1" i="0">
                <a:solidFill>
                  <a:srgbClr val="1C2A5E"/>
                </a:solidFill>
                <a:latin typeface="Arial"/>
              </a:rPr>
              <a:t>A necessary digital transformation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000" b="0" i="0">
                <a:solidFill>
                  <a:srgbClr val="8A90A0"/>
                </a:solidFill>
                <a:latin typeface="Arial"/>
              </a:rPr>
              <a:t>e-Boutique - Tunisian Post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050000"/>
            <a:ext cx="347728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9"/>
          <p:cNvSpPr/>
          <p:nvPr/>
        </p:nvSpPr>
        <p:spPr>
          <a:xfrm>
            <a:off x="64008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1 - Growth of e-commerce</a:t>
            </a:r>
          </a:p>
        </p:txBody>
      </p:sp>
      <p:sp>
        <p:nvSpPr>
          <p:cNvPr id="10" name="s10"/>
          <p:cNvSpPr/>
          <p:nvPr/>
        </p:nvSpPr>
        <p:spPr>
          <a:xfrm>
            <a:off x="64008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1" name="s11"/>
          <p:cNvSpPr/>
          <p:nvPr/>
        </p:nvSpPr>
        <p:spPr>
          <a:xfrm>
            <a:off x="640080" y="2690000"/>
            <a:ext cx="347728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Users expect fast, online services.</a:t>
            </a:r>
          </a:p>
        </p:txBody>
      </p:sp>
      <p:sp>
        <p:nvSpPr>
          <p:cNvPr id="12" name="s12"/>
          <p:cNvSpPr/>
          <p:nvPr/>
        </p:nvSpPr>
        <p:spPr>
          <a:xfrm>
            <a:off x="4357360" y="2050000"/>
            <a:ext cx="347728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13"/>
          <p:cNvSpPr/>
          <p:nvPr/>
        </p:nvSpPr>
        <p:spPr>
          <a:xfrm>
            <a:off x="435736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2 - Still-physical services</a:t>
            </a:r>
          </a:p>
        </p:txBody>
      </p:sp>
      <p:sp>
        <p:nvSpPr>
          <p:cNvPr id="14" name="s14"/>
          <p:cNvSpPr/>
          <p:nvPr/>
        </p:nvSpPr>
        <p:spPr>
          <a:xfrm>
            <a:off x="435736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5" name="s15"/>
          <p:cNvSpPr/>
          <p:nvPr/>
        </p:nvSpPr>
        <p:spPr>
          <a:xfrm>
            <a:off x="4357360" y="2690000"/>
            <a:ext cx="347728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Most operations take place at the counter.</a:t>
            </a:r>
          </a:p>
        </p:txBody>
      </p:sp>
      <p:sp>
        <p:nvSpPr>
          <p:cNvPr id="16" name="s16"/>
          <p:cNvSpPr/>
          <p:nvPr/>
        </p:nvSpPr>
        <p:spPr>
          <a:xfrm>
            <a:off x="8074640" y="2050000"/>
            <a:ext cx="347728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17"/>
          <p:cNvSpPr/>
          <p:nvPr/>
        </p:nvSpPr>
        <p:spPr>
          <a:xfrm>
            <a:off x="807464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3 - Public-service challenge</a:t>
            </a:r>
          </a:p>
        </p:txBody>
      </p:sp>
      <p:sp>
        <p:nvSpPr>
          <p:cNvPr id="18" name="s18"/>
          <p:cNvSpPr/>
          <p:nvPr/>
        </p:nvSpPr>
        <p:spPr>
          <a:xfrm>
            <a:off x="807464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9" name="s19"/>
          <p:cNvSpPr/>
          <p:nvPr/>
        </p:nvSpPr>
        <p:spPr>
          <a:xfrm>
            <a:off x="8074640" y="2690000"/>
            <a:ext cx="347728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Modernize the offering and gain efficiency.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200" b="1" i="0">
                <a:solidFill>
                  <a:srgbClr val="9A7B12"/>
                </a:solidFill>
                <a:latin typeface="Arial"/>
              </a:rPr>
              <a:t>03 - PROBLEM STATEMENT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3200" b="1" i="0">
                <a:solidFill>
                  <a:srgbClr val="1C2A5E"/>
                </a:solidFill>
                <a:latin typeface="Arial"/>
              </a:rPr>
              <a:t>The problem posed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000" b="0" i="0">
                <a:solidFill>
                  <a:srgbClr val="8A90A0"/>
                </a:solidFill>
                <a:latin typeface="Arial"/>
              </a:rPr>
              <a:t>e-Boutique - Tunisian Post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050000"/>
            <a:ext cx="10911840" cy="180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 wrap="square" lIns="500000" tIns="45720" rIns="500000" bIns="45720" anchor="ctr">
            <a:normAutofit/>
          </a:bodyPr>
          <a:lstStyle/>
          <a:p>
            <a:pPr algn="ctr">
              <a:buNone/>
            </a:pPr>
            <a:r>
              <a:rPr lang="en-US" sz="2000" b="1" i="0">
                <a:solidFill>
                  <a:srgbClr val="FFFFFF"/>
                </a:solidFill>
                <a:latin typeface="Arial"/>
              </a:rPr>
              <a:t>How can the services of the Tunisian Post be digitized and unified within a single, simple and secure platform - accessible remotely for the citizen and efficient for the staff?</a:t>
            </a:r>
          </a:p>
        </p:txBody>
      </p:sp>
      <p:sp>
        <p:nvSpPr>
          <p:cNvPr id="9" name="s9"/>
          <p:cNvSpPr/>
          <p:nvPr/>
        </p:nvSpPr>
        <p:spPr>
          <a:xfrm>
            <a:off x="640080" y="4250000"/>
            <a:ext cx="3477280" cy="620000"/>
          </a:xfrm>
          <a:prstGeom prst="roundRect">
            <a:avLst>
              <a:gd name="adj" fmla="val 25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300" b="1" i="0">
                <a:solidFill>
                  <a:srgbClr val="1C2A5E"/>
                </a:solidFill>
                <a:latin typeface="Arial"/>
              </a:rPr>
              <a:t>Queues at the counter</a:t>
            </a:r>
          </a:p>
        </p:txBody>
      </p:sp>
      <p:sp>
        <p:nvSpPr>
          <p:cNvPr id="10" name="s10"/>
          <p:cNvSpPr/>
          <p:nvPr/>
        </p:nvSpPr>
        <p:spPr>
          <a:xfrm>
            <a:off x="4357360" y="4250000"/>
            <a:ext cx="3477280" cy="620000"/>
          </a:xfrm>
          <a:prstGeom prst="roundRect">
            <a:avLst>
              <a:gd name="adj" fmla="val 25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300" b="1" i="0">
                <a:solidFill>
                  <a:srgbClr val="1C2A5E"/>
                </a:solidFill>
                <a:latin typeface="Arial"/>
              </a:rPr>
              <a:t>Time lost for the citizen</a:t>
            </a:r>
          </a:p>
        </p:txBody>
      </p:sp>
      <p:sp>
        <p:nvSpPr>
          <p:cNvPr id="11" name="s11"/>
          <p:cNvSpPr/>
          <p:nvPr/>
        </p:nvSpPr>
        <p:spPr>
          <a:xfrm>
            <a:off x="8074640" y="4250000"/>
            <a:ext cx="3477280" cy="620000"/>
          </a:xfrm>
          <a:prstGeom prst="roundRect">
            <a:avLst>
              <a:gd name="adj" fmla="val 25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300" b="1" i="0">
                <a:solidFill>
                  <a:srgbClr val="1C2A5E"/>
                </a:solidFill>
                <a:latin typeface="Arial"/>
              </a:rPr>
              <a:t>Fragmented online offering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200" b="1" i="0">
                <a:solidFill>
                  <a:srgbClr val="9A7B12"/>
                </a:solidFill>
                <a:latin typeface="Arial"/>
              </a:rPr>
              <a:t>04 - STUDY OF THE EXISTING SITUATION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3200" b="1" i="0">
                <a:solidFill>
                  <a:srgbClr val="1C2A5E"/>
                </a:solidFill>
                <a:latin typeface="Arial"/>
              </a:rPr>
              <a:t>Existing situation and critique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000" b="0" i="0">
                <a:solidFill>
                  <a:srgbClr val="8A90A0"/>
                </a:solidFill>
                <a:latin typeface="Arial"/>
              </a:rPr>
              <a:t>e-Boutique - Tunisian Post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050000"/>
            <a:ext cx="533592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9"/>
          <p:cNvSpPr/>
          <p:nvPr/>
        </p:nvSpPr>
        <p:spPr>
          <a:xfrm>
            <a:off x="640080" y="2050000"/>
            <a:ext cx="533592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Current situation</a:t>
            </a:r>
          </a:p>
        </p:txBody>
      </p:sp>
      <p:sp>
        <p:nvSpPr>
          <p:cNvPr id="10" name="s10"/>
          <p:cNvSpPr/>
          <p:nvPr/>
        </p:nvSpPr>
        <p:spPr>
          <a:xfrm>
            <a:off x="640080" y="2350000"/>
            <a:ext cx="533592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1" name="s11"/>
          <p:cNvSpPr/>
          <p:nvPr/>
        </p:nvSpPr>
        <p:spPr>
          <a:xfrm>
            <a:off x="640080" y="2690000"/>
            <a:ext cx="533592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Purchase - at the office only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Parcel drop-off - at the counter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Tracking - not unified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Payment - in cash, on site</a:t>
            </a:r>
          </a:p>
        </p:txBody>
      </p:sp>
      <p:sp>
        <p:nvSpPr>
          <p:cNvPr id="12" name="s12"/>
          <p:cNvSpPr/>
          <p:nvPr/>
        </p:nvSpPr>
        <p:spPr>
          <a:xfrm>
            <a:off x="6216000" y="2050000"/>
            <a:ext cx="533592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13"/>
          <p:cNvSpPr/>
          <p:nvPr/>
        </p:nvSpPr>
        <p:spPr>
          <a:xfrm>
            <a:off x="6216000" y="2050000"/>
            <a:ext cx="533592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Observed limitations</a:t>
            </a:r>
          </a:p>
        </p:txBody>
      </p:sp>
      <p:sp>
        <p:nvSpPr>
          <p:cNvPr id="14" name="s14"/>
          <p:cNvSpPr/>
          <p:nvPr/>
        </p:nvSpPr>
        <p:spPr>
          <a:xfrm>
            <a:off x="6216000" y="2350000"/>
            <a:ext cx="533592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5" name="s15"/>
          <p:cNvSpPr/>
          <p:nvPr/>
        </p:nvSpPr>
        <p:spPr>
          <a:xfrm>
            <a:off x="6216000" y="2690000"/>
            <a:ext cx="533592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Mandatory travel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Queues and time loss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Workload of the agents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No real-time tracking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Incomplete online offering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200" b="1" i="0">
                <a:solidFill>
                  <a:srgbClr val="9A7B12"/>
                </a:solidFill>
                <a:latin typeface="Arial"/>
              </a:rPr>
              <a:t>05 - PROPOSED SOLUTION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3200" b="1" i="0">
                <a:solidFill>
                  <a:srgbClr val="1C2A5E"/>
                </a:solidFill>
                <a:latin typeface="Arial"/>
              </a:rPr>
              <a:t>The e-Boutique platform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000" b="0" i="0">
                <a:solidFill>
                  <a:srgbClr val="8A90A0"/>
                </a:solidFill>
                <a:latin typeface="Arial"/>
              </a:rPr>
              <a:t>e-Boutique - Tunisian Post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050000"/>
            <a:ext cx="254796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9"/>
          <p:cNvSpPr/>
          <p:nvPr/>
        </p:nvSpPr>
        <p:spPr>
          <a:xfrm>
            <a:off x="640080" y="2050000"/>
            <a:ext cx="254796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Store &amp; Drop-off</a:t>
            </a:r>
          </a:p>
        </p:txBody>
      </p:sp>
      <p:sp>
        <p:nvSpPr>
          <p:cNvPr id="10" name="s10"/>
          <p:cNvSpPr/>
          <p:nvPr/>
        </p:nvSpPr>
        <p:spPr>
          <a:xfrm>
            <a:off x="640080" y="2350000"/>
            <a:ext cx="254796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1" name="s11"/>
          <p:cNvSpPr/>
          <p:nvPr/>
        </p:nvSpPr>
        <p:spPr>
          <a:xfrm>
            <a:off x="640080" y="2690000"/>
            <a:ext cx="254796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Purchase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Parcels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Flowers</a:t>
            </a:r>
          </a:p>
        </p:txBody>
      </p:sp>
      <p:sp>
        <p:nvSpPr>
          <p:cNvPr id="12" name="s12"/>
          <p:cNvSpPr/>
          <p:nvPr/>
        </p:nvSpPr>
        <p:spPr>
          <a:xfrm>
            <a:off x="3428040" y="2050000"/>
            <a:ext cx="254796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13"/>
          <p:cNvSpPr/>
          <p:nvPr/>
        </p:nvSpPr>
        <p:spPr>
          <a:xfrm>
            <a:off x="3428040" y="2050000"/>
            <a:ext cx="254796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Parcel tracking</a:t>
            </a:r>
          </a:p>
        </p:txBody>
      </p:sp>
      <p:sp>
        <p:nvSpPr>
          <p:cNvPr id="14" name="s14"/>
          <p:cNvSpPr/>
          <p:nvPr/>
        </p:nvSpPr>
        <p:spPr>
          <a:xfrm>
            <a:off x="3428040" y="2350000"/>
            <a:ext cx="254796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5" name="s15"/>
          <p:cNvSpPr/>
          <p:nvPr/>
        </p:nvSpPr>
        <p:spPr>
          <a:xfrm>
            <a:off x="3428040" y="2690000"/>
            <a:ext cx="254796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Real-time traceability</a:t>
            </a:r>
          </a:p>
        </p:txBody>
      </p:sp>
      <p:sp>
        <p:nvSpPr>
          <p:cNvPr id="16" name="s16"/>
          <p:cNvSpPr/>
          <p:nvPr/>
        </p:nvSpPr>
        <p:spPr>
          <a:xfrm>
            <a:off x="6216000" y="2050000"/>
            <a:ext cx="254796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17"/>
          <p:cNvSpPr/>
          <p:nvPr/>
        </p:nvSpPr>
        <p:spPr>
          <a:xfrm>
            <a:off x="6216000" y="2050000"/>
            <a:ext cx="254796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e-Dinar payment</a:t>
            </a:r>
          </a:p>
        </p:txBody>
      </p:sp>
      <p:sp>
        <p:nvSpPr>
          <p:cNvPr id="18" name="s18"/>
          <p:cNvSpPr/>
          <p:nvPr/>
        </p:nvSpPr>
        <p:spPr>
          <a:xfrm>
            <a:off x="6216000" y="2350000"/>
            <a:ext cx="254796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9" name="s19"/>
          <p:cNvSpPr/>
          <p:nvPr/>
        </p:nvSpPr>
        <p:spPr>
          <a:xfrm>
            <a:off x="6216000" y="2690000"/>
            <a:ext cx="254796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Online settlement</a:t>
            </a:r>
          </a:p>
        </p:txBody>
      </p:sp>
      <p:sp>
        <p:nvSpPr>
          <p:cNvPr id="20" name="s20"/>
          <p:cNvSpPr/>
          <p:nvPr/>
        </p:nvSpPr>
        <p:spPr>
          <a:xfrm>
            <a:off x="9003960" y="2050000"/>
            <a:ext cx="254796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21"/>
          <p:cNvSpPr/>
          <p:nvPr/>
        </p:nvSpPr>
        <p:spPr>
          <a:xfrm>
            <a:off x="9003960" y="2050000"/>
            <a:ext cx="254796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Security</a:t>
            </a:r>
          </a:p>
        </p:txBody>
      </p:sp>
      <p:sp>
        <p:nvSpPr>
          <p:cNvPr id="22" name="s22"/>
          <p:cNvSpPr/>
          <p:nvPr/>
        </p:nvSpPr>
        <p:spPr>
          <a:xfrm>
            <a:off x="9003960" y="2350000"/>
            <a:ext cx="254796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3" name="s23"/>
          <p:cNvSpPr/>
          <p:nvPr/>
        </p:nvSpPr>
        <p:spPr>
          <a:xfrm>
            <a:off x="9003960" y="2690000"/>
            <a:ext cx="254796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E-mail verification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- 2FA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200" b="1" i="0">
                <a:solidFill>
                  <a:srgbClr val="9A7B12"/>
                </a:solidFill>
                <a:latin typeface="Arial"/>
              </a:rPr>
              <a:t>06 - WORK METHODOLOGY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3200" b="1" i="0">
                <a:solidFill>
                  <a:srgbClr val="1C2A5E"/>
                </a:solidFill>
                <a:latin typeface="Arial"/>
              </a:rPr>
              <a:t>Agile Scrum method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000" b="0" i="0">
                <a:solidFill>
                  <a:srgbClr val="8A90A0"/>
                </a:solidFill>
                <a:latin typeface="Arial"/>
              </a:rPr>
              <a:t>e-Boutique - Tunisian Post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8" name="s8"/>
          <p:cNvSpPr/>
          <p:nvPr/>
        </p:nvSpPr>
        <p:spPr>
          <a:xfrm>
            <a:off x="640080" y="1830000"/>
            <a:ext cx="10911840" cy="4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300" b="0" i="0">
                <a:solidFill>
                  <a:srgbClr val="44495A"/>
                </a:solidFill>
                <a:latin typeface="Arial"/>
              </a:rPr>
              <a:t>Project carried out over 6 months, divided into 8 sprints - each delivering a functional and testable version.</a:t>
            </a:r>
          </a:p>
        </p:txBody>
      </p:sp>
      <p:sp>
        <p:nvSpPr>
          <p:cNvPr id="9" name="s9"/>
          <p:cNvSpPr/>
          <p:nvPr/>
        </p:nvSpPr>
        <p:spPr>
          <a:xfrm>
            <a:off x="640080" y="2320000"/>
            <a:ext cx="2577960" cy="1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10"/>
          <p:cNvSpPr/>
          <p:nvPr/>
        </p:nvSpPr>
        <p:spPr>
          <a:xfrm>
            <a:off x="640080" y="2320000"/>
            <a:ext cx="257796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S0</a:t>
            </a:r>
          </a:p>
        </p:txBody>
      </p:sp>
      <p:sp>
        <p:nvSpPr>
          <p:cNvPr id="11" name="s11"/>
          <p:cNvSpPr/>
          <p:nvPr/>
        </p:nvSpPr>
        <p:spPr>
          <a:xfrm>
            <a:off x="640080" y="2620000"/>
            <a:ext cx="257796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2" name="s12"/>
          <p:cNvSpPr/>
          <p:nvPr/>
        </p:nvSpPr>
        <p:spPr>
          <a:xfrm>
            <a:off x="640080" y="2960000"/>
            <a:ext cx="2577960" cy="9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Design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- 3 wks</a:t>
            </a:r>
          </a:p>
        </p:txBody>
      </p:sp>
      <p:sp>
        <p:nvSpPr>
          <p:cNvPr id="13" name="s13"/>
          <p:cNvSpPr/>
          <p:nvPr/>
        </p:nvSpPr>
        <p:spPr>
          <a:xfrm>
            <a:off x="3418040" y="2320000"/>
            <a:ext cx="2577960" cy="1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14"/>
          <p:cNvSpPr/>
          <p:nvPr/>
        </p:nvSpPr>
        <p:spPr>
          <a:xfrm>
            <a:off x="3418040" y="2320000"/>
            <a:ext cx="257796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S1</a:t>
            </a:r>
          </a:p>
        </p:txBody>
      </p:sp>
      <p:sp>
        <p:nvSpPr>
          <p:cNvPr id="15" name="s15"/>
          <p:cNvSpPr/>
          <p:nvPr/>
        </p:nvSpPr>
        <p:spPr>
          <a:xfrm>
            <a:off x="3418040" y="2620000"/>
            <a:ext cx="257796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6" name="s16"/>
          <p:cNvSpPr/>
          <p:nvPr/>
        </p:nvSpPr>
        <p:spPr>
          <a:xfrm>
            <a:off x="3418040" y="2960000"/>
            <a:ext cx="2577960" cy="9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Authentication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- 3 wks</a:t>
            </a:r>
          </a:p>
        </p:txBody>
      </p:sp>
      <p:sp>
        <p:nvSpPr>
          <p:cNvPr id="17" name="s17"/>
          <p:cNvSpPr/>
          <p:nvPr/>
        </p:nvSpPr>
        <p:spPr>
          <a:xfrm>
            <a:off x="6196000" y="2320000"/>
            <a:ext cx="2577960" cy="1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18"/>
          <p:cNvSpPr/>
          <p:nvPr/>
        </p:nvSpPr>
        <p:spPr>
          <a:xfrm>
            <a:off x="6196000" y="2320000"/>
            <a:ext cx="257796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S2</a:t>
            </a:r>
          </a:p>
        </p:txBody>
      </p:sp>
      <p:sp>
        <p:nvSpPr>
          <p:cNvPr id="19" name="s19"/>
          <p:cNvSpPr/>
          <p:nvPr/>
        </p:nvSpPr>
        <p:spPr>
          <a:xfrm>
            <a:off x="6196000" y="2620000"/>
            <a:ext cx="257796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0" name="s20"/>
          <p:cNvSpPr/>
          <p:nvPr/>
        </p:nvSpPr>
        <p:spPr>
          <a:xfrm>
            <a:off x="6196000" y="2960000"/>
            <a:ext cx="2577960" cy="9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Store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- 3 wks</a:t>
            </a:r>
          </a:p>
        </p:txBody>
      </p:sp>
      <p:sp>
        <p:nvSpPr>
          <p:cNvPr id="21" name="s21"/>
          <p:cNvSpPr/>
          <p:nvPr/>
        </p:nvSpPr>
        <p:spPr>
          <a:xfrm>
            <a:off x="8973960" y="2320000"/>
            <a:ext cx="2577960" cy="1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22"/>
          <p:cNvSpPr/>
          <p:nvPr/>
        </p:nvSpPr>
        <p:spPr>
          <a:xfrm>
            <a:off x="8973960" y="2320000"/>
            <a:ext cx="257796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S3</a:t>
            </a:r>
          </a:p>
        </p:txBody>
      </p:sp>
      <p:sp>
        <p:nvSpPr>
          <p:cNvPr id="23" name="s23"/>
          <p:cNvSpPr/>
          <p:nvPr/>
        </p:nvSpPr>
        <p:spPr>
          <a:xfrm>
            <a:off x="8973960" y="2620000"/>
            <a:ext cx="257796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4" name="s24"/>
          <p:cNvSpPr/>
          <p:nvPr/>
        </p:nvSpPr>
        <p:spPr>
          <a:xfrm>
            <a:off x="8973960" y="2960000"/>
            <a:ext cx="2577960" cy="9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Drop-off &amp; tracking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- 3 wks</a:t>
            </a:r>
          </a:p>
        </p:txBody>
      </p:sp>
      <p:sp>
        <p:nvSpPr>
          <p:cNvPr id="25" name="s25"/>
          <p:cNvSpPr/>
          <p:nvPr/>
        </p:nvSpPr>
        <p:spPr>
          <a:xfrm>
            <a:off x="640080" y="4120000"/>
            <a:ext cx="2577960" cy="1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26"/>
          <p:cNvSpPr/>
          <p:nvPr/>
        </p:nvSpPr>
        <p:spPr>
          <a:xfrm>
            <a:off x="640080" y="4120000"/>
            <a:ext cx="257796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S4</a:t>
            </a:r>
          </a:p>
        </p:txBody>
      </p:sp>
      <p:sp>
        <p:nvSpPr>
          <p:cNvPr id="27" name="s27"/>
          <p:cNvSpPr/>
          <p:nvPr/>
        </p:nvSpPr>
        <p:spPr>
          <a:xfrm>
            <a:off x="640080" y="4420000"/>
            <a:ext cx="257796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8" name="s28"/>
          <p:cNvSpPr/>
          <p:nvPr/>
        </p:nvSpPr>
        <p:spPr>
          <a:xfrm>
            <a:off x="640080" y="4760000"/>
            <a:ext cx="2577960" cy="9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Payment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- 2 wks</a:t>
            </a:r>
          </a:p>
        </p:txBody>
      </p:sp>
      <p:sp>
        <p:nvSpPr>
          <p:cNvPr id="29" name="s29"/>
          <p:cNvSpPr/>
          <p:nvPr/>
        </p:nvSpPr>
        <p:spPr>
          <a:xfrm>
            <a:off x="3418040" y="4120000"/>
            <a:ext cx="2577960" cy="1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30"/>
          <p:cNvSpPr/>
          <p:nvPr/>
        </p:nvSpPr>
        <p:spPr>
          <a:xfrm>
            <a:off x="3418040" y="4120000"/>
            <a:ext cx="257796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S5</a:t>
            </a:r>
          </a:p>
        </p:txBody>
      </p:sp>
      <p:sp>
        <p:nvSpPr>
          <p:cNvPr id="31" name="s31"/>
          <p:cNvSpPr/>
          <p:nvPr/>
        </p:nvSpPr>
        <p:spPr>
          <a:xfrm>
            <a:off x="3418040" y="4420000"/>
            <a:ext cx="257796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2" name="s32"/>
          <p:cNvSpPr/>
          <p:nvPr/>
        </p:nvSpPr>
        <p:spPr>
          <a:xfrm>
            <a:off x="3418040" y="4760000"/>
            <a:ext cx="2577960" cy="9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Pro area &amp; chat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- 3 wks</a:t>
            </a:r>
          </a:p>
        </p:txBody>
      </p:sp>
      <p:sp>
        <p:nvSpPr>
          <p:cNvPr id="33" name="s33"/>
          <p:cNvSpPr/>
          <p:nvPr/>
        </p:nvSpPr>
        <p:spPr>
          <a:xfrm>
            <a:off x="6196000" y="4120000"/>
            <a:ext cx="2577960" cy="1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34"/>
          <p:cNvSpPr/>
          <p:nvPr/>
        </p:nvSpPr>
        <p:spPr>
          <a:xfrm>
            <a:off x="6196000" y="4120000"/>
            <a:ext cx="257796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S6</a:t>
            </a:r>
          </a:p>
        </p:txBody>
      </p:sp>
      <p:sp>
        <p:nvSpPr>
          <p:cNvPr id="35" name="s35"/>
          <p:cNvSpPr/>
          <p:nvPr/>
        </p:nvSpPr>
        <p:spPr>
          <a:xfrm>
            <a:off x="6196000" y="4420000"/>
            <a:ext cx="257796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6" name="s36"/>
          <p:cNvSpPr/>
          <p:nvPr/>
        </p:nvSpPr>
        <p:spPr>
          <a:xfrm>
            <a:off x="6196000" y="4760000"/>
            <a:ext cx="2577960" cy="9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Security (2FA)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- 3 wks</a:t>
            </a:r>
          </a:p>
        </p:txBody>
      </p:sp>
      <p:sp>
        <p:nvSpPr>
          <p:cNvPr id="37" name="s37"/>
          <p:cNvSpPr/>
          <p:nvPr/>
        </p:nvSpPr>
        <p:spPr>
          <a:xfrm>
            <a:off x="8973960" y="4120000"/>
            <a:ext cx="2577960" cy="1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38"/>
          <p:cNvSpPr/>
          <p:nvPr/>
        </p:nvSpPr>
        <p:spPr>
          <a:xfrm>
            <a:off x="8973960" y="4120000"/>
            <a:ext cx="257796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S7</a:t>
            </a:r>
          </a:p>
        </p:txBody>
      </p:sp>
      <p:sp>
        <p:nvSpPr>
          <p:cNvPr id="39" name="s39"/>
          <p:cNvSpPr/>
          <p:nvPr/>
        </p:nvSpPr>
        <p:spPr>
          <a:xfrm>
            <a:off x="8973960" y="4420000"/>
            <a:ext cx="257796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40" name="s40"/>
          <p:cNvSpPr/>
          <p:nvPr/>
        </p:nvSpPr>
        <p:spPr>
          <a:xfrm>
            <a:off x="8973960" y="4760000"/>
            <a:ext cx="2577960" cy="9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Notifs &amp; fees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- 2 wks</a:t>
            </a:r>
          </a:p>
        </p:txBody>
      </p:sp>
      <p:sp>
        <p:nvSpPr>
          <p:cNvPr id="41" name="s41"/>
          <p:cNvSpPr/>
          <p:nvPr/>
        </p:nvSpPr>
        <p:spPr>
          <a:xfrm>
            <a:off x="640080" y="5980000"/>
            <a:ext cx="40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200" b="1" i="0">
                <a:solidFill>
                  <a:srgbClr val="1C2A5E"/>
                </a:solidFill>
                <a:latin typeface="Arial"/>
              </a:rPr>
              <a:t>February -&gt; July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200" b="1" i="0">
                <a:solidFill>
                  <a:srgbClr val="9A7B12"/>
                </a:solidFill>
                <a:latin typeface="Arial"/>
              </a:rPr>
              <a:t>06 - WORK METHODOLOGY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3200" b="1" i="0">
                <a:solidFill>
                  <a:srgbClr val="1C2A5E"/>
                </a:solidFill>
                <a:latin typeface="Arial"/>
              </a:rPr>
              <a:t>Why the agile method?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000" b="0" i="0">
                <a:solidFill>
                  <a:srgbClr val="8A90A0"/>
                </a:solidFill>
                <a:latin typeface="Arial"/>
              </a:rPr>
              <a:t>e-Boutique - Tunisian Post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050000"/>
            <a:ext cx="5335920" cy="18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9"/>
          <p:cNvSpPr/>
          <p:nvPr/>
        </p:nvSpPr>
        <p:spPr>
          <a:xfrm>
            <a:off x="640080" y="2050000"/>
            <a:ext cx="533592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1 - Flexibility</a:t>
            </a:r>
          </a:p>
        </p:txBody>
      </p:sp>
      <p:sp>
        <p:nvSpPr>
          <p:cNvPr id="10" name="s10"/>
          <p:cNvSpPr/>
          <p:nvPr/>
        </p:nvSpPr>
        <p:spPr>
          <a:xfrm>
            <a:off x="640080" y="2350000"/>
            <a:ext cx="533592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1" name="s11"/>
          <p:cNvSpPr/>
          <p:nvPr/>
        </p:nvSpPr>
        <p:spPr>
          <a:xfrm>
            <a:off x="640080" y="2690000"/>
            <a:ext cx="5335920" cy="115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Adapt the requirements and add new features along the way.</a:t>
            </a:r>
          </a:p>
        </p:txBody>
      </p:sp>
      <p:sp>
        <p:nvSpPr>
          <p:cNvPr id="12" name="s12"/>
          <p:cNvSpPr/>
          <p:nvPr/>
        </p:nvSpPr>
        <p:spPr>
          <a:xfrm>
            <a:off x="6216000" y="2050000"/>
            <a:ext cx="5335920" cy="18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13"/>
          <p:cNvSpPr/>
          <p:nvPr/>
        </p:nvSpPr>
        <p:spPr>
          <a:xfrm>
            <a:off x="6216000" y="2050000"/>
            <a:ext cx="533592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2 - Regular deliveries</a:t>
            </a:r>
          </a:p>
        </p:txBody>
      </p:sp>
      <p:sp>
        <p:nvSpPr>
          <p:cNvPr id="14" name="s14"/>
          <p:cNvSpPr/>
          <p:nvPr/>
        </p:nvSpPr>
        <p:spPr>
          <a:xfrm>
            <a:off x="6216000" y="2350000"/>
            <a:ext cx="533592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5" name="s15"/>
          <p:cNvSpPr/>
          <p:nvPr/>
        </p:nvSpPr>
        <p:spPr>
          <a:xfrm>
            <a:off x="6216000" y="2690000"/>
            <a:ext cx="5335920" cy="115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A functional, testable version at the end of each sprint.</a:t>
            </a:r>
          </a:p>
        </p:txBody>
      </p:sp>
      <p:sp>
        <p:nvSpPr>
          <p:cNvPr id="16" name="s16"/>
          <p:cNvSpPr/>
          <p:nvPr/>
        </p:nvSpPr>
        <p:spPr>
          <a:xfrm>
            <a:off x="640080" y="4120000"/>
            <a:ext cx="5335920" cy="18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17"/>
          <p:cNvSpPr/>
          <p:nvPr/>
        </p:nvSpPr>
        <p:spPr>
          <a:xfrm>
            <a:off x="640080" y="4120000"/>
            <a:ext cx="533592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3 - Continuous follow-up</a:t>
            </a:r>
          </a:p>
        </p:txBody>
      </p:sp>
      <p:sp>
        <p:nvSpPr>
          <p:cNvPr id="18" name="s18"/>
          <p:cNvSpPr/>
          <p:nvPr/>
        </p:nvSpPr>
        <p:spPr>
          <a:xfrm>
            <a:off x="640080" y="4420000"/>
            <a:ext cx="533592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9" name="s19"/>
          <p:cNvSpPr/>
          <p:nvPr/>
        </p:nvSpPr>
        <p:spPr>
          <a:xfrm>
            <a:off x="640080" y="4760000"/>
            <a:ext cx="5335920" cy="115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Progress visible and validated regularly with the supervisor.</a:t>
            </a:r>
          </a:p>
        </p:txBody>
      </p:sp>
      <p:sp>
        <p:nvSpPr>
          <p:cNvPr id="20" name="s20"/>
          <p:cNvSpPr/>
          <p:nvPr/>
        </p:nvSpPr>
        <p:spPr>
          <a:xfrm>
            <a:off x="6216000" y="4120000"/>
            <a:ext cx="5335920" cy="18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21"/>
          <p:cNvSpPr/>
          <p:nvPr/>
        </p:nvSpPr>
        <p:spPr>
          <a:xfrm>
            <a:off x="6216000" y="4120000"/>
            <a:ext cx="533592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4 - Suited to the project</a:t>
            </a:r>
          </a:p>
        </p:txBody>
      </p:sp>
      <p:sp>
        <p:nvSpPr>
          <p:cNvPr id="22" name="s22"/>
          <p:cNvSpPr/>
          <p:nvPr/>
        </p:nvSpPr>
        <p:spPr>
          <a:xfrm>
            <a:off x="6216000" y="4420000"/>
            <a:ext cx="533592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3" name="s23"/>
          <p:cNvSpPr/>
          <p:nvPr/>
        </p:nvSpPr>
        <p:spPr>
          <a:xfrm>
            <a:off x="6216000" y="4760000"/>
            <a:ext cx="5335920" cy="115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Evolving project, carried out step by step, without planning everything upfront.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200" b="1" i="0">
                <a:solidFill>
                  <a:srgbClr val="9A7B12"/>
                </a:solidFill>
                <a:latin typeface="Arial"/>
              </a:rPr>
              <a:t>06 - WORK METHODOLOGY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3200" b="1" i="0">
                <a:solidFill>
                  <a:srgbClr val="1C2A5E"/>
                </a:solidFill>
                <a:latin typeface="Arial"/>
              </a:rPr>
              <a:t>Comparison of methods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000" b="0" i="0">
                <a:solidFill>
                  <a:srgbClr val="8A90A0"/>
                </a:solidFill>
                <a:latin typeface="Arial"/>
              </a:rPr>
              <a:t>e-Boutique - Tunisian Post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050000"/>
            <a:ext cx="347728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9"/>
          <p:cNvSpPr/>
          <p:nvPr/>
        </p:nvSpPr>
        <p:spPr>
          <a:xfrm>
            <a:off x="64008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Waterfall (V-model)</a:t>
            </a:r>
          </a:p>
        </p:txBody>
      </p:sp>
      <p:sp>
        <p:nvSpPr>
          <p:cNvPr id="10" name="s10"/>
          <p:cNvSpPr/>
          <p:nvPr/>
        </p:nvSpPr>
        <p:spPr>
          <a:xfrm>
            <a:off x="64008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1" name="s11"/>
          <p:cNvSpPr/>
          <p:nvPr/>
        </p:nvSpPr>
        <p:spPr>
          <a:xfrm>
            <a:off x="640080" y="2690000"/>
            <a:ext cx="347728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Sequential and rigid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Everything planned upfront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Delivery at the end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Poorly suited to change</a:t>
            </a:r>
          </a:p>
        </p:txBody>
      </p:sp>
      <p:sp>
        <p:nvSpPr>
          <p:cNvPr id="12" name="s12"/>
          <p:cNvSpPr/>
          <p:nvPr/>
        </p:nvSpPr>
        <p:spPr>
          <a:xfrm>
            <a:off x="4357360" y="2050000"/>
            <a:ext cx="347728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13"/>
          <p:cNvSpPr/>
          <p:nvPr/>
        </p:nvSpPr>
        <p:spPr>
          <a:xfrm>
            <a:off x="435736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Kanban</a:t>
            </a:r>
          </a:p>
        </p:txBody>
      </p:sp>
      <p:sp>
        <p:nvSpPr>
          <p:cNvPr id="14" name="s14"/>
          <p:cNvSpPr/>
          <p:nvPr/>
        </p:nvSpPr>
        <p:spPr>
          <a:xfrm>
            <a:off x="435736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5" name="s15"/>
          <p:cNvSpPr/>
          <p:nvPr/>
        </p:nvSpPr>
        <p:spPr>
          <a:xfrm>
            <a:off x="4357360" y="2690000"/>
            <a:ext cx="347728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Continuous flow of tasks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No defined sprints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Ideal for maintenance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Less structured for a project</a:t>
            </a:r>
          </a:p>
        </p:txBody>
      </p:sp>
      <p:sp>
        <p:nvSpPr>
          <p:cNvPr id="16" name="s16"/>
          <p:cNvSpPr/>
          <p:nvPr/>
        </p:nvSpPr>
        <p:spPr>
          <a:xfrm>
            <a:off x="8074640" y="2050000"/>
            <a:ext cx="347728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F4C400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17"/>
          <p:cNvSpPr/>
          <p:nvPr/>
        </p:nvSpPr>
        <p:spPr>
          <a:xfrm>
            <a:off x="807464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1C2A5E"/>
                </a:solidFill>
                <a:latin typeface="Arial"/>
              </a:rPr>
              <a:t>Scrum (agile) - chosen</a:t>
            </a:r>
          </a:p>
        </p:txBody>
      </p:sp>
      <p:sp>
        <p:nvSpPr>
          <p:cNvPr id="18" name="s18"/>
          <p:cNvSpPr/>
          <p:nvPr/>
        </p:nvSpPr>
        <p:spPr>
          <a:xfrm>
            <a:off x="8074640" y="2350000"/>
            <a:ext cx="3477280" cy="26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9" name="s19"/>
          <p:cNvSpPr/>
          <p:nvPr/>
        </p:nvSpPr>
        <p:spPr>
          <a:xfrm>
            <a:off x="8074640" y="2690000"/>
            <a:ext cx="347728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Iterative by sprints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Regular deliveries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Flexible and structured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Suited to an evolving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200" b="1" i="0">
                <a:solidFill>
                  <a:srgbClr val="9A7B12"/>
                </a:solidFill>
                <a:latin typeface="Arial"/>
              </a:rPr>
              <a:t>07 - FUNCTIONAL REQUIREMENTS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3200" b="1" i="0">
                <a:solidFill>
                  <a:srgbClr val="1C2A5E"/>
                </a:solidFill>
                <a:latin typeface="Arial"/>
              </a:rPr>
              <a:t>What the system allows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000" b="0" i="0">
                <a:solidFill>
                  <a:srgbClr val="8A90A0"/>
                </a:solidFill>
                <a:latin typeface="Arial"/>
              </a:rPr>
              <a:t>e-Boutique - Tunisian Post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050000"/>
            <a:ext cx="347728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9"/>
          <p:cNvSpPr/>
          <p:nvPr/>
        </p:nvSpPr>
        <p:spPr>
          <a:xfrm>
            <a:off x="64008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Customer</a:t>
            </a:r>
          </a:p>
        </p:txBody>
      </p:sp>
      <p:sp>
        <p:nvSpPr>
          <p:cNvPr id="10" name="s10"/>
          <p:cNvSpPr/>
          <p:nvPr/>
        </p:nvSpPr>
        <p:spPr>
          <a:xfrm>
            <a:off x="64008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1" name="s11"/>
          <p:cNvSpPr/>
          <p:nvPr/>
        </p:nvSpPr>
        <p:spPr>
          <a:xfrm>
            <a:off x="640080" y="2690000"/>
            <a:ext cx="347728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Sign up (e-mail + 2FA)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Buy products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Order flowers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Drop off &amp; track a parcel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Pay (e-Dinar)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Receive notifications</a:t>
            </a:r>
          </a:p>
        </p:txBody>
      </p:sp>
      <p:sp>
        <p:nvSpPr>
          <p:cNvPr id="12" name="s12"/>
          <p:cNvSpPr/>
          <p:nvPr/>
        </p:nvSpPr>
        <p:spPr>
          <a:xfrm>
            <a:off x="4357360" y="2050000"/>
            <a:ext cx="347728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13"/>
          <p:cNvSpPr/>
          <p:nvPr/>
        </p:nvSpPr>
        <p:spPr>
          <a:xfrm>
            <a:off x="435736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Agent / Courier</a:t>
            </a:r>
          </a:p>
        </p:txBody>
      </p:sp>
      <p:sp>
        <p:nvSpPr>
          <p:cNvPr id="14" name="s14"/>
          <p:cNvSpPr/>
          <p:nvPr/>
        </p:nvSpPr>
        <p:spPr>
          <a:xfrm>
            <a:off x="435736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5" name="s15"/>
          <p:cNvSpPr/>
          <p:nvPr/>
        </p:nvSpPr>
        <p:spPr>
          <a:xfrm>
            <a:off x="4357360" y="2690000"/>
            <a:ext cx="347728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Manage drop-offs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Change the parcel status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Encrypted internal messaging</a:t>
            </a:r>
          </a:p>
        </p:txBody>
      </p:sp>
      <p:sp>
        <p:nvSpPr>
          <p:cNvPr id="16" name="s16"/>
          <p:cNvSpPr/>
          <p:nvPr/>
        </p:nvSpPr>
        <p:spPr>
          <a:xfrm>
            <a:off x="8074640" y="2050000"/>
            <a:ext cx="347728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17"/>
          <p:cNvSpPr/>
          <p:nvPr/>
        </p:nvSpPr>
        <p:spPr>
          <a:xfrm>
            <a:off x="807464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Administrator</a:t>
            </a:r>
          </a:p>
        </p:txBody>
      </p:sp>
      <p:sp>
        <p:nvSpPr>
          <p:cNvPr id="18" name="s18"/>
          <p:cNvSpPr/>
          <p:nvPr/>
        </p:nvSpPr>
        <p:spPr>
          <a:xfrm>
            <a:off x="807464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9" name="s19"/>
          <p:cNvSpPr/>
          <p:nvPr/>
        </p:nvSpPr>
        <p:spPr>
          <a:xfrm>
            <a:off x="8074640" y="2690000"/>
            <a:ext cx="347728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Manage users &amp; teams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Manage products &amp; offices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Manage the pricing grid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Oversee orders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200" b="1" i="0">
                <a:solidFill>
                  <a:srgbClr val="9A7B12"/>
                </a:solidFill>
                <a:latin typeface="Arial"/>
              </a:rPr>
              <a:t>07 - NON-FUNCTIONAL REQUIREMENTS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3200" b="1" i="0">
                <a:solidFill>
                  <a:srgbClr val="1C2A5E"/>
                </a:solidFill>
                <a:latin typeface="Arial"/>
              </a:rPr>
              <a:t>The expected quality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000" b="0" i="0">
                <a:solidFill>
                  <a:srgbClr val="8A90A0"/>
                </a:solidFill>
                <a:latin typeface="Arial"/>
              </a:rPr>
              <a:t>e-Boutique - Tunisian Post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050000"/>
            <a:ext cx="3477280" cy="18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9"/>
          <p:cNvSpPr/>
          <p:nvPr/>
        </p:nvSpPr>
        <p:spPr>
          <a:xfrm>
            <a:off x="64008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Security</a:t>
            </a:r>
          </a:p>
        </p:txBody>
      </p:sp>
      <p:sp>
        <p:nvSpPr>
          <p:cNvPr id="10" name="s10"/>
          <p:cNvSpPr/>
          <p:nvPr/>
        </p:nvSpPr>
        <p:spPr>
          <a:xfrm>
            <a:off x="64008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1" name="s11"/>
          <p:cNvSpPr/>
          <p:nvPr/>
        </p:nvSpPr>
        <p:spPr>
          <a:xfrm>
            <a:off x="640080" y="2690000"/>
            <a:ext cx="3477280" cy="115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bcrypt - JWT - 2FA</a:t>
            </a:r>
          </a:p>
        </p:txBody>
      </p:sp>
      <p:sp>
        <p:nvSpPr>
          <p:cNvPr id="12" name="s12"/>
          <p:cNvSpPr/>
          <p:nvPr/>
        </p:nvSpPr>
        <p:spPr>
          <a:xfrm>
            <a:off x="4357360" y="2050000"/>
            <a:ext cx="3477280" cy="18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13"/>
          <p:cNvSpPr/>
          <p:nvPr/>
        </p:nvSpPr>
        <p:spPr>
          <a:xfrm>
            <a:off x="435736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Performance</a:t>
            </a:r>
          </a:p>
        </p:txBody>
      </p:sp>
      <p:sp>
        <p:nvSpPr>
          <p:cNvPr id="14" name="s14"/>
          <p:cNvSpPr/>
          <p:nvPr/>
        </p:nvSpPr>
        <p:spPr>
          <a:xfrm>
            <a:off x="435736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5" name="s15"/>
          <p:cNvSpPr/>
          <p:nvPr/>
        </p:nvSpPr>
        <p:spPr>
          <a:xfrm>
            <a:off x="4357360" y="2690000"/>
            <a:ext cx="3477280" cy="115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lazy loading</a:t>
            </a:r>
          </a:p>
        </p:txBody>
      </p:sp>
      <p:sp>
        <p:nvSpPr>
          <p:cNvPr id="16" name="s16"/>
          <p:cNvSpPr/>
          <p:nvPr/>
        </p:nvSpPr>
        <p:spPr>
          <a:xfrm>
            <a:off x="8074640" y="2050000"/>
            <a:ext cx="3477280" cy="18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17"/>
          <p:cNvSpPr/>
          <p:nvPr/>
        </p:nvSpPr>
        <p:spPr>
          <a:xfrm>
            <a:off x="807464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Ergonomics</a:t>
            </a:r>
          </a:p>
        </p:txBody>
      </p:sp>
      <p:sp>
        <p:nvSpPr>
          <p:cNvPr id="18" name="s18"/>
          <p:cNvSpPr/>
          <p:nvPr/>
        </p:nvSpPr>
        <p:spPr>
          <a:xfrm>
            <a:off x="807464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9" name="s19"/>
          <p:cNvSpPr/>
          <p:nvPr/>
        </p:nvSpPr>
        <p:spPr>
          <a:xfrm>
            <a:off x="8074640" y="2690000"/>
            <a:ext cx="3477280" cy="115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responsive interface</a:t>
            </a:r>
          </a:p>
        </p:txBody>
      </p:sp>
      <p:sp>
        <p:nvSpPr>
          <p:cNvPr id="20" name="s20"/>
          <p:cNvSpPr/>
          <p:nvPr/>
        </p:nvSpPr>
        <p:spPr>
          <a:xfrm>
            <a:off x="640080" y="4120000"/>
            <a:ext cx="3477280" cy="18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21"/>
          <p:cNvSpPr/>
          <p:nvPr/>
        </p:nvSpPr>
        <p:spPr>
          <a:xfrm>
            <a:off x="640080" y="412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Reliability</a:t>
            </a:r>
          </a:p>
        </p:txBody>
      </p:sp>
      <p:sp>
        <p:nvSpPr>
          <p:cNvPr id="22" name="s22"/>
          <p:cNvSpPr/>
          <p:nvPr/>
        </p:nvSpPr>
        <p:spPr>
          <a:xfrm>
            <a:off x="640080" y="442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3" name="s23"/>
          <p:cNvSpPr/>
          <p:nvPr/>
        </p:nvSpPr>
        <p:spPr>
          <a:xfrm>
            <a:off x="640080" y="4760000"/>
            <a:ext cx="3477280" cy="115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data validation</a:t>
            </a:r>
          </a:p>
        </p:txBody>
      </p:sp>
      <p:sp>
        <p:nvSpPr>
          <p:cNvPr id="24" name="s24"/>
          <p:cNvSpPr/>
          <p:nvPr/>
        </p:nvSpPr>
        <p:spPr>
          <a:xfrm>
            <a:off x="4357360" y="4120000"/>
            <a:ext cx="3477280" cy="18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25"/>
          <p:cNvSpPr/>
          <p:nvPr/>
        </p:nvSpPr>
        <p:spPr>
          <a:xfrm>
            <a:off x="4357360" y="412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Maintainability</a:t>
            </a:r>
          </a:p>
        </p:txBody>
      </p:sp>
      <p:sp>
        <p:nvSpPr>
          <p:cNvPr id="26" name="s26"/>
          <p:cNvSpPr/>
          <p:nvPr/>
        </p:nvSpPr>
        <p:spPr>
          <a:xfrm>
            <a:off x="4357360" y="442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7" name="s27"/>
          <p:cNvSpPr/>
          <p:nvPr/>
        </p:nvSpPr>
        <p:spPr>
          <a:xfrm>
            <a:off x="4357360" y="4760000"/>
            <a:ext cx="3477280" cy="115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modular code</a:t>
            </a:r>
          </a:p>
        </p:txBody>
      </p:sp>
      <p:sp>
        <p:nvSpPr>
          <p:cNvPr id="28" name="s28"/>
          <p:cNvSpPr/>
          <p:nvPr/>
        </p:nvSpPr>
        <p:spPr>
          <a:xfrm>
            <a:off x="8074640" y="4120000"/>
            <a:ext cx="3477280" cy="18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29"/>
          <p:cNvSpPr/>
          <p:nvPr/>
        </p:nvSpPr>
        <p:spPr>
          <a:xfrm>
            <a:off x="8074640" y="412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Extensibility</a:t>
            </a:r>
          </a:p>
        </p:txBody>
      </p:sp>
      <p:sp>
        <p:nvSpPr>
          <p:cNvPr id="30" name="s30"/>
          <p:cNvSpPr/>
          <p:nvPr/>
        </p:nvSpPr>
        <p:spPr>
          <a:xfrm>
            <a:off x="8074640" y="442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1" name="s31"/>
          <p:cNvSpPr/>
          <p:nvPr/>
        </p:nvSpPr>
        <p:spPr>
          <a:xfrm>
            <a:off x="8074640" y="4760000"/>
            <a:ext cx="3477280" cy="115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add without rework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200" b="1" i="0">
                <a:solidFill>
                  <a:srgbClr val="9A7B12"/>
                </a:solidFill>
                <a:latin typeface="Arial"/>
              </a:rPr>
              <a:t>08 - DESIGN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3200" b="1" i="0">
                <a:solidFill>
                  <a:srgbClr val="1C2A5E"/>
                </a:solidFill>
                <a:latin typeface="Arial"/>
              </a:rPr>
              <a:t>Use case diagram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000" b="0" i="0">
                <a:solidFill>
                  <a:srgbClr val="8A90A0"/>
                </a:solidFill>
                <a:latin typeface="Arial"/>
              </a:rPr>
              <a:t>e-Boutique - Tunisian Post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8" name="s8"/>
          <p:cNvSpPr/>
          <p:nvPr/>
        </p:nvSpPr>
        <p:spPr>
          <a:xfrm>
            <a:off x="640080" y="1980000"/>
            <a:ext cx="6300000" cy="40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400" b="1" i="1">
                <a:solidFill>
                  <a:srgbClr val="9AA3B2"/>
                </a:solidFill>
                <a:latin typeface="Arial"/>
              </a:rPr>
              <a:t>[ Insert the use case diagram here ]</a:t>
            </a:r>
          </a:p>
        </p:txBody>
      </p:sp>
      <p:sp>
        <p:nvSpPr>
          <p:cNvPr id="9" name="s9"/>
          <p:cNvSpPr/>
          <p:nvPr/>
        </p:nvSpPr>
        <p:spPr>
          <a:xfrm>
            <a:off x="640080" y="2100000"/>
            <a:ext cx="6100000" cy="3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300" b="0" i="0">
                <a:solidFill>
                  <a:srgbClr val="44495A"/>
                </a:solidFill>
                <a:latin typeface="Arial"/>
              </a:rPr>
              <a:t>- Actors: Visitor, Customer, Agent, Courier, Administrator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300" b="0" i="0">
                <a:solidFill>
                  <a:srgbClr val="44495A"/>
                </a:solidFill>
                <a:latin typeface="Arial"/>
              </a:rPr>
              <a:t>- Buy / Drop off a parcel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300" b="0" i="0">
                <a:solidFill>
                  <a:srgbClr val="44495A"/>
                </a:solidFill>
                <a:latin typeface="Arial"/>
              </a:rPr>
              <a:t>- Track a parcel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300" b="0" i="0">
                <a:solidFill>
                  <a:srgbClr val="44495A"/>
                </a:solidFill>
                <a:latin typeface="Arial"/>
              </a:rPr>
              <a:t>- Pay (e-Dinar)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300" b="0" i="0">
                <a:solidFill>
                  <a:srgbClr val="44495A"/>
                </a:solidFill>
                <a:latin typeface="Arial"/>
              </a:rPr>
              <a:t>- Change parcel status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300" b="0" i="0">
                <a:solidFill>
                  <a:srgbClr val="44495A"/>
                </a:solidFill>
                <a:latin typeface="Arial"/>
              </a:rPr>
              <a:t>- Manage (users, offices)</a:t>
            </a:r>
          </a:p>
        </p:txBody>
      </p:sp>
      <p:sp>
        <p:nvSpPr>
          <p:cNvPr id="10" name="s10"/>
          <p:cNvSpPr/>
          <p:nvPr/>
        </p:nvSpPr>
        <p:spPr>
          <a:xfrm>
            <a:off x="7000000" y="1980000"/>
            <a:ext cx="4180000" cy="4050000"/>
          </a:xfrm>
          <a:prstGeom prst="roundRect">
            <a:avLst>
              <a:gd name="adj" fmla="val 5000"/>
            </a:avLst>
          </a:prstGeom>
          <a:solidFill>
            <a:srgbClr val="1C2A5E"/>
          </a:solidFill>
          <a:ln>
            <a:noFill/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 wrap="square" lIns="300000" tIns="45720" rIns="300000" bIns="45720" anchor="ctr">
            <a:normAutofit/>
          </a:bodyPr>
          <a:lstStyle/>
          <a:p>
            <a:pPr algn="ctr">
              <a:buNone/>
            </a:pPr>
            <a:r>
              <a:rPr lang="en-US" sz="1600" b="1" i="0">
                <a:solidFill>
                  <a:srgbClr val="F4C400"/>
                </a:solidFill>
                <a:latin typeface="Arial"/>
              </a:rPr>
              <a:t>&lt;&lt; include &gt;&gt; Authentication</a:t>
            </a:r>
          </a:p>
          <a:p>
            <a:pPr algn="ctr">
              <a:spcBef>
                <a:spcPts val="500"/>
              </a:spcBef>
              <a:buNone/>
            </a:pPr>
            <a:r>
              <a:rPr lang="en-US" sz="1300" b="0" i="0">
                <a:solidFill>
                  <a:srgbClr val="FFFFFF"/>
                </a:solidFill>
                <a:latin typeface="Arial"/>
              </a:rPr>
              <a:t>All cases requiring a login include authentication (2FA for administrators).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200" b="1" i="0">
                <a:solidFill>
                  <a:srgbClr val="9A7B12"/>
                </a:solidFill>
                <a:latin typeface="Arial"/>
              </a:rPr>
              <a:t>09 - DESIGN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3200" b="1" i="0">
                <a:solidFill>
                  <a:srgbClr val="1C2A5E"/>
                </a:solidFill>
                <a:latin typeface="Arial"/>
              </a:rPr>
              <a:t>Analysis class diagram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000" b="0" i="0">
                <a:solidFill>
                  <a:srgbClr val="8A90A0"/>
                </a:solidFill>
                <a:latin typeface="Arial"/>
              </a:rPr>
              <a:t>e-Boutique - Tunisian Post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050000"/>
            <a:ext cx="2038368" cy="3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9"/>
          <p:cNvSpPr/>
          <p:nvPr/>
        </p:nvSpPr>
        <p:spPr>
          <a:xfrm>
            <a:off x="640080" y="2050000"/>
            <a:ext cx="2038368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User</a:t>
            </a:r>
          </a:p>
        </p:txBody>
      </p:sp>
      <p:sp>
        <p:nvSpPr>
          <p:cNvPr id="10" name="s10"/>
          <p:cNvSpPr/>
          <p:nvPr/>
        </p:nvSpPr>
        <p:spPr>
          <a:xfrm>
            <a:off x="640080" y="2350000"/>
            <a:ext cx="2038368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1" name="s11"/>
          <p:cNvSpPr/>
          <p:nvPr/>
        </p:nvSpPr>
        <p:spPr>
          <a:xfrm>
            <a:off x="640080" y="2690000"/>
            <a:ext cx="2038368" cy="277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+ id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+ email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+ role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* twofaEnabled</a:t>
            </a:r>
          </a:p>
        </p:txBody>
      </p:sp>
      <p:sp>
        <p:nvSpPr>
          <p:cNvPr id="12" name="s12"/>
          <p:cNvSpPr/>
          <p:nvPr/>
        </p:nvSpPr>
        <p:spPr>
          <a:xfrm>
            <a:off x="2858448" y="2050000"/>
            <a:ext cx="2038368" cy="3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13"/>
          <p:cNvSpPr/>
          <p:nvPr/>
        </p:nvSpPr>
        <p:spPr>
          <a:xfrm>
            <a:off x="2858448" y="2050000"/>
            <a:ext cx="2038368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Order</a:t>
            </a:r>
          </a:p>
        </p:txBody>
      </p:sp>
      <p:sp>
        <p:nvSpPr>
          <p:cNvPr id="14" name="s14"/>
          <p:cNvSpPr/>
          <p:nvPr/>
        </p:nvSpPr>
        <p:spPr>
          <a:xfrm>
            <a:off x="2858448" y="2350000"/>
            <a:ext cx="2038368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5" name="s15"/>
          <p:cNvSpPr/>
          <p:nvPr/>
        </p:nvSpPr>
        <p:spPr>
          <a:xfrm>
            <a:off x="2858448" y="2690000"/>
            <a:ext cx="2038368" cy="277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+ reference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+ status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+ amount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+ bureauId</a:t>
            </a:r>
          </a:p>
        </p:txBody>
      </p:sp>
      <p:sp>
        <p:nvSpPr>
          <p:cNvPr id="16" name="s16"/>
          <p:cNvSpPr/>
          <p:nvPr/>
        </p:nvSpPr>
        <p:spPr>
          <a:xfrm>
            <a:off x="5076816" y="2050000"/>
            <a:ext cx="2038368" cy="3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17"/>
          <p:cNvSpPr/>
          <p:nvPr/>
        </p:nvSpPr>
        <p:spPr>
          <a:xfrm>
            <a:off x="5076816" y="2050000"/>
            <a:ext cx="2038368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Product</a:t>
            </a:r>
          </a:p>
        </p:txBody>
      </p:sp>
      <p:sp>
        <p:nvSpPr>
          <p:cNvPr id="18" name="s18"/>
          <p:cNvSpPr/>
          <p:nvPr/>
        </p:nvSpPr>
        <p:spPr>
          <a:xfrm>
            <a:off x="5076816" y="2350000"/>
            <a:ext cx="2038368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9" name="s19"/>
          <p:cNvSpPr/>
          <p:nvPr/>
        </p:nvSpPr>
        <p:spPr>
          <a:xfrm>
            <a:off x="5076816" y="2690000"/>
            <a:ext cx="2038368" cy="277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+ name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+ category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+ price</a:t>
            </a:r>
          </a:p>
        </p:txBody>
      </p:sp>
      <p:sp>
        <p:nvSpPr>
          <p:cNvPr id="20" name="s20"/>
          <p:cNvSpPr/>
          <p:nvPr/>
        </p:nvSpPr>
        <p:spPr>
          <a:xfrm>
            <a:off x="7295184" y="2050000"/>
            <a:ext cx="2038368" cy="3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21"/>
          <p:cNvSpPr/>
          <p:nvPr/>
        </p:nvSpPr>
        <p:spPr>
          <a:xfrm>
            <a:off x="7295184" y="2050000"/>
            <a:ext cx="2038368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Bureau</a:t>
            </a:r>
          </a:p>
        </p:txBody>
      </p:sp>
      <p:sp>
        <p:nvSpPr>
          <p:cNvPr id="22" name="s22"/>
          <p:cNvSpPr/>
          <p:nvPr/>
        </p:nvSpPr>
        <p:spPr>
          <a:xfrm>
            <a:off x="7295184" y="2350000"/>
            <a:ext cx="2038368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3" name="s23"/>
          <p:cNvSpPr/>
          <p:nvPr/>
        </p:nvSpPr>
        <p:spPr>
          <a:xfrm>
            <a:off x="7295184" y="2690000"/>
            <a:ext cx="2038368" cy="277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+ name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+ city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+ lat / lng</a:t>
            </a:r>
          </a:p>
        </p:txBody>
      </p:sp>
      <p:sp>
        <p:nvSpPr>
          <p:cNvPr id="24" name="s24"/>
          <p:cNvSpPr/>
          <p:nvPr/>
        </p:nvSpPr>
        <p:spPr>
          <a:xfrm>
            <a:off x="9513552" y="2050000"/>
            <a:ext cx="2038368" cy="3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25"/>
          <p:cNvSpPr/>
          <p:nvPr/>
        </p:nvSpPr>
        <p:spPr>
          <a:xfrm>
            <a:off x="9513552" y="2050000"/>
            <a:ext cx="2038368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ShippingRate</a:t>
            </a:r>
          </a:p>
        </p:txBody>
      </p:sp>
      <p:sp>
        <p:nvSpPr>
          <p:cNvPr id="26" name="s26"/>
          <p:cNvSpPr/>
          <p:nvPr/>
        </p:nvSpPr>
        <p:spPr>
          <a:xfrm>
            <a:off x="9513552" y="2350000"/>
            <a:ext cx="2038368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7" name="s27"/>
          <p:cNvSpPr/>
          <p:nvPr/>
        </p:nvSpPr>
        <p:spPr>
          <a:xfrm>
            <a:off x="9513552" y="2690000"/>
            <a:ext cx="2038368" cy="277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+ zone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+ basePrice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+ pricePerKg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quote()</a:t>
            </a:r>
          </a:p>
        </p:txBody>
      </p:sp>
      <p:sp>
        <p:nvSpPr>
          <p:cNvPr id="28" name="s28"/>
          <p:cNvSpPr/>
          <p:nvPr/>
        </p:nvSpPr>
        <p:spPr>
          <a:xfrm>
            <a:off x="640080" y="5680000"/>
            <a:ext cx="1091184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200" b="1" i="0">
                <a:solidFill>
                  <a:srgbClr val="1C2A5E"/>
                </a:solidFill>
                <a:latin typeface="Arial"/>
              </a:rPr>
              <a:t>Relations: places - contains - dropped at - computes fees    -    * added attribute (security / fees)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200" b="1" i="0">
                <a:solidFill>
                  <a:srgbClr val="9A7B12"/>
                </a:solidFill>
                <a:latin typeface="Arial"/>
              </a:rPr>
              <a:t>10 - TOOLS AND TECHNOLOGIES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3200" b="1" i="0">
                <a:solidFill>
                  <a:srgbClr val="1C2A5E"/>
                </a:solidFill>
                <a:latin typeface="Arial"/>
              </a:rPr>
              <a:t>3-tier architecture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000" b="0" i="0">
                <a:solidFill>
                  <a:srgbClr val="8A90A0"/>
                </a:solidFill>
                <a:latin typeface="Arial"/>
              </a:rPr>
              <a:t>e-Boutique - Tunisian Post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050000"/>
            <a:ext cx="347728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9"/>
          <p:cNvSpPr/>
          <p:nvPr/>
        </p:nvSpPr>
        <p:spPr>
          <a:xfrm>
            <a:off x="64008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10" name="s10"/>
          <p:cNvSpPr/>
          <p:nvPr/>
        </p:nvSpPr>
        <p:spPr>
          <a:xfrm>
            <a:off x="64008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1" name="s11"/>
          <p:cNvSpPr/>
          <p:nvPr/>
        </p:nvSpPr>
        <p:spPr>
          <a:xfrm>
            <a:off x="640080" y="2690000"/>
            <a:ext cx="347728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Angular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TypeScript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Leaflet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SCSS</a:t>
            </a:r>
          </a:p>
        </p:txBody>
      </p:sp>
      <p:sp>
        <p:nvSpPr>
          <p:cNvPr id="12" name="s12"/>
          <p:cNvSpPr/>
          <p:nvPr/>
        </p:nvSpPr>
        <p:spPr>
          <a:xfrm>
            <a:off x="4357360" y="2050000"/>
            <a:ext cx="347728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13"/>
          <p:cNvSpPr/>
          <p:nvPr/>
        </p:nvSpPr>
        <p:spPr>
          <a:xfrm>
            <a:off x="435736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14" name="s14"/>
          <p:cNvSpPr/>
          <p:nvPr/>
        </p:nvSpPr>
        <p:spPr>
          <a:xfrm>
            <a:off x="435736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5" name="s15"/>
          <p:cNvSpPr/>
          <p:nvPr/>
        </p:nvSpPr>
        <p:spPr>
          <a:xfrm>
            <a:off x="4357360" y="2690000"/>
            <a:ext cx="347728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Node.js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Express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JWT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bcrypt</a:t>
            </a:r>
          </a:p>
        </p:txBody>
      </p:sp>
      <p:sp>
        <p:nvSpPr>
          <p:cNvPr id="16" name="s16"/>
          <p:cNvSpPr/>
          <p:nvPr/>
        </p:nvSpPr>
        <p:spPr>
          <a:xfrm>
            <a:off x="8074640" y="2050000"/>
            <a:ext cx="347728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17"/>
          <p:cNvSpPr/>
          <p:nvPr/>
        </p:nvSpPr>
        <p:spPr>
          <a:xfrm>
            <a:off x="807464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Database &amp; services</a:t>
            </a:r>
          </a:p>
        </p:txBody>
      </p:sp>
      <p:sp>
        <p:nvSpPr>
          <p:cNvPr id="18" name="s18"/>
          <p:cNvSpPr/>
          <p:nvPr/>
        </p:nvSpPr>
        <p:spPr>
          <a:xfrm>
            <a:off x="807464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9" name="s19"/>
          <p:cNvSpPr/>
          <p:nvPr/>
        </p:nvSpPr>
        <p:spPr>
          <a:xfrm>
            <a:off x="8074640" y="2690000"/>
            <a:ext cx="347728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MySQL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mysql2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AES-GCM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Nodemailer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0" y="0"/>
            <a:ext cx="130000" cy="6858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4"/>
          <p:cNvSpPr/>
          <p:nvPr/>
        </p:nvSpPr>
        <p:spPr>
          <a:xfrm>
            <a:off x="640080" y="52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300" b="1" i="0">
                <a:solidFill>
                  <a:srgbClr val="F4C400"/>
                </a:solidFill>
                <a:latin typeface="Arial"/>
              </a:rPr>
              <a:t>CONCLUSION &amp; PERSPECTIVES</a:t>
            </a:r>
          </a:p>
        </p:txBody>
      </p:sp>
      <p:sp>
        <p:nvSpPr>
          <p:cNvPr id="5" name="s5"/>
          <p:cNvSpPr/>
          <p:nvPr/>
        </p:nvSpPr>
        <p:spPr>
          <a:xfrm>
            <a:off x="640080" y="850000"/>
            <a:ext cx="1091184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3000" b="1" i="0">
                <a:solidFill>
                  <a:srgbClr val="FFFFFF"/>
                </a:solidFill>
                <a:latin typeface="Arial"/>
              </a:rPr>
              <a:t>A complete and secure solution</a:t>
            </a:r>
          </a:p>
        </p:txBody>
      </p:sp>
      <p:sp>
        <p:nvSpPr>
          <p:cNvPr id="6" name="s6"/>
          <p:cNvSpPr/>
          <p:nvPr/>
        </p:nvSpPr>
        <p:spPr>
          <a:xfrm>
            <a:off x="640080" y="1900000"/>
            <a:ext cx="5335920" cy="3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7"/>
          <p:cNvSpPr/>
          <p:nvPr/>
        </p:nvSpPr>
        <p:spPr>
          <a:xfrm>
            <a:off x="640080" y="1900000"/>
            <a:ext cx="533592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Achievements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200000"/>
            <a:ext cx="533592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s9"/>
          <p:cNvSpPr/>
          <p:nvPr/>
        </p:nvSpPr>
        <p:spPr>
          <a:xfrm>
            <a:off x="640080" y="2540000"/>
            <a:ext cx="5335920" cy="26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Complete parcel journey, from drop-off to delivery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E-mail verification and 2FA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Automatic fee calculation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Real-time notifications</a:t>
            </a:r>
          </a:p>
        </p:txBody>
      </p:sp>
      <p:sp>
        <p:nvSpPr>
          <p:cNvPr id="10" name="s10"/>
          <p:cNvSpPr/>
          <p:nvPr/>
        </p:nvSpPr>
        <p:spPr>
          <a:xfrm>
            <a:off x="6216000" y="1900000"/>
            <a:ext cx="5335920" cy="3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11"/>
          <p:cNvSpPr/>
          <p:nvPr/>
        </p:nvSpPr>
        <p:spPr>
          <a:xfrm>
            <a:off x="6216000" y="1900000"/>
            <a:ext cx="533592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1" i="0">
                <a:solidFill>
                  <a:srgbClr val="FFFFFF"/>
                </a:solidFill>
                <a:latin typeface="Arial"/>
              </a:rPr>
              <a:t>Perspectives</a:t>
            </a:r>
          </a:p>
        </p:txBody>
      </p:sp>
      <p:sp>
        <p:nvSpPr>
          <p:cNvPr id="12" name="s12"/>
          <p:cNvSpPr/>
          <p:nvPr/>
        </p:nvSpPr>
        <p:spPr>
          <a:xfrm>
            <a:off x="6216000" y="2200000"/>
            <a:ext cx="533592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3" name="s13"/>
          <p:cNvSpPr/>
          <p:nvPr/>
        </p:nvSpPr>
        <p:spPr>
          <a:xfrm>
            <a:off x="6216000" y="2540000"/>
            <a:ext cx="5335920" cy="26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Mobile application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Real e-Dinar payment integration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Statistical dashboard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00" b="0" i="0">
                <a:solidFill>
                  <a:srgbClr val="44495A"/>
                </a:solidFill>
                <a:latin typeface="Arial"/>
              </a:rPr>
              <a:t>- Customer-support chatbot</a:t>
            </a:r>
          </a:p>
        </p:txBody>
      </p:sp>
      <p:sp>
        <p:nvSpPr>
          <p:cNvPr id="14" name="s14"/>
          <p:cNvSpPr/>
          <p:nvPr/>
        </p:nvSpPr>
        <p:spPr>
          <a:xfrm>
            <a:off x="640080" y="5450000"/>
            <a:ext cx="10911840" cy="800000"/>
          </a:xfrm>
          <a:prstGeom prst="roundRect">
            <a:avLst>
              <a:gd name="adj" fmla="val 20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2400" b="1" i="0">
                <a:solidFill>
                  <a:srgbClr val="1C2A5E"/>
                </a:solidFill>
                <a:latin typeface="Arial"/>
              </a:rP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Poste">
  <a:themeElements>
    <a:clrScheme name="LaPoste">
      <a:dk1>
        <a:sysClr val="windowText" lastClr="000000"/>
      </a:dk1>
      <a:lt1>
        <a:sysClr val="window" lastClr="FFFFFF"/>
      </a:lt1>
      <a:dk2>
        <a:srgbClr val="1C2A5E"/>
      </a:dk2>
      <a:lt2>
        <a:srgbClr val="F4F6FA"/>
      </a:lt2>
      <a:accent1>
        <a:srgbClr val="1C2A5E"/>
      </a:accent1>
      <a:accent2>
        <a:srgbClr val="F4C400"/>
      </a:accent2>
      <a:accent3>
        <a:srgbClr val="27407A"/>
      </a:accent3>
      <a:accent4>
        <a:srgbClr val="6B7280"/>
      </a:accent4>
      <a:accent5>
        <a:srgbClr val="3F9D5C"/>
      </a:accent5>
      <a:accent6>
        <a:srgbClr val="D76A6A"/>
      </a:accent6>
      <a:hlink>
        <a:srgbClr val="0563C1"/>
      </a:hlink>
      <a:folHlink>
        <a:srgbClr val="954F72"/>
      </a:folHlink>
    </a:clrScheme>
    <a:fontScheme name="LaPos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Post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